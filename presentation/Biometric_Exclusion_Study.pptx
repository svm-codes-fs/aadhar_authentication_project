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1e273a9-ba1f-9b1c-4e55-c75224e95831}">
          <p14:sldIdLst>
            <p14:sldId id="256"/>
            <p14:sldId id="257"/>
            <p14:sldId id="258"/>
            <p14:sldId id="259"/>
          </p14:sldIdLst>
        </p14:section>
        <p14:section name="Findings" id="{d10a9e67-508a-6172-66e1-213354a9fa8b}">
          <p14:sldIdLst>
            <p14:sldId id="260"/>
            <p14:sldId id="261"/>
            <p14:sldId id="262"/>
            <p14:sldId id="263"/>
            <p14:sldId id="264"/>
            <p14:sldId id="265"/>
            <p14:sldId id="266"/>
            <p14:sldId id="267"/>
          </p14:sldIdLst>
        </p14:section>
        <p14:section name="Ethics and governance" id="{9baacdc0-a858-9dd7-7efc-4841d9adc1dd}">
          <p14:sldIdLst>
            <p14:sldId id="268"/>
            <p14:sldId id="269"/>
          </p14:sldIdLst>
        </p14:section>
        <p14:section name="Conclusion" id="{0e04b965-edd3-736d-23b7-f91e80aa7086}">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Denied</c:v>
                </c:pt>
              </c:strCache>
            </c:strRef>
          </c:tx>
          <c:spPr>
            <a:solidFill>
              <a:srgbClr val="0B3C5D"/>
            </a:solidFill>
            <a:effectLst/>
          </c:spPr>
          <c:invertIfNegative val="0"/>
          <c:dLbls>
            <c:numFmt formatCode="0.0&quot;%&quot;" sourceLinked="0"/>
            <c:txPr>
              <a:bodyPr/>
              <a:lstStyle/>
              <a:p>
                <a:pPr>
                  <a:defRPr b="0" i="0" strike="noStrike" sz="1300" u="none">
                    <a:solidFill>
                      <a:srgbClr val="212121"/>
                    </a:solidFill>
                    <a:latin typeface="+mn-lt"/>
                  </a:defRPr>
                </a:pPr>
              </a:p>
            </c:txPr>
            <c:showLegendKey val="0"/>
            <c:showVal val="1"/>
            <c:showCatName val="0"/>
            <c:showSerName val="0"/>
            <c:showPercent val="0"/>
            <c:showBubbleSize val="0"/>
            <c:showLeaderLines val="0"/>
          </c:dLbls>
          <c:dPt>
            <c:idx val="0"/>
            <c:invertIfNegative val="0"/>
            <c:bubble3D val="0"/>
            <c:spPr>
              <a:solidFill>
                <a:srgbClr val="0B3C5D"/>
              </a:solidFill>
              <a:effectLst/>
            </c:spPr>
          </c:dPt>
          <c:dPt>
            <c:idx val="1"/>
            <c:invertIfNegative val="0"/>
            <c:bubble3D val="0"/>
            <c:spPr>
              <a:solidFill>
                <a:srgbClr val="0B3C5D"/>
              </a:solidFill>
              <a:effectLst/>
            </c:spPr>
          </c:dPt>
          <c:dPt>
            <c:idx val="2"/>
            <c:invertIfNegative val="0"/>
            <c:bubble3D val="0"/>
            <c:spPr>
              <a:solidFill>
                <a:srgbClr val="0B3C5D"/>
              </a:solidFill>
              <a:effectLst/>
            </c:spPr>
          </c:dPt>
          <c:dPt>
            <c:idx val="3"/>
            <c:invertIfNegative val="0"/>
            <c:bubble3D val="0"/>
            <c:spPr>
              <a:solidFill>
                <a:srgbClr val="0B3C5D"/>
              </a:solidFill>
              <a:effectLst/>
            </c:spPr>
          </c:dPt>
          <c:dPt>
            <c:idx val="4"/>
            <c:invertIfNegative val="0"/>
            <c:bubble3D val="0"/>
            <c:spPr>
              <a:solidFill>
                <a:srgbClr val="D32F2F"/>
              </a:solidFill>
              <a:effectLst/>
            </c:spPr>
          </c:dPt>
          <c:cat>
            <c:multiLvlStrRef>
              <c:f>Sheet1!$A$2:$A$6</c:f>
              <c:multiLvlStrCache>
                <c:ptCount val="5"/>
                <c:lvl>
                  <c:pt idx="0">
                    <c:v>18–30</c:v>
                  </c:pt>
                  <c:pt idx="1">
                    <c:v>31–45</c:v>
                  </c:pt>
                  <c:pt idx="2">
                    <c:v>46–60</c:v>
                  </c:pt>
                  <c:pt idx="3">
                    <c:v>61–75</c:v>
                  </c:pt>
                  <c:pt idx="4">
                    <c:v>75+</c:v>
                  </c:pt>
                </c:lvl>
              </c:multiLvlStrCache>
            </c:multiLvlStrRef>
          </c:cat>
          <c:val>
            <c:numRef>
              <c:f>Sheet1!$B$2:$B$6</c:f>
              <c:numCache>
                <c:formatCode>General</c:formatCode>
                <c:ptCount val="5"/>
                <c:pt idx="0">
                  <c:v>1.3</c:v>
                </c:pt>
                <c:pt idx="1">
                  <c:v>2.3</c:v>
                </c:pt>
                <c:pt idx="2">
                  <c:v>2.5</c:v>
                </c:pt>
                <c:pt idx="3">
                  <c:v>7.2</c:v>
                </c:pt>
                <c:pt idx="4">
                  <c:v>21.7</c:v>
                </c:pt>
              </c:numCache>
            </c:numRef>
          </c:val>
        </c:ser>
        <c:dLbls>
          <c:numFmt formatCode="0.0&quot;%&quot;" sourceLinked="0"/>
          <c:txPr>
            <a:bodyPr/>
            <a:lstStyle/>
            <a:p>
              <a:pPr>
                <a:defRPr b="0" i="0" strike="noStrike" sz="1300" u="none">
                  <a:solidFill>
                    <a:srgbClr val="2121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12121"/>
                </a:solidFill>
                <a:latin typeface="+mn-lt"/>
              </a:defRPr>
            </a:pPr>
            <a:endParaRPr lang="en-US"/>
          </a:p>
        </c:txPr>
        <c:crossAx val="2094734552"/>
        <c:crosses val="autoZero"/>
        <c:auto val="1"/>
        <c:lblAlgn val="ctr"/>
        <c:noMultiLvlLbl val="1"/>
      </c:catAx>
      <c:valAx>
        <c:axId val="2094734552"/>
        <c:scaling>
          <c:orientation val="minMax"/>
          <c:max val="2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5B6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Failed</c:v>
                </c:pt>
              </c:strCache>
            </c:strRef>
          </c:tx>
          <c:spPr>
            <a:solidFill>
              <a:srgbClr val="D32F2F"/>
            </a:solidFill>
            <a:effectLst/>
          </c:spPr>
          <c:invertIfNegative val="0"/>
          <c:dLbls>
            <c:numFmt formatCode="0.0&quot;%&quot;" sourceLinked="0"/>
            <c:txPr>
              <a:bodyPr/>
              <a:lstStyle/>
              <a:p>
                <a:pPr>
                  <a:defRPr b="0" i="0" strike="noStrike" sz="1300" u="none">
                    <a:solidFill>
                      <a:srgbClr val="212121"/>
                    </a:solidFill>
                    <a:latin typeface="+mn-lt"/>
                  </a:defRPr>
                </a:pPr>
              </a:p>
            </c:txPr>
            <c:showLegendKey val="0"/>
            <c:showVal val="1"/>
            <c:showCatName val="0"/>
            <c:showSerName val="0"/>
            <c:showPercent val="0"/>
            <c:showBubbleSize val="0"/>
            <c:showLeaderLines val="0"/>
          </c:dLbls>
          <c:dPt>
            <c:idx val="0"/>
            <c:invertIfNegative val="0"/>
            <c:bubble3D val="0"/>
            <c:spPr>
              <a:solidFill>
                <a:srgbClr val="D32F2F"/>
              </a:solidFill>
              <a:effectLst/>
            </c:spPr>
          </c:dPt>
          <c:dPt>
            <c:idx val="1"/>
            <c:invertIfNegative val="0"/>
            <c:bubble3D val="0"/>
            <c:spPr>
              <a:solidFill>
                <a:srgbClr val="D32F2F"/>
              </a:solidFill>
              <a:effectLst/>
            </c:spPr>
          </c:dPt>
          <c:dPt>
            <c:idx val="2"/>
            <c:invertIfNegative val="0"/>
            <c:bubble3D val="0"/>
            <c:spPr>
              <a:solidFill>
                <a:srgbClr val="0B3C5D"/>
              </a:solidFill>
              <a:effectLst/>
            </c:spPr>
          </c:dPt>
          <c:dPt>
            <c:idx val="3"/>
            <c:invertIfNegative val="0"/>
            <c:bubble3D val="0"/>
            <c:spPr>
              <a:solidFill>
                <a:srgbClr val="0B3C5D"/>
              </a:solidFill>
              <a:effectLst/>
            </c:spPr>
          </c:dPt>
          <c:dPt>
            <c:idx val="4"/>
            <c:invertIfNegative val="0"/>
            <c:bubble3D val="0"/>
            <c:spPr>
              <a:solidFill>
                <a:srgbClr val="0B3C5D"/>
              </a:solidFill>
              <a:effectLst/>
            </c:spPr>
          </c:dPt>
          <c:cat>
            <c:multiLvlStrRef>
              <c:f>Sheet1!$A$2:$A$6</c:f>
              <c:multiLvlStrCache>
                <c:ptCount val="5"/>
                <c:lvl>
                  <c:pt idx="0">
                    <c:v>0–20</c:v>
                  </c:pt>
                  <c:pt idx="1">
                    <c:v>20–40</c:v>
                  </c:pt>
                  <c:pt idx="2">
                    <c:v>40–60</c:v>
                  </c:pt>
                  <c:pt idx="3">
                    <c:v>60–80</c:v>
                  </c:pt>
                  <c:pt idx="4">
                    <c:v>80–100</c:v>
                  </c:pt>
                </c:lvl>
              </c:multiLvlStrCache>
            </c:multiLvlStrRef>
          </c:cat>
          <c:val>
            <c:numRef>
              <c:f>Sheet1!$B$2:$B$6</c:f>
              <c:numCache>
                <c:formatCode>General</c:formatCode>
                <c:ptCount val="5"/>
                <c:pt idx="0">
                  <c:v>100</c:v>
                </c:pt>
                <c:pt idx="1">
                  <c:v>73.8</c:v>
                </c:pt>
                <c:pt idx="2">
                  <c:v>23.9</c:v>
                </c:pt>
                <c:pt idx="3">
                  <c:v>6</c:v>
                </c:pt>
                <c:pt idx="4">
                  <c:v>4.2</c:v>
                </c:pt>
              </c:numCache>
            </c:numRef>
          </c:val>
        </c:ser>
        <c:dLbls>
          <c:numFmt formatCode="0.0&quot;%&quot;" sourceLinked="0"/>
          <c:txPr>
            <a:bodyPr/>
            <a:lstStyle/>
            <a:p>
              <a:pPr>
                <a:defRPr b="0" i="0" strike="noStrike" sz="1300" u="none">
                  <a:solidFill>
                    <a:srgbClr val="2121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12121"/>
                </a:solidFill>
                <a:latin typeface="+mn-lt"/>
              </a:defRPr>
            </a:pPr>
            <a:endParaRPr lang="en-US"/>
          </a:p>
        </c:txPr>
        <c:crossAx val="2094734552"/>
        <c:crosses val="autoZero"/>
        <c:auto val="1"/>
        <c:lblAlgn val="ctr"/>
        <c:noMultiLvlLbl val="1"/>
      </c:catAx>
      <c:valAx>
        <c:axId val="2094734552"/>
        <c:scaling>
          <c:orientation val="minMax"/>
          <c:max val="118"/>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5B6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Failures</c:v>
                </c:pt>
              </c:strCache>
            </c:strRef>
          </c:tx>
          <c:spPr>
            <a:solidFill>
              <a:schemeClr val="accent1"/>
            </a:solidFill>
            <a:ln w="9525" cap="flat">
              <a:solidFill>
                <a:srgbClr val="F9F9F9"/>
              </a:solidFill>
              <a:prstDash val="solid"/>
              <a:round/>
            </a:ln>
            <a:effectLst/>
          </c:spPr>
          <c:dPt>
            <c:idx val="0"/>
            <c:bubble3D val="0"/>
            <c:spPr>
              <a:solidFill>
                <a:srgbClr val="D32F2F"/>
              </a:solidFill>
              <a:effectLst/>
            </c:spPr>
          </c:dPt>
          <c:dPt>
            <c:idx val="1"/>
            <c:bubble3D val="0"/>
            <c:spPr>
              <a:solidFill>
                <a:srgbClr val="0B3C5D"/>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Biometric</c:v>
                </c:pt>
                <c:pt idx="1">
                  <c:v>System</c:v>
                </c:pt>
              </c:strCache>
            </c:strRef>
          </c:cat>
          <c:val>
            <c:numRef>
              <c:f>Sheet1!$B$2:$B$3</c:f>
              <c:numCache>
                <c:ptCount val="2"/>
                <c:pt idx="0">
                  <c:v>78</c:v>
                </c:pt>
                <c:pt idx="1">
                  <c:v>22</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Odds ratio</c:v>
                </c:pt>
              </c:strCache>
            </c:strRef>
          </c:tx>
          <c:spPr>
            <a:solidFill>
              <a:srgbClr val="D32F2F"/>
            </a:solidFill>
            <a:effectLst/>
          </c:spPr>
          <c:invertIfNegative val="0"/>
          <c:dLbls>
            <c:numFmt formatCode="0.0&quot;×&quot;" sourceLinked="0"/>
            <c:txPr>
              <a:bodyPr/>
              <a:lstStyle/>
              <a:p>
                <a:pPr>
                  <a:defRPr b="0" i="0" strike="noStrike" sz="1200" u="none">
                    <a:solidFill>
                      <a:srgbClr val="212121"/>
                    </a:solidFill>
                    <a:latin typeface="+mn-lt"/>
                  </a:defRPr>
                </a:pPr>
              </a:p>
            </c:txPr>
            <c:showLegendKey val="0"/>
            <c:showVal val="1"/>
            <c:showCatName val="0"/>
            <c:showSerName val="0"/>
            <c:showPercent val="0"/>
            <c:showBubbleSize val="0"/>
            <c:showLeaderLines val="0"/>
          </c:dLbls>
          <c:dPt>
            <c:idx val="0"/>
            <c:invertIfNegative val="0"/>
            <c:bubble3D val="0"/>
            <c:spPr>
              <a:solidFill>
                <a:srgbClr val="D32F2F"/>
              </a:solidFill>
              <a:effectLst/>
            </c:spPr>
          </c:dPt>
          <c:dPt>
            <c:idx val="1"/>
            <c:invertIfNegative val="0"/>
            <c:bubble3D val="0"/>
            <c:spPr>
              <a:solidFill>
                <a:srgbClr val="0B3C5D"/>
              </a:solidFill>
              <a:effectLst/>
            </c:spPr>
          </c:dPt>
          <c:dPt>
            <c:idx val="2"/>
            <c:invertIfNegative val="0"/>
            <c:bubble3D val="0"/>
            <c:spPr>
              <a:solidFill>
                <a:srgbClr val="0B3C5D"/>
              </a:solidFill>
              <a:effectLst/>
            </c:spPr>
          </c:dPt>
          <c:dPt>
            <c:idx val="3"/>
            <c:invertIfNegative val="0"/>
            <c:bubble3D val="0"/>
            <c:spPr>
              <a:solidFill>
                <a:srgbClr val="0B3C5D"/>
              </a:solidFill>
              <a:effectLst/>
            </c:spPr>
          </c:dPt>
          <c:dPt>
            <c:idx val="4"/>
            <c:invertIfNegative val="0"/>
            <c:bubble3D val="0"/>
            <c:spPr>
              <a:solidFill>
                <a:srgbClr val="0B3C5D"/>
              </a:solidFill>
              <a:effectLst/>
            </c:spPr>
          </c:dPt>
          <c:dPt>
            <c:idx val="5"/>
            <c:invertIfNegative val="0"/>
            <c:bubble3D val="0"/>
            <c:spPr>
              <a:solidFill>
                <a:srgbClr val="0B3C5D"/>
              </a:solidFill>
              <a:effectLst/>
            </c:spPr>
          </c:dPt>
          <c:dPt>
            <c:idx val="6"/>
            <c:invertIfNegative val="0"/>
            <c:bubble3D val="0"/>
            <c:spPr>
              <a:solidFill>
                <a:srgbClr val="0B3C5D"/>
              </a:solidFill>
              <a:effectLst/>
            </c:spPr>
          </c:dPt>
          <c:dPt>
            <c:idx val="7"/>
            <c:invertIfNegative val="0"/>
            <c:bubble3D val="0"/>
            <c:spPr>
              <a:solidFill>
                <a:srgbClr val="0B3C5D"/>
              </a:solidFill>
              <a:effectLst/>
            </c:spPr>
          </c:dPt>
          <c:cat>
            <c:multiLvlStrRef>
              <c:f>Sheet1!$A$2:$A$9</c:f>
              <c:multiLvlStrCache>
                <c:ptCount val="8"/>
                <c:lvl>
                  <c:pt idx="0">
                    <c:v>Age 75+</c:v>
                  </c:pt>
                  <c:pt idx="1">
                    <c:v>Construction worker</c:v>
                  </c:pt>
                  <c:pt idx="2">
                    <c:v>Manual labourer</c:v>
                  </c:pt>
                  <c:pt idx="3">
                    <c:v>Low-quality device</c:v>
                  </c:pt>
                  <c:pt idx="4">
                    <c:v>Farmer</c:v>
                  </c:pt>
                  <c:pt idx="5">
                    <c:v>Age 61–75</c:v>
                  </c:pt>
                  <c:pt idx="6">
                    <c:v>Domestic worker</c:v>
                  </c:pt>
                  <c:pt idx="7">
                    <c:v>Humid or wet hands</c:v>
                  </c:pt>
                </c:lvl>
              </c:multiLvlStrCache>
            </c:multiLvlStrRef>
          </c:cat>
          <c:val>
            <c:numRef>
              <c:f>Sheet1!$B$2:$B$9</c:f>
              <c:numCache>
                <c:formatCode>General</c:formatCode>
                <c:ptCount val="8"/>
                <c:pt idx="0">
                  <c:v>7.52</c:v>
                </c:pt>
                <c:pt idx="1">
                  <c:v>5.46</c:v>
                </c:pt>
                <c:pt idx="2">
                  <c:v>4.32</c:v>
                </c:pt>
                <c:pt idx="3">
                  <c:v>4.26</c:v>
                </c:pt>
                <c:pt idx="4">
                  <c:v>4.11</c:v>
                </c:pt>
                <c:pt idx="5">
                  <c:v>2.56</c:v>
                </c:pt>
                <c:pt idx="6">
                  <c:v>2.14</c:v>
                </c:pt>
                <c:pt idx="7">
                  <c:v>2.11</c:v>
                </c:pt>
              </c:numCache>
            </c:numRef>
          </c:val>
        </c:ser>
        <c:dLbls>
          <c:numFmt formatCode="0.0&quot;×&quot;" sourceLinked="0"/>
          <c:txPr>
            <a:bodyPr/>
            <a:lstStyle/>
            <a:p>
              <a:pPr>
                <a:defRPr b="0" i="0" strike="noStrike" sz="1200" u="none">
                  <a:solidFill>
                    <a:srgbClr val="21212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12121"/>
                </a:solidFill>
                <a:latin typeface="+mn-lt"/>
              </a:defRPr>
            </a:pPr>
            <a:endParaRPr lang="en-US"/>
          </a:p>
        </c:txPr>
        <c:crossAx val="2094734552"/>
        <c:crosses val="autoZero"/>
        <c:auto val="1"/>
        <c:lblAlgn val="ctr"/>
        <c:noMultiLvlLbl val="1"/>
      </c:catAx>
      <c:valAx>
        <c:axId val="2094734552"/>
        <c:scaling>
          <c:orientation val="minMax"/>
          <c:max val="8.8"/>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5B6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Success</c:v>
                </c:pt>
              </c:strCache>
            </c:strRef>
          </c:tx>
          <c:spPr>
            <a:solidFill>
              <a:srgbClr val="0B3C5D"/>
            </a:solidFill>
            <a:effectLst/>
          </c:spPr>
          <c:invertIfNegative val="0"/>
          <c:dLbls>
            <c:numFmt formatCode="0.0&quot;%&quot;" sourceLinked="0"/>
            <c:txPr>
              <a:bodyPr/>
              <a:lstStyle/>
              <a:p>
                <a:pPr>
                  <a:defRPr b="0" i="0" strike="noStrike" sz="1300" u="none">
                    <a:solidFill>
                      <a:srgbClr val="212121"/>
                    </a:solidFill>
                    <a:latin typeface="+mn-lt"/>
                  </a:defRPr>
                </a:pPr>
              </a:p>
            </c:txPr>
            <c:showLegendKey val="0"/>
            <c:showVal val="1"/>
            <c:showCatName val="0"/>
            <c:showSerName val="0"/>
            <c:showPercent val="0"/>
            <c:showBubbleSize val="0"/>
            <c:showLeaderLines val="0"/>
          </c:dLbls>
          <c:dPt>
            <c:idx val="0"/>
            <c:invertIfNegative val="0"/>
            <c:bubble3D val="0"/>
            <c:spPr>
              <a:solidFill>
                <a:srgbClr val="0B3C5D"/>
              </a:solidFill>
              <a:effectLst/>
            </c:spPr>
          </c:dPt>
          <c:dPt>
            <c:idx val="1"/>
            <c:invertIfNegative val="0"/>
            <c:bubble3D val="0"/>
            <c:spPr>
              <a:solidFill>
                <a:srgbClr val="0B3C5D"/>
              </a:solidFill>
              <a:effectLst/>
            </c:spPr>
          </c:dPt>
          <c:dPt>
            <c:idx val="2"/>
            <c:invertIfNegative val="0"/>
            <c:bubble3D val="0"/>
            <c:spPr>
              <a:solidFill>
                <a:srgbClr val="D32F2F"/>
              </a:solidFill>
              <a:effectLst/>
            </c:spPr>
          </c:dPt>
          <c:cat>
            <c:multiLvlStrRef>
              <c:f>Sheet1!$A$2:$A$4</c:f>
              <c:multiLvlStrCache>
                <c:ptCount val="3"/>
                <c:lvl>
                  <c:pt idx="0">
                    <c:v>Attempt 1</c:v>
                  </c:pt>
                  <c:pt idx="1">
                    <c:v>Attempt 2</c:v>
                  </c:pt>
                  <c:pt idx="2">
                    <c:v>Attempt 3</c:v>
                  </c:pt>
                </c:lvl>
              </c:multiLvlStrCache>
            </c:multiLvlStrRef>
          </c:cat>
          <c:val>
            <c:numRef>
              <c:f>Sheet1!$B$2:$B$4</c:f>
              <c:numCache>
                <c:formatCode>General</c:formatCode>
                <c:ptCount val="3"/>
                <c:pt idx="0">
                  <c:v>79.8</c:v>
                </c:pt>
                <c:pt idx="1">
                  <c:v>63.1</c:v>
                </c:pt>
                <c:pt idx="2">
                  <c:v>55.6</c:v>
                </c:pt>
              </c:numCache>
            </c:numRef>
          </c:val>
        </c:ser>
        <c:dLbls>
          <c:numFmt formatCode="0.0&quot;%&quot;" sourceLinked="0"/>
          <c:txPr>
            <a:bodyPr/>
            <a:lstStyle/>
            <a:p>
              <a:pPr>
                <a:defRPr b="0" i="0" strike="noStrike" sz="1300" u="none">
                  <a:solidFill>
                    <a:srgbClr val="21212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12121"/>
                </a:solidFill>
                <a:latin typeface="+mn-lt"/>
              </a:defRPr>
            </a:pPr>
            <a:endParaRPr lang="en-US"/>
          </a:p>
        </c:txPr>
        <c:crossAx val="2094734552"/>
        <c:crosses val="autoZero"/>
        <c:auto val="1"/>
        <c:lblAlgn val="ctr"/>
        <c:noMultiLvlLbl val="1"/>
      </c:catAx>
      <c:valAx>
        <c:axId val="2094734552"/>
        <c:scaling>
          <c:orientation val="minMax"/>
          <c:max val="9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55B6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question: when welfare depends on a fingerprint match, who carries the cost when the match fails? Stress at once that every number in this talk comes from simulated data, not real UIDAI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services depend on authentication. In our simulation old-age pensions stand out: 11.3% of genuine visits end in denial, about five times the rate for MGNREGA wages, because pensioners are 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frames this. Aadhaar authentication has no bug: it applies one threshold to everyone, exactly as designed. That is why this is an ethical failure, not a technical one. Like the campus face-recognition case in Unit 1, the system works well on average but repeatedly fails some users. Compliance asks whether rules are followed; ethics asks whether the outcome is acceptable. The four core principles each apply: fairness, accountability, transparency and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authentication logs with biometric scores are not public, and using them would raise privacy and legal issues. A seeded generator gives us a reproducible dataset where every bias is a known, documented mechanism. Walk through one visit: scan, match against the template, retry up to three times, and only if all fail is the service denied.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finding. People aged 75 and over are denied on 21.7% of genuine visits, 17.1 times the rate for ages 18–30. The gap is highly significant and fails the four-fifths fairness rule. The likely mechanism is worn fingerprint ridges with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tuned to keep impostors out: only 0.6% get through. The price is a false rejection rate of 24.3%. Strictness is a policy choice, and its cost falls on the people the scheme is meant to 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gap is tested with a chi-square test and the adapted four-fifths rule. Age, occupation, area and service all show significant gaps. Gender is our control: the simulation has no gender effect, and the analysis correctly finds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a capture quality of about 40, most genuine attempts fail; above 60 almost all succeed. 78% of failures are biometric: the body, not the network, is blamed. That points at worn fingerprints from age and manual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policy slide. Denial concentrates where low-quality devices are deployed, which is mostly in rural and remote areas. Once device quality is in the model, area itself stops mattering: the geographic gap is an infrastructure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logistic regression on 5,884 genuine first attempts separates the factors. Age 75+ multiplies the odds of failure by 7.5, construction work by 5.5 and a low-quality device by 4.3, each holding everything else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try again' is not a fix. Success falls from 79.8% on the first attempt to 55.6% on the third, because people who reach a third attempt are those with the underlying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simulator live if time allows. The same scheme, the same rules: one person is turned away on more than half of visits, the other essentially 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shows bias entering at every stage of an ML pipeline. Here: measurement bias, because sensors capture worn or dusty fingers poorly; evaluation bias, because one threshold is tuned for security, not for equal error rates; deployment bias, because remote areas get worse scanners; the result is disparate impact on the elderly and manual workers; and a feedback loop, because people who give up never appear in the data. Unit 2's answer is to measure bias, then remove it. This project does the measuring; the recommendations do the removing.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3 classes biometric data as sensitive personal data. Under the DPDP Act's roles, the beneficiary is the data principal, UIDAI and the scheme's department act as data fiduciaries, and authentication agencies and device operators as processors (our mapping). The Act gives rights to information, correction, grievance redressal and a nominee; grievance redressal matters most for someone denied a ration. Some state functions can be exempt under the Act, which is exactly where ethics must go beyond compliance. We applied the four-step Privacy Impact Assessment, and our own project follows privacy by design: synthetic data, no personal data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maps to a principle from Unit 1 and the risks from Units 2 and 3: fallbacks and redressal restore accountability, better devices and exemptions address fairness, offline edge authentication cuts network failures and data in transit, and public harm audits make the system transparent. Close with Unit 1's takeaway: ethical failures can occur without bugs.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rtlCol="0"/>
          <a:lstStyle>
            <a:lvl1pPr indent="0" marL="0">
              <a:buNone/>
              <a:defRPr lang="en-US" sz="1200" b="1" spc="20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rtlCol="0"/>
          <a:lstStyle>
            <a:lvl1pPr algn="l" indent="0" marL="0">
              <a:buNone/>
              <a:defRPr lang="en-US" sz="3400" b="1" dirty="0">
                <a:solidFill>
                  <a:schemeClr val="accent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chemeClr val="accent5"/>
                </a:solidFill>
              </a:rPr>
              <a:t>Biometric Exclusion Study  ·  simulated data, not UIDAI records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01_zoom_mark_c"/>
          <p:cNvSpPr/>
          <p:nvPr/>
        </p:nvSpPr>
        <p:spPr>
          <a:xfrm>
            <a:off x="640080" y="502920"/>
            <a:ext cx="731520" cy="731520"/>
          </a:xfrm>
          <a:prstGeom prst="ellipse">
            <a:avLst/>
          </a:prstGeom>
          <a:solidFill>
            <a:schemeClr val="accent2"/>
          </a:solidFill>
          <a:ln/>
        </p:spPr>
      </p:sp>
      <p:pic>
        <p:nvPicPr>
          <p:cNvPr id="3" name="a01_zoom_mark_i" descr="preencoded.png">    </p:cNvPr>
          <p:cNvPicPr>
            <a:picLocks noChangeAspect="1"/>
          </p:cNvPicPr>
          <p:nvPr/>
        </p:nvPicPr>
        <p:blipFill>
          <a:blip r:embed="rId1"/>
          <a:stretch>
            <a:fillRect/>
          </a:stretch>
        </p:blipFill>
        <p:spPr>
          <a:xfrm>
            <a:off x="815645" y="678485"/>
            <a:ext cx="380390" cy="380390"/>
          </a:xfrm>
          <a:prstGeom prst="rect">
            <a:avLst/>
          </a:prstGeom>
        </p:spPr>
      </p:pic>
      <p:sp>
        <p:nvSpPr>
          <p:cNvPr id="4" name="a02_fade_kicker"/>
          <p:cNvSpPr txBox="1"/>
          <p:nvPr/>
        </p:nvSpPr>
        <p:spPr>
          <a:xfrm>
            <a:off x="640080" y="1463040"/>
            <a:ext cx="5760720" cy="320040"/>
          </a:xfrm>
          <a:prstGeom prst="rect">
            <a:avLst/>
          </a:prstGeom>
          <a:noFill/>
          <a:ln/>
        </p:spPr>
        <p:txBody>
          <a:bodyPr wrap="square" lIns="0" tIns="0" rIns="0" bIns="0" rtlCol="0" anchor="t"/>
          <a:lstStyle/>
          <a:p>
            <a:pPr indent="0" marL="0">
              <a:buNone/>
            </a:pPr>
            <a:r>
              <a:rPr lang="en-US" sz="1300" b="1" spc="200" kern="0" dirty="0">
                <a:solidFill>
                  <a:schemeClr val="accent6"/>
                </a:solidFill>
              </a:rPr>
              <a:t>UCS421  ·  ETHICS AND RISK MITIGATION IN AI</a:t>
            </a:r>
            <a:endParaRPr lang="en-US" sz="1300" dirty="0"/>
          </a:p>
        </p:txBody>
      </p:sp>
      <p:sp>
        <p:nvSpPr>
          <p:cNvPr id="5" name="a02_rise_title"/>
          <p:cNvSpPr txBox="1"/>
          <p:nvPr/>
        </p:nvSpPr>
        <p:spPr>
          <a:xfrm>
            <a:off x="640080" y="1783080"/>
            <a:ext cx="5760720" cy="150876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Who gets turned away when the fingerprint fails?</a:t>
            </a:r>
            <a:endParaRPr lang="en-US" sz="3600" dirty="0"/>
          </a:p>
        </p:txBody>
      </p:sp>
      <p:sp>
        <p:nvSpPr>
          <p:cNvPr id="6" name="a03_fade_sub"/>
          <p:cNvSpPr txBox="1"/>
          <p:nvPr/>
        </p:nvSpPr>
        <p:spPr>
          <a:xfrm>
            <a:off x="640080" y="3383280"/>
            <a:ext cx="5486400" cy="594360"/>
          </a:xfrm>
          <a:prstGeom prst="rect">
            <a:avLst/>
          </a:prstGeom>
          <a:noFill/>
          <a:ln/>
        </p:spPr>
        <p:txBody>
          <a:bodyPr wrap="square" lIns="0" tIns="0" rIns="0" bIns="0" rtlCol="0" anchor="t"/>
          <a:lstStyle/>
          <a:p>
            <a:pPr indent="0" marL="0">
              <a:buNone/>
            </a:pPr>
            <a:r>
              <a:rPr lang="en-US" sz="1600" dirty="0">
                <a:solidFill>
                  <a:schemeClr val="accent6"/>
                </a:solidFill>
              </a:rPr>
              <a:t>Aadhaar biometric authentication failures in India's welfare delivery</a:t>
            </a:r>
            <a:endParaRPr lang="en-US" sz="1600" dirty="0"/>
          </a:p>
        </p:txBody>
      </p:sp>
      <p:sp>
        <p:nvSpPr>
          <p:cNvPr id="7" name="a03_fade_byLbl"/>
          <p:cNvSpPr txBox="1"/>
          <p:nvPr/>
        </p:nvSpPr>
        <p:spPr>
          <a:xfrm>
            <a:off x="640080" y="4160520"/>
            <a:ext cx="576072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PRESENTED BY   ·   GROUP 7   ·   CLASS 3C4</a:t>
            </a:r>
            <a:endParaRPr lang="en-US" sz="1200" dirty="0"/>
          </a:p>
        </p:txBody>
      </p:sp>
      <p:sp>
        <p:nvSpPr>
          <p:cNvPr id="8" name="a03_fade_byPanel"/>
          <p:cNvSpPr/>
          <p:nvPr/>
        </p:nvSpPr>
        <p:spPr>
          <a:xfrm>
            <a:off x="640080" y="4526280"/>
            <a:ext cx="5486400" cy="1874520"/>
          </a:xfrm>
          <a:prstGeom prst="roundRect">
            <a:avLst>
              <a:gd name="adj" fmla="val 5854"/>
            </a:avLst>
          </a:prstGeom>
          <a:solidFill>
            <a:schemeClr val="bg1">
              <a:alpha val="8000"/>
            </a:schemeClr>
          </a:solidFill>
          <a:ln/>
        </p:spPr>
      </p:sp>
      <p:sp>
        <p:nvSpPr>
          <p:cNvPr id="9" name="a04_rise_name0"/>
          <p:cNvSpPr txBox="1"/>
          <p:nvPr/>
        </p:nvSpPr>
        <p:spPr>
          <a:xfrm>
            <a:off x="868680" y="4617720"/>
            <a:ext cx="3108960" cy="338328"/>
          </a:xfrm>
          <a:prstGeom prst="rect">
            <a:avLst/>
          </a:prstGeom>
          <a:noFill/>
          <a:ln/>
        </p:spPr>
        <p:txBody>
          <a:bodyPr wrap="square" lIns="0" tIns="0" rIns="0" bIns="0" rtlCol="0" anchor="ctr"/>
          <a:lstStyle/>
          <a:p>
            <a:pPr indent="0" marL="0">
              <a:buNone/>
            </a:pPr>
            <a:r>
              <a:rPr lang="en-US" sz="1500" b="1" dirty="0">
                <a:solidFill>
                  <a:schemeClr val="bg1"/>
                </a:solidFill>
              </a:rPr>
              <a:t>Shambhvi Sharma</a:t>
            </a:r>
            <a:endParaRPr lang="en-US" sz="1500" dirty="0"/>
          </a:p>
        </p:txBody>
      </p:sp>
      <p:sp>
        <p:nvSpPr>
          <p:cNvPr id="10" name="a04_rise_roll0"/>
          <p:cNvSpPr txBox="1"/>
          <p:nvPr/>
        </p:nvSpPr>
        <p:spPr>
          <a:xfrm>
            <a:off x="3931920" y="4617720"/>
            <a:ext cx="1965960" cy="338328"/>
          </a:xfrm>
          <a:prstGeom prst="rect">
            <a:avLst/>
          </a:prstGeom>
          <a:noFill/>
          <a:ln/>
        </p:spPr>
        <p:txBody>
          <a:bodyPr wrap="square" lIns="0" tIns="0" rIns="0" bIns="0" rtlCol="0" anchor="ctr"/>
          <a:lstStyle/>
          <a:p>
            <a:pPr algn="r" indent="0" marL="0">
              <a:buNone/>
            </a:pPr>
            <a:r>
              <a:rPr lang="en-US" sz="1500" dirty="0">
                <a:solidFill>
                  <a:schemeClr val="accent6"/>
                </a:solidFill>
              </a:rPr>
              <a:t>1024030552</a:t>
            </a:r>
            <a:endParaRPr lang="en-US" sz="1500" dirty="0"/>
          </a:p>
        </p:txBody>
      </p:sp>
      <p:sp>
        <p:nvSpPr>
          <p:cNvPr id="11" name="a05_rise_name1"/>
          <p:cNvSpPr txBox="1"/>
          <p:nvPr/>
        </p:nvSpPr>
        <p:spPr>
          <a:xfrm>
            <a:off x="868680" y="4956048"/>
            <a:ext cx="3108960" cy="338328"/>
          </a:xfrm>
          <a:prstGeom prst="rect">
            <a:avLst/>
          </a:prstGeom>
          <a:noFill/>
          <a:ln/>
        </p:spPr>
        <p:txBody>
          <a:bodyPr wrap="square" lIns="0" tIns="0" rIns="0" bIns="0" rtlCol="0" anchor="ctr"/>
          <a:lstStyle/>
          <a:p>
            <a:pPr indent="0" marL="0">
              <a:buNone/>
            </a:pPr>
            <a:r>
              <a:rPr lang="en-US" sz="1500" b="1" dirty="0">
                <a:solidFill>
                  <a:schemeClr val="bg1"/>
                </a:solidFill>
              </a:rPr>
              <a:t>Gurleen Kaur</a:t>
            </a:r>
            <a:endParaRPr lang="en-US" sz="1500" dirty="0"/>
          </a:p>
        </p:txBody>
      </p:sp>
      <p:sp>
        <p:nvSpPr>
          <p:cNvPr id="12" name="a05_rise_roll1"/>
          <p:cNvSpPr txBox="1"/>
          <p:nvPr/>
        </p:nvSpPr>
        <p:spPr>
          <a:xfrm>
            <a:off x="3931920" y="4956048"/>
            <a:ext cx="1965960" cy="338328"/>
          </a:xfrm>
          <a:prstGeom prst="rect">
            <a:avLst/>
          </a:prstGeom>
          <a:noFill/>
          <a:ln/>
        </p:spPr>
        <p:txBody>
          <a:bodyPr wrap="square" lIns="0" tIns="0" rIns="0" bIns="0" rtlCol="0" anchor="ctr"/>
          <a:lstStyle/>
          <a:p>
            <a:pPr algn="r" indent="0" marL="0">
              <a:buNone/>
            </a:pPr>
            <a:r>
              <a:rPr lang="en-US" sz="1500" dirty="0">
                <a:solidFill>
                  <a:schemeClr val="accent6"/>
                </a:solidFill>
              </a:rPr>
              <a:t>1024030560</a:t>
            </a:r>
            <a:endParaRPr lang="en-US" sz="1500" dirty="0"/>
          </a:p>
        </p:txBody>
      </p:sp>
      <p:sp>
        <p:nvSpPr>
          <p:cNvPr id="13" name="a06_rise_name2"/>
          <p:cNvSpPr txBox="1"/>
          <p:nvPr/>
        </p:nvSpPr>
        <p:spPr>
          <a:xfrm>
            <a:off x="868680" y="5294376"/>
            <a:ext cx="3108960" cy="338328"/>
          </a:xfrm>
          <a:prstGeom prst="rect">
            <a:avLst/>
          </a:prstGeom>
          <a:noFill/>
          <a:ln/>
        </p:spPr>
        <p:txBody>
          <a:bodyPr wrap="square" lIns="0" tIns="0" rIns="0" bIns="0" rtlCol="0" anchor="ctr"/>
          <a:lstStyle/>
          <a:p>
            <a:pPr indent="0" marL="0">
              <a:buNone/>
            </a:pPr>
            <a:r>
              <a:rPr lang="en-US" sz="1500" b="1" dirty="0">
                <a:solidFill>
                  <a:schemeClr val="bg1"/>
                </a:solidFill>
              </a:rPr>
              <a:t>Raj Kumar</a:t>
            </a:r>
            <a:endParaRPr lang="en-US" sz="1500" dirty="0"/>
          </a:p>
        </p:txBody>
      </p:sp>
      <p:sp>
        <p:nvSpPr>
          <p:cNvPr id="14" name="a06_rise_roll2"/>
          <p:cNvSpPr txBox="1"/>
          <p:nvPr/>
        </p:nvSpPr>
        <p:spPr>
          <a:xfrm>
            <a:off x="3931920" y="5294376"/>
            <a:ext cx="1965960" cy="338328"/>
          </a:xfrm>
          <a:prstGeom prst="rect">
            <a:avLst/>
          </a:prstGeom>
          <a:noFill/>
          <a:ln/>
        </p:spPr>
        <p:txBody>
          <a:bodyPr wrap="square" lIns="0" tIns="0" rIns="0" bIns="0" rtlCol="0" anchor="ctr"/>
          <a:lstStyle/>
          <a:p>
            <a:pPr algn="r" indent="0" marL="0">
              <a:buNone/>
            </a:pPr>
            <a:r>
              <a:rPr lang="en-US" sz="1500" dirty="0">
                <a:solidFill>
                  <a:schemeClr val="accent6"/>
                </a:solidFill>
              </a:rPr>
              <a:t>1024031132</a:t>
            </a:r>
            <a:endParaRPr lang="en-US" sz="1500" dirty="0"/>
          </a:p>
        </p:txBody>
      </p:sp>
      <p:sp>
        <p:nvSpPr>
          <p:cNvPr id="15" name="a07_rise_name3"/>
          <p:cNvSpPr txBox="1"/>
          <p:nvPr/>
        </p:nvSpPr>
        <p:spPr>
          <a:xfrm>
            <a:off x="868680" y="5632704"/>
            <a:ext cx="3108960" cy="338328"/>
          </a:xfrm>
          <a:prstGeom prst="rect">
            <a:avLst/>
          </a:prstGeom>
          <a:noFill/>
          <a:ln/>
        </p:spPr>
        <p:txBody>
          <a:bodyPr wrap="square" lIns="0" tIns="0" rIns="0" bIns="0" rtlCol="0" anchor="ctr"/>
          <a:lstStyle/>
          <a:p>
            <a:pPr indent="0" marL="0">
              <a:buNone/>
            </a:pPr>
            <a:r>
              <a:rPr lang="en-US" sz="1500" b="1" dirty="0">
                <a:solidFill>
                  <a:schemeClr val="bg1"/>
                </a:solidFill>
              </a:rPr>
              <a:t>Shivam Raj</a:t>
            </a:r>
            <a:endParaRPr lang="en-US" sz="1500" dirty="0"/>
          </a:p>
        </p:txBody>
      </p:sp>
      <p:sp>
        <p:nvSpPr>
          <p:cNvPr id="16" name="a07_rise_roll3"/>
          <p:cNvSpPr txBox="1"/>
          <p:nvPr/>
        </p:nvSpPr>
        <p:spPr>
          <a:xfrm>
            <a:off x="3931920" y="5632704"/>
            <a:ext cx="1965960" cy="338328"/>
          </a:xfrm>
          <a:prstGeom prst="rect">
            <a:avLst/>
          </a:prstGeom>
          <a:noFill/>
          <a:ln/>
        </p:spPr>
        <p:txBody>
          <a:bodyPr wrap="square" lIns="0" tIns="0" rIns="0" bIns="0" rtlCol="0" anchor="ctr"/>
          <a:lstStyle/>
          <a:p>
            <a:pPr algn="r" indent="0" marL="0">
              <a:buNone/>
            </a:pPr>
            <a:r>
              <a:rPr lang="en-US" sz="1500" dirty="0">
                <a:solidFill>
                  <a:schemeClr val="accent6"/>
                </a:solidFill>
              </a:rPr>
              <a:t>1024031140</a:t>
            </a:r>
            <a:endParaRPr lang="en-US" sz="1500" dirty="0"/>
          </a:p>
        </p:txBody>
      </p:sp>
      <p:sp>
        <p:nvSpPr>
          <p:cNvPr id="17" name="a08_rise_name4"/>
          <p:cNvSpPr txBox="1"/>
          <p:nvPr/>
        </p:nvSpPr>
        <p:spPr>
          <a:xfrm>
            <a:off x="868680" y="5971032"/>
            <a:ext cx="3108960" cy="338328"/>
          </a:xfrm>
          <a:prstGeom prst="rect">
            <a:avLst/>
          </a:prstGeom>
          <a:noFill/>
          <a:ln/>
        </p:spPr>
        <p:txBody>
          <a:bodyPr wrap="square" lIns="0" tIns="0" rIns="0" bIns="0" rtlCol="0" anchor="ctr"/>
          <a:lstStyle/>
          <a:p>
            <a:pPr indent="0" marL="0">
              <a:buNone/>
            </a:pPr>
            <a:r>
              <a:rPr lang="en-US" sz="1500" b="1" dirty="0">
                <a:solidFill>
                  <a:schemeClr val="bg1"/>
                </a:solidFill>
              </a:rPr>
              <a:t>Mehakdeep Kaur</a:t>
            </a:r>
            <a:endParaRPr lang="en-US" sz="1500" dirty="0"/>
          </a:p>
        </p:txBody>
      </p:sp>
      <p:sp>
        <p:nvSpPr>
          <p:cNvPr id="18" name="a08_rise_roll4"/>
          <p:cNvSpPr txBox="1"/>
          <p:nvPr/>
        </p:nvSpPr>
        <p:spPr>
          <a:xfrm>
            <a:off x="3931920" y="5971032"/>
            <a:ext cx="1965960" cy="338328"/>
          </a:xfrm>
          <a:prstGeom prst="rect">
            <a:avLst/>
          </a:prstGeom>
          <a:noFill/>
          <a:ln/>
        </p:spPr>
        <p:txBody>
          <a:bodyPr wrap="square" lIns="0" tIns="0" rIns="0" bIns="0" rtlCol="0" anchor="ctr"/>
          <a:lstStyle/>
          <a:p>
            <a:pPr algn="r" indent="0" marL="0">
              <a:buNone/>
            </a:pPr>
            <a:r>
              <a:rPr lang="en-US" sz="1500" dirty="0">
                <a:solidFill>
                  <a:schemeClr val="accent6"/>
                </a:solidFill>
              </a:rPr>
              <a:t>1024031162</a:t>
            </a:r>
            <a:endParaRPr lang="en-US" sz="1500" dirty="0"/>
          </a:p>
        </p:txBody>
      </p:sp>
      <p:sp>
        <p:nvSpPr>
          <p:cNvPr id="19" name="a09_rise_shot_frame"/>
          <p:cNvSpPr/>
          <p:nvPr/>
        </p:nvSpPr>
        <p:spPr>
          <a:xfrm>
            <a:off x="6473952" y="987552"/>
            <a:ext cx="5248656" cy="3328416"/>
          </a:xfrm>
          <a:prstGeom prst="roundRect">
            <a:avLst>
              <a:gd name="adj" fmla="val 2747"/>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pic>
        <p:nvPicPr>
          <p:cNvPr id="20" name="a09_rise_shot_img" descr="Screenshot of the overview screen">    </p:cNvPr>
          <p:cNvPicPr>
            <a:picLocks noChangeAspect="1"/>
          </p:cNvPicPr>
          <p:nvPr/>
        </p:nvPicPr>
        <p:blipFill>
          <a:blip r:embed="rId2"/>
          <a:stretch>
            <a:fillRect/>
          </a:stretch>
        </p:blipFill>
        <p:spPr>
          <a:xfrm>
            <a:off x="6537960" y="1051560"/>
            <a:ext cx="5120640" cy="3200400"/>
          </a:xfrm>
          <a:prstGeom prst="rect">
            <a:avLst/>
          </a:prstGeom>
        </p:spPr>
      </p:pic>
      <p:sp>
        <p:nvSpPr>
          <p:cNvPr id="21" name="a10_rise_phone_frame"/>
          <p:cNvSpPr/>
          <p:nvPr/>
        </p:nvSpPr>
        <p:spPr>
          <a:xfrm>
            <a:off x="9921240" y="3154680"/>
            <a:ext cx="1810512" cy="3429000"/>
          </a:xfrm>
          <a:prstGeom prst="roundRect">
            <a:avLst>
              <a:gd name="adj" fmla="val 9091"/>
            </a:avLst>
          </a:prstGeom>
          <a:solidFill>
            <a:srgbClr val="16212B"/>
          </a:solidFill>
          <a:ln/>
          <a:effectLst>
            <a:outerShdw sx="100000" sy="100000" kx="0" ky="0" algn="bl" rotWithShape="0" blurRad="127000" dist="38100" dir="5400000">
              <a:srgbClr val="0B3C5D">
                <a:alpha val="14000"/>
              </a:srgbClr>
            </a:outerShdw>
          </a:effectLst>
        </p:spPr>
      </p:sp>
      <p:pic>
        <p:nvPicPr>
          <p:cNvPr id="22" name="a10_rise_phone" descr="The overview screen on a phone">    </p:cNvPr>
          <p:cNvPicPr>
            <a:picLocks noChangeAspect="1"/>
          </p:cNvPicPr>
          <p:nvPr/>
        </p:nvPicPr>
        <p:blipFill>
          <a:blip r:embed="rId3"/>
          <a:stretch>
            <a:fillRect/>
          </a:stretch>
        </p:blipFill>
        <p:spPr>
          <a:xfrm>
            <a:off x="10012680" y="3246120"/>
            <a:ext cx="1482700" cy="320863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110" fill="hold">
                      <p:stCondLst>
                        <p:cond delay="indefinite"/>
                        <p:cond evt="onBegin" delay="0">
                          <p:tn val="2"/>
                        </p:cond>
                      </p:stCondLst>
                      <p:childTnLst>
                        <p:par>
                          <p:cTn id="100"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anim calcmode="lin" valueType="num">
                                      <p:cBhvr additive="base">
                                        <p:cTn id="6" dur="450" fill="hold"/>
                                        <p:tgtEl>
                                          <p:spTgt spid="2"/>
                                        </p:tgtEl>
                                        <p:attrNameLst>
                                          <p:attrName>ppt_w</p:attrName>
                                        </p:attrNameLst>
                                      </p:cBhvr>
                                      <p:tavLst>
                                        <p:tav tm="0">
                                          <p:val>
                                            <p:strVal val="#ppt_w*0.6"/>
                                          </p:val>
                                        </p:tav>
                                        <p:tav tm="100000">
                                          <p:val>
                                            <p:strVal val="#ppt_w"/>
                                          </p:val>
                                        </p:tav>
                                      </p:tavLst>
                                    </p:anim>
                                    <p:anim calcmode="lin" valueType="num">
                                      <p:cBhvr additive="base">
                                        <p:cTn id="7" dur="450" fill="hold"/>
                                        <p:tgtEl>
                                          <p:spTgt spid="2"/>
                                        </p:tgtEl>
                                        <p:attrNameLst>
                                          <p:attrName>ppt_h</p:attrName>
                                        </p:attrNameLst>
                                      </p:cBhvr>
                                      <p:tavLst>
                                        <p:tav tm="0">
                                          <p:val>
                                            <p:strVal val="#ppt_h*0.6"/>
                                          </p:val>
                                        </p:tav>
                                        <p:tav tm="100000">
                                          <p:val>
                                            <p:strVal val="#ppt_h"/>
                                          </p:val>
                                        </p:tav>
                                      </p:tavLst>
                                    </p:anim>
                                  </p:childTnLst>
                                </p:cTn>
                              </p:par>
                              <p:par>
                                <p:cTn id="8" presetID="53"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anim calcmode="lin" valueType="num">
                                      <p:cBhvr additive="base">
                                        <p:cTn id="11" dur="450" fill="hold"/>
                                        <p:tgtEl>
                                          <p:spTgt spid="3"/>
                                        </p:tgtEl>
                                        <p:attrNameLst>
                                          <p:attrName>ppt_w</p:attrName>
                                        </p:attrNameLst>
                                      </p:cBhvr>
                                      <p:tavLst>
                                        <p:tav tm="0">
                                          <p:val>
                                            <p:strVal val="#ppt_w*0.6"/>
                                          </p:val>
                                        </p:tav>
                                        <p:tav tm="100000">
                                          <p:val>
                                            <p:strVal val="#ppt_w"/>
                                          </p:val>
                                        </p:tav>
                                      </p:tavLst>
                                    </p:anim>
                                    <p:anim calcmode="lin" valueType="num">
                                      <p:cBhvr additive="base">
                                        <p:cTn id="12" dur="450" fill="hold"/>
                                        <p:tgtEl>
                                          <p:spTgt spid="3"/>
                                        </p:tgtEl>
                                        <p:attrNameLst>
                                          <p:attrName>ppt_h</p:attrName>
                                        </p:attrNameLst>
                                      </p:cBhvr>
                                      <p:tavLst>
                                        <p:tav tm="0">
                                          <p:val>
                                            <p:strVal val="#ppt_h*0.6"/>
                                          </p:val>
                                        </p:tav>
                                        <p:tav tm="100000">
                                          <p:val>
                                            <p:strVal val="#ppt_h"/>
                                          </p:val>
                                        </p:tav>
                                      </p:tavLst>
                                    </p:anim>
                                  </p:childTnLst>
                                </p:cTn>
                              </p:par>
                            </p:childTnLst>
                          </p:cTn>
                        </p:par>
                        <p:par>
                          <p:cTn id="101" fill="hold">
                            <p:stCondLst>
                              <p:cond delay="247"/>
                            </p:stCondLst>
                            <p:childTnLst>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50"/>
                                        <p:tgtEl>
                                          <p:spTgt spid="4"/>
                                        </p:tgtEl>
                                      </p:cBhvr>
                                    </p:animEffect>
                                  </p:childTnLst>
                                </p:cTn>
                              </p:par>
                              <p:par>
                                <p:cTn id="16" presetID="42"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6"/>
                                          </p:val>
                                        </p:tav>
                                        <p:tav tm="100000">
                                          <p:val>
                                            <p:strVal val="#ppt_y"/>
                                          </p:val>
                                        </p:tav>
                                      </p:tavLst>
                                    </p:anim>
                                  </p:childTnLst>
                                </p:cTn>
                              </p:par>
                            </p:childTnLst>
                          </p:cTn>
                        </p:par>
                        <p:par>
                          <p:cTn id="102" fill="hold">
                            <p:stCondLst>
                              <p:cond delay="550"/>
                            </p:stCondLst>
                            <p:childTnLst>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5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45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50"/>
                                        <p:tgtEl>
                                          <p:spTgt spid="8"/>
                                        </p:tgtEl>
                                      </p:cBhvr>
                                    </p:animEffect>
                                  </p:childTnLst>
                                </p:cTn>
                              </p:par>
                            </p:childTnLst>
                          </p:cTn>
                        </p:par>
                        <p:par>
                          <p:cTn id="103" fill="hold">
                            <p:stCondLst>
                              <p:cond delay="797"/>
                            </p:stCondLst>
                            <p:childTnLst>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additive="base">
                                        <p:cTn id="33" dur="550" fill="hold"/>
                                        <p:tgtEl>
                                          <p:spTgt spid="9"/>
                                        </p:tgtEl>
                                        <p:attrNameLst>
                                          <p:attrName>ppt_x</p:attrName>
                                        </p:attrNameLst>
                                      </p:cBhvr>
                                      <p:tavLst>
                                        <p:tav tm="0">
                                          <p:val>
                                            <p:strVal val="#ppt_x"/>
                                          </p:val>
                                        </p:tav>
                                        <p:tav tm="100000">
                                          <p:val>
                                            <p:strVal val="#ppt_x"/>
                                          </p:val>
                                        </p:tav>
                                      </p:tavLst>
                                    </p:anim>
                                    <p:anim calcmode="lin" valueType="num">
                                      <p:cBhvr additive="base">
                                        <p:cTn id="34" dur="550" fill="hold"/>
                                        <p:tgtEl>
                                          <p:spTgt spid="9"/>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additive="base">
                                        <p:cTn id="38" dur="550" fill="hold"/>
                                        <p:tgtEl>
                                          <p:spTgt spid="10"/>
                                        </p:tgtEl>
                                        <p:attrNameLst>
                                          <p:attrName>ppt_x</p:attrName>
                                        </p:attrNameLst>
                                      </p:cBhvr>
                                      <p:tavLst>
                                        <p:tav tm="0">
                                          <p:val>
                                            <p:strVal val="#ppt_x"/>
                                          </p:val>
                                        </p:tav>
                                        <p:tav tm="100000">
                                          <p:val>
                                            <p:strVal val="#ppt_x"/>
                                          </p:val>
                                        </p:tav>
                                      </p:tavLst>
                                    </p:anim>
                                    <p:anim calcmode="lin" valueType="num">
                                      <p:cBhvr additive="base">
                                        <p:cTn id="39" dur="550" fill="hold"/>
                                        <p:tgtEl>
                                          <p:spTgt spid="10"/>
                                        </p:tgtEl>
                                        <p:attrNameLst>
                                          <p:attrName>ppt_y</p:attrName>
                                        </p:attrNameLst>
                                      </p:cBhvr>
                                      <p:tavLst>
                                        <p:tav tm="0">
                                          <p:val>
                                            <p:strVal val="#ppt_y+.06"/>
                                          </p:val>
                                        </p:tav>
                                        <p:tav tm="100000">
                                          <p:val>
                                            <p:strVal val="#ppt_y"/>
                                          </p:val>
                                        </p:tav>
                                      </p:tavLst>
                                    </p:anim>
                                  </p:childTnLst>
                                </p:cTn>
                              </p:par>
                            </p:childTnLst>
                          </p:cTn>
                        </p:par>
                        <p:par>
                          <p:cTn id="104" fill="hold">
                            <p:stCondLst>
                              <p:cond delay="1100"/>
                            </p:stCondLst>
                            <p:childTnLst>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additive="base">
                                        <p:cTn id="43" dur="550" fill="hold"/>
                                        <p:tgtEl>
                                          <p:spTgt spid="11"/>
                                        </p:tgtEl>
                                        <p:attrNameLst>
                                          <p:attrName>ppt_x</p:attrName>
                                        </p:attrNameLst>
                                      </p:cBhvr>
                                      <p:tavLst>
                                        <p:tav tm="0">
                                          <p:val>
                                            <p:strVal val="#ppt_x"/>
                                          </p:val>
                                        </p:tav>
                                        <p:tav tm="100000">
                                          <p:val>
                                            <p:strVal val="#ppt_x"/>
                                          </p:val>
                                        </p:tav>
                                      </p:tavLst>
                                    </p:anim>
                                    <p:anim calcmode="lin" valueType="num">
                                      <p:cBhvr additive="base">
                                        <p:cTn id="44" dur="550" fill="hold"/>
                                        <p:tgtEl>
                                          <p:spTgt spid="11"/>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additive="base">
                                        <p:cTn id="48" dur="550" fill="hold"/>
                                        <p:tgtEl>
                                          <p:spTgt spid="12"/>
                                        </p:tgtEl>
                                        <p:attrNameLst>
                                          <p:attrName>ppt_x</p:attrName>
                                        </p:attrNameLst>
                                      </p:cBhvr>
                                      <p:tavLst>
                                        <p:tav tm="0">
                                          <p:val>
                                            <p:strVal val="#ppt_x"/>
                                          </p:val>
                                        </p:tav>
                                        <p:tav tm="100000">
                                          <p:val>
                                            <p:strVal val="#ppt_x"/>
                                          </p:val>
                                        </p:tav>
                                      </p:tavLst>
                                    </p:anim>
                                    <p:anim calcmode="lin" valueType="num">
                                      <p:cBhvr additive="base">
                                        <p:cTn id="49" dur="550" fill="hold"/>
                                        <p:tgtEl>
                                          <p:spTgt spid="12"/>
                                        </p:tgtEl>
                                        <p:attrNameLst>
                                          <p:attrName>ppt_y</p:attrName>
                                        </p:attrNameLst>
                                      </p:cBhvr>
                                      <p:tavLst>
                                        <p:tav tm="0">
                                          <p:val>
                                            <p:strVal val="#ppt_y+.06"/>
                                          </p:val>
                                        </p:tav>
                                        <p:tav tm="100000">
                                          <p:val>
                                            <p:strVal val="#ppt_y"/>
                                          </p:val>
                                        </p:tav>
                                      </p:tavLst>
                                    </p:anim>
                                  </p:childTnLst>
                                </p:cTn>
                              </p:par>
                            </p:childTnLst>
                          </p:cTn>
                        </p:par>
                        <p:par>
                          <p:cTn id="105" fill="hold">
                            <p:stCondLst>
                              <p:cond delay="1402"/>
                            </p:stCondLst>
                            <p:childTnLst>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additive="base">
                                        <p:cTn id="53" dur="550" fill="hold"/>
                                        <p:tgtEl>
                                          <p:spTgt spid="13"/>
                                        </p:tgtEl>
                                        <p:attrNameLst>
                                          <p:attrName>ppt_x</p:attrName>
                                        </p:attrNameLst>
                                      </p:cBhvr>
                                      <p:tavLst>
                                        <p:tav tm="0">
                                          <p:val>
                                            <p:strVal val="#ppt_x"/>
                                          </p:val>
                                        </p:tav>
                                        <p:tav tm="100000">
                                          <p:val>
                                            <p:strVal val="#ppt_x"/>
                                          </p:val>
                                        </p:tav>
                                      </p:tavLst>
                                    </p:anim>
                                    <p:anim calcmode="lin" valueType="num">
                                      <p:cBhvr additive="base">
                                        <p:cTn id="54" dur="550" fill="hold"/>
                                        <p:tgtEl>
                                          <p:spTgt spid="13"/>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additive="base">
                                        <p:cTn id="58" dur="550" fill="hold"/>
                                        <p:tgtEl>
                                          <p:spTgt spid="14"/>
                                        </p:tgtEl>
                                        <p:attrNameLst>
                                          <p:attrName>ppt_x</p:attrName>
                                        </p:attrNameLst>
                                      </p:cBhvr>
                                      <p:tavLst>
                                        <p:tav tm="0">
                                          <p:val>
                                            <p:strVal val="#ppt_x"/>
                                          </p:val>
                                        </p:tav>
                                        <p:tav tm="100000">
                                          <p:val>
                                            <p:strVal val="#ppt_x"/>
                                          </p:val>
                                        </p:tav>
                                      </p:tavLst>
                                    </p:anim>
                                    <p:anim calcmode="lin" valueType="num">
                                      <p:cBhvr additive="base">
                                        <p:cTn id="59" dur="550" fill="hold"/>
                                        <p:tgtEl>
                                          <p:spTgt spid="14"/>
                                        </p:tgtEl>
                                        <p:attrNameLst>
                                          <p:attrName>ppt_y</p:attrName>
                                        </p:attrNameLst>
                                      </p:cBhvr>
                                      <p:tavLst>
                                        <p:tav tm="0">
                                          <p:val>
                                            <p:strVal val="#ppt_y+.06"/>
                                          </p:val>
                                        </p:tav>
                                        <p:tav tm="100000">
                                          <p:val>
                                            <p:strVal val="#ppt_y"/>
                                          </p:val>
                                        </p:tav>
                                      </p:tavLst>
                                    </p:anim>
                                  </p:childTnLst>
                                </p:cTn>
                              </p:par>
                            </p:childTnLst>
                          </p:cTn>
                        </p:par>
                        <p:par>
                          <p:cTn id="106" fill="hold">
                            <p:stCondLst>
                              <p:cond delay="1705"/>
                            </p:stCondLst>
                            <p:childTnLst>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additive="base">
                                        <p:cTn id="63" dur="550" fill="hold"/>
                                        <p:tgtEl>
                                          <p:spTgt spid="15"/>
                                        </p:tgtEl>
                                        <p:attrNameLst>
                                          <p:attrName>ppt_x</p:attrName>
                                        </p:attrNameLst>
                                      </p:cBhvr>
                                      <p:tavLst>
                                        <p:tav tm="0">
                                          <p:val>
                                            <p:strVal val="#ppt_x"/>
                                          </p:val>
                                        </p:tav>
                                        <p:tav tm="100000">
                                          <p:val>
                                            <p:strVal val="#ppt_x"/>
                                          </p:val>
                                        </p:tav>
                                      </p:tavLst>
                                    </p:anim>
                                    <p:anim calcmode="lin" valueType="num">
                                      <p:cBhvr additive="base">
                                        <p:cTn id="64" dur="55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additive="base">
                                        <p:cTn id="68" dur="550" fill="hold"/>
                                        <p:tgtEl>
                                          <p:spTgt spid="16"/>
                                        </p:tgtEl>
                                        <p:attrNameLst>
                                          <p:attrName>ppt_x</p:attrName>
                                        </p:attrNameLst>
                                      </p:cBhvr>
                                      <p:tavLst>
                                        <p:tav tm="0">
                                          <p:val>
                                            <p:strVal val="#ppt_x"/>
                                          </p:val>
                                        </p:tav>
                                        <p:tav tm="100000">
                                          <p:val>
                                            <p:strVal val="#ppt_x"/>
                                          </p:val>
                                        </p:tav>
                                      </p:tavLst>
                                    </p:anim>
                                    <p:anim calcmode="lin" valueType="num">
                                      <p:cBhvr additive="base">
                                        <p:cTn id="69" dur="550" fill="hold"/>
                                        <p:tgtEl>
                                          <p:spTgt spid="16"/>
                                        </p:tgtEl>
                                        <p:attrNameLst>
                                          <p:attrName>ppt_y</p:attrName>
                                        </p:attrNameLst>
                                      </p:cBhvr>
                                      <p:tavLst>
                                        <p:tav tm="0">
                                          <p:val>
                                            <p:strVal val="#ppt_y+.06"/>
                                          </p:val>
                                        </p:tav>
                                        <p:tav tm="100000">
                                          <p:val>
                                            <p:strVal val="#ppt_y"/>
                                          </p:val>
                                        </p:tav>
                                      </p:tavLst>
                                    </p:anim>
                                  </p:childTnLst>
                                </p:cTn>
                              </p:par>
                            </p:childTnLst>
                          </p:cTn>
                        </p:par>
                        <p:par>
                          <p:cTn id="107" fill="hold">
                            <p:stCondLst>
                              <p:cond delay="2007"/>
                            </p:stCondLst>
                            <p:childTnLst>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additive="base">
                                        <p:cTn id="73" dur="550" fill="hold"/>
                                        <p:tgtEl>
                                          <p:spTgt spid="17"/>
                                        </p:tgtEl>
                                        <p:attrNameLst>
                                          <p:attrName>ppt_x</p:attrName>
                                        </p:attrNameLst>
                                      </p:cBhvr>
                                      <p:tavLst>
                                        <p:tav tm="0">
                                          <p:val>
                                            <p:strVal val="#ppt_x"/>
                                          </p:val>
                                        </p:tav>
                                        <p:tav tm="100000">
                                          <p:val>
                                            <p:strVal val="#ppt_x"/>
                                          </p:val>
                                        </p:tav>
                                      </p:tavLst>
                                    </p:anim>
                                    <p:anim calcmode="lin" valueType="num">
                                      <p:cBhvr additive="base">
                                        <p:cTn id="74" dur="550" fill="hold"/>
                                        <p:tgtEl>
                                          <p:spTgt spid="17"/>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additive="base">
                                        <p:cTn id="78" dur="550" fill="hold"/>
                                        <p:tgtEl>
                                          <p:spTgt spid="18"/>
                                        </p:tgtEl>
                                        <p:attrNameLst>
                                          <p:attrName>ppt_x</p:attrName>
                                        </p:attrNameLst>
                                      </p:cBhvr>
                                      <p:tavLst>
                                        <p:tav tm="0">
                                          <p:val>
                                            <p:strVal val="#ppt_x"/>
                                          </p:val>
                                        </p:tav>
                                        <p:tav tm="100000">
                                          <p:val>
                                            <p:strVal val="#ppt_x"/>
                                          </p:val>
                                        </p:tav>
                                      </p:tavLst>
                                    </p:anim>
                                    <p:anim calcmode="lin" valueType="num">
                                      <p:cBhvr additive="base">
                                        <p:cTn id="79" dur="550" fill="hold"/>
                                        <p:tgtEl>
                                          <p:spTgt spid="18"/>
                                        </p:tgtEl>
                                        <p:attrNameLst>
                                          <p:attrName>ppt_y</p:attrName>
                                        </p:attrNameLst>
                                      </p:cBhvr>
                                      <p:tavLst>
                                        <p:tav tm="0">
                                          <p:val>
                                            <p:strVal val="#ppt_y+.06"/>
                                          </p:val>
                                        </p:tav>
                                        <p:tav tm="100000">
                                          <p:val>
                                            <p:strVal val="#ppt_y"/>
                                          </p:val>
                                        </p:tav>
                                      </p:tavLst>
                                    </p:anim>
                                  </p:childTnLst>
                                </p:cTn>
                              </p:par>
                            </p:childTnLst>
                          </p:cTn>
                        </p:par>
                        <p:par>
                          <p:cTn id="108" fill="hold">
                            <p:stCondLst>
                              <p:cond delay="2310"/>
                            </p:stCondLst>
                            <p:childTnLst>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additive="base">
                                        <p:cTn id="83" dur="550" fill="hold"/>
                                        <p:tgtEl>
                                          <p:spTgt spid="19"/>
                                        </p:tgtEl>
                                        <p:attrNameLst>
                                          <p:attrName>ppt_x</p:attrName>
                                        </p:attrNameLst>
                                      </p:cBhvr>
                                      <p:tavLst>
                                        <p:tav tm="0">
                                          <p:val>
                                            <p:strVal val="#ppt_x"/>
                                          </p:val>
                                        </p:tav>
                                        <p:tav tm="100000">
                                          <p:val>
                                            <p:strVal val="#ppt_x"/>
                                          </p:val>
                                        </p:tav>
                                      </p:tavLst>
                                    </p:anim>
                                    <p:anim calcmode="lin" valueType="num">
                                      <p:cBhvr additive="base">
                                        <p:cTn id="84" dur="550" fill="hold"/>
                                        <p:tgtEl>
                                          <p:spTgt spid="19"/>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additive="base">
                                        <p:cTn id="88" dur="550" fill="hold"/>
                                        <p:tgtEl>
                                          <p:spTgt spid="20"/>
                                        </p:tgtEl>
                                        <p:attrNameLst>
                                          <p:attrName>ppt_x</p:attrName>
                                        </p:attrNameLst>
                                      </p:cBhvr>
                                      <p:tavLst>
                                        <p:tav tm="0">
                                          <p:val>
                                            <p:strVal val="#ppt_x"/>
                                          </p:val>
                                        </p:tav>
                                        <p:tav tm="100000">
                                          <p:val>
                                            <p:strVal val="#ppt_x"/>
                                          </p:val>
                                        </p:tav>
                                      </p:tavLst>
                                    </p:anim>
                                    <p:anim calcmode="lin" valueType="num">
                                      <p:cBhvr additive="base">
                                        <p:cTn id="89" dur="550" fill="hold"/>
                                        <p:tgtEl>
                                          <p:spTgt spid="20"/>
                                        </p:tgtEl>
                                        <p:attrNameLst>
                                          <p:attrName>ppt_y</p:attrName>
                                        </p:attrNameLst>
                                      </p:cBhvr>
                                      <p:tavLst>
                                        <p:tav tm="0">
                                          <p:val>
                                            <p:strVal val="#ppt_y+.06"/>
                                          </p:val>
                                        </p:tav>
                                        <p:tav tm="100000">
                                          <p:val>
                                            <p:strVal val="#ppt_y"/>
                                          </p:val>
                                        </p:tav>
                                      </p:tavLst>
                                    </p:anim>
                                  </p:childTnLst>
                                </p:cTn>
                              </p:par>
                            </p:childTnLst>
                          </p:cTn>
                        </p:par>
                        <p:par>
                          <p:cTn id="109" fill="hold">
                            <p:stCondLst>
                              <p:cond delay="2612"/>
                            </p:stCondLst>
                            <p:childTnLst>
                              <p:par>
                                <p:cTn id="90" presetID="42"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additive="base">
                                        <p:cTn id="93" dur="550" fill="hold"/>
                                        <p:tgtEl>
                                          <p:spTgt spid="21"/>
                                        </p:tgtEl>
                                        <p:attrNameLst>
                                          <p:attrName>ppt_x</p:attrName>
                                        </p:attrNameLst>
                                      </p:cBhvr>
                                      <p:tavLst>
                                        <p:tav tm="0">
                                          <p:val>
                                            <p:strVal val="#ppt_x"/>
                                          </p:val>
                                        </p:tav>
                                        <p:tav tm="100000">
                                          <p:val>
                                            <p:strVal val="#ppt_x"/>
                                          </p:val>
                                        </p:tav>
                                      </p:tavLst>
                                    </p:anim>
                                    <p:anim calcmode="lin" valueType="num">
                                      <p:cBhvr additive="base">
                                        <p:cTn id="94" dur="550" fill="hold"/>
                                        <p:tgtEl>
                                          <p:spTgt spid="21"/>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additive="base">
                                        <p:cTn id="98" dur="550" fill="hold"/>
                                        <p:tgtEl>
                                          <p:spTgt spid="22"/>
                                        </p:tgtEl>
                                        <p:attrNameLst>
                                          <p:attrName>ppt_x</p:attrName>
                                        </p:attrNameLst>
                                      </p:cBhvr>
                                      <p:tavLst>
                                        <p:tav tm="0">
                                          <p:val>
                                            <p:strVal val="#ppt_x"/>
                                          </p:val>
                                        </p:tav>
                                        <p:tav tm="100000">
                                          <p:val>
                                            <p:strVal val="#ppt_x"/>
                                          </p:val>
                                        </p:tav>
                                      </p:tavLst>
                                    </p:anim>
                                    <p:anim calcmode="lin" valueType="num">
                                      <p:cBhvr additive="base">
                                        <p:cTn id="99" dur="550" fill="hold"/>
                                        <p:tgtEl>
                                          <p:spTgt spid="2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THE PROBLEM</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A failed match means a lost entitlement</a:t>
            </a:r>
            <a:endParaRPr lang="en-US" sz="3400" dirty="0"/>
          </a:p>
        </p:txBody>
      </p:sp>
      <p:sp>
        <p:nvSpPr>
          <p:cNvPr id="4" name="a01_fade_lead"/>
          <p:cNvSpPr txBox="1"/>
          <p:nvPr/>
        </p:nvSpPr>
        <p:spPr>
          <a:xfrm>
            <a:off x="548640" y="1600200"/>
            <a:ext cx="8778240" cy="868680"/>
          </a:xfrm>
          <a:prstGeom prst="rect">
            <a:avLst/>
          </a:prstGeom>
          <a:noFill/>
          <a:ln/>
        </p:spPr>
        <p:txBody>
          <a:bodyPr wrap="square" lIns="0" tIns="0" rIns="0" bIns="0" rtlCol="0" anchor="t"/>
          <a:lstStyle/>
          <a:p>
            <a:pPr indent="0" marL="0">
              <a:buNone/>
            </a:pPr>
            <a:r>
              <a:rPr lang="en-US" sz="1700" dirty="0">
                <a:solidFill>
                  <a:schemeClr val="tx1"/>
                </a:solidFill>
              </a:rPr>
              <a:t>Rations, pensions, wages and banking increasingly require a fingerprint or iris match at the point of service. The check is there to stop impostors, but every false rejection lands on a genuine beneficiary.</a:t>
            </a:r>
            <a:endParaRPr lang="en-US" sz="1700" dirty="0"/>
          </a:p>
        </p:txBody>
      </p:sp>
      <p:sp>
        <p:nvSpPr>
          <p:cNvPr id="5" name="a02_rise_card0"/>
          <p:cNvSpPr/>
          <p:nvPr/>
        </p:nvSpPr>
        <p:spPr>
          <a:xfrm>
            <a:off x="548640" y="2743200"/>
            <a:ext cx="2560320" cy="3246120"/>
          </a:xfrm>
          <a:prstGeom prst="roundRect">
            <a:avLst>
              <a:gd name="adj" fmla="val 428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6" name="a02_rise_icon0_c"/>
          <p:cNvSpPr/>
          <p:nvPr/>
        </p:nvSpPr>
        <p:spPr>
          <a:xfrm>
            <a:off x="822960" y="3017520"/>
            <a:ext cx="731520" cy="731520"/>
          </a:xfrm>
          <a:prstGeom prst="ellipse">
            <a:avLst/>
          </a:prstGeom>
          <a:solidFill>
            <a:schemeClr val="accent1"/>
          </a:solidFill>
          <a:ln/>
        </p:spPr>
      </p:sp>
      <p:pic>
        <p:nvPicPr>
          <p:cNvPr id="7" name="a02_rise_icon0_i" descr="preencoded.png">    </p:cNvPr>
          <p:cNvPicPr>
            <a:picLocks noChangeAspect="1"/>
          </p:cNvPicPr>
          <p:nvPr/>
        </p:nvPicPr>
        <p:blipFill>
          <a:blip r:embed="rId1"/>
          <a:stretch>
            <a:fillRect/>
          </a:stretch>
        </p:blipFill>
        <p:spPr>
          <a:xfrm>
            <a:off x="998525" y="3193085"/>
            <a:ext cx="380390" cy="380390"/>
          </a:xfrm>
          <a:prstGeom prst="rect">
            <a:avLst/>
          </a:prstGeom>
        </p:spPr>
      </p:pic>
      <p:sp>
        <p:nvSpPr>
          <p:cNvPr id="8" name="a02_rise_name0"/>
          <p:cNvSpPr txBox="1"/>
          <p:nvPr/>
        </p:nvSpPr>
        <p:spPr>
          <a:xfrm>
            <a:off x="822960" y="3931920"/>
            <a:ext cx="2103120" cy="365760"/>
          </a:xfrm>
          <a:prstGeom prst="rect">
            <a:avLst/>
          </a:prstGeom>
          <a:noFill/>
          <a:ln/>
        </p:spPr>
        <p:txBody>
          <a:bodyPr wrap="square" lIns="0" tIns="0" rIns="0" bIns="0" rtlCol="0" anchor="t"/>
          <a:lstStyle/>
          <a:p>
            <a:pPr indent="0" marL="0">
              <a:buNone/>
            </a:pPr>
            <a:r>
              <a:rPr lang="en-US" sz="1800" b="1" dirty="0">
                <a:solidFill>
                  <a:schemeClr val="accent1"/>
                </a:solidFill>
              </a:rPr>
              <a:t>PDS ration</a:t>
            </a:r>
            <a:endParaRPr lang="en-US" sz="1800" dirty="0"/>
          </a:p>
        </p:txBody>
      </p:sp>
      <p:sp>
        <p:nvSpPr>
          <p:cNvPr id="9" name="a02_rise_desc0"/>
          <p:cNvSpPr txBox="1"/>
          <p:nvPr/>
        </p:nvSpPr>
        <p:spPr>
          <a:xfrm>
            <a:off x="822960" y="4315968"/>
            <a:ext cx="2103120" cy="548640"/>
          </a:xfrm>
          <a:prstGeom prst="rect">
            <a:avLst/>
          </a:prstGeom>
          <a:noFill/>
          <a:ln/>
        </p:spPr>
        <p:txBody>
          <a:bodyPr wrap="square" lIns="0" tIns="0" rIns="0" bIns="0" rtlCol="0" anchor="t"/>
          <a:lstStyle/>
          <a:p>
            <a:pPr indent="0" marL="0">
              <a:buNone/>
            </a:pPr>
            <a:r>
              <a:rPr lang="en-US" sz="1400" dirty="0">
                <a:solidFill>
                  <a:schemeClr val="accent5"/>
                </a:solidFill>
              </a:rPr>
              <a:t>Subsidised grain at the ration shop</a:t>
            </a:r>
            <a:endParaRPr lang="en-US" sz="1400" dirty="0"/>
          </a:p>
        </p:txBody>
      </p:sp>
      <p:sp>
        <p:nvSpPr>
          <p:cNvPr id="10" name="a02_rise_rate0"/>
          <p:cNvSpPr txBox="1"/>
          <p:nvPr/>
        </p:nvSpPr>
        <p:spPr>
          <a:xfrm>
            <a:off x="822960" y="4983480"/>
            <a:ext cx="2103120" cy="8686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2.6%</a:t>
            </a:r>
            <a:endParaRPr lang="en-US" sz="3000" dirty="0"/>
          </a:p>
          <a:p>
            <a:pPr indent="0" marL="0">
              <a:buNone/>
            </a:pPr>
            <a:r>
              <a:rPr lang="en-US" sz="1200" dirty="0">
                <a:solidFill>
                  <a:schemeClr val="accent5"/>
                </a:solidFill>
              </a:rPr>
              <a:t>of genuine visits denied</a:t>
            </a:r>
            <a:endParaRPr lang="en-US" sz="3000" dirty="0"/>
          </a:p>
        </p:txBody>
      </p:sp>
      <p:sp>
        <p:nvSpPr>
          <p:cNvPr id="11" name="a03_rise_card1"/>
          <p:cNvSpPr/>
          <p:nvPr/>
        </p:nvSpPr>
        <p:spPr>
          <a:xfrm>
            <a:off x="3383280" y="2743200"/>
            <a:ext cx="2560320" cy="3246120"/>
          </a:xfrm>
          <a:prstGeom prst="roundRect">
            <a:avLst>
              <a:gd name="adj" fmla="val 428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2" name="a03_rise_icon1_c"/>
          <p:cNvSpPr/>
          <p:nvPr/>
        </p:nvSpPr>
        <p:spPr>
          <a:xfrm>
            <a:off x="3657600" y="3017520"/>
            <a:ext cx="731520" cy="731520"/>
          </a:xfrm>
          <a:prstGeom prst="ellipse">
            <a:avLst/>
          </a:prstGeom>
          <a:solidFill>
            <a:schemeClr val="accent1"/>
          </a:solidFill>
          <a:ln/>
        </p:spPr>
      </p:sp>
      <p:pic>
        <p:nvPicPr>
          <p:cNvPr id="13" name="a03_rise_icon1_i" descr="preencoded.png">    </p:cNvPr>
          <p:cNvPicPr>
            <a:picLocks noChangeAspect="1"/>
          </p:cNvPicPr>
          <p:nvPr/>
        </p:nvPicPr>
        <p:blipFill>
          <a:blip r:embed="rId2"/>
          <a:stretch>
            <a:fillRect/>
          </a:stretch>
        </p:blipFill>
        <p:spPr>
          <a:xfrm>
            <a:off x="3833165" y="3193085"/>
            <a:ext cx="380390" cy="380390"/>
          </a:xfrm>
          <a:prstGeom prst="rect">
            <a:avLst/>
          </a:prstGeom>
        </p:spPr>
      </p:pic>
      <p:sp>
        <p:nvSpPr>
          <p:cNvPr id="14" name="a03_rise_name1"/>
          <p:cNvSpPr txBox="1"/>
          <p:nvPr/>
        </p:nvSpPr>
        <p:spPr>
          <a:xfrm>
            <a:off x="3657600" y="3931920"/>
            <a:ext cx="2103120" cy="365760"/>
          </a:xfrm>
          <a:prstGeom prst="rect">
            <a:avLst/>
          </a:prstGeom>
          <a:noFill/>
          <a:ln/>
        </p:spPr>
        <p:txBody>
          <a:bodyPr wrap="square" lIns="0" tIns="0" rIns="0" bIns="0" rtlCol="0" anchor="t"/>
          <a:lstStyle/>
          <a:p>
            <a:pPr indent="0" marL="0">
              <a:buNone/>
            </a:pPr>
            <a:r>
              <a:rPr lang="en-US" sz="1800" b="1" dirty="0">
                <a:solidFill>
                  <a:schemeClr val="accent1"/>
                </a:solidFill>
              </a:rPr>
              <a:t>Old-age pension</a:t>
            </a:r>
            <a:endParaRPr lang="en-US" sz="1800" dirty="0"/>
          </a:p>
        </p:txBody>
      </p:sp>
      <p:sp>
        <p:nvSpPr>
          <p:cNvPr id="15" name="a03_rise_desc1"/>
          <p:cNvSpPr txBox="1"/>
          <p:nvPr/>
        </p:nvSpPr>
        <p:spPr>
          <a:xfrm>
            <a:off x="3657600" y="4315968"/>
            <a:ext cx="2103120" cy="548640"/>
          </a:xfrm>
          <a:prstGeom prst="rect">
            <a:avLst/>
          </a:prstGeom>
          <a:noFill/>
          <a:ln/>
        </p:spPr>
        <p:txBody>
          <a:bodyPr wrap="square" lIns="0" tIns="0" rIns="0" bIns="0" rtlCol="0" anchor="t"/>
          <a:lstStyle/>
          <a:p>
            <a:pPr indent="0" marL="0">
              <a:buNone/>
            </a:pPr>
            <a:r>
              <a:rPr lang="en-US" sz="1400" dirty="0">
                <a:solidFill>
                  <a:schemeClr val="accent5"/>
                </a:solidFill>
              </a:rPr>
              <a:t>Monthly support for older people</a:t>
            </a:r>
            <a:endParaRPr lang="en-US" sz="1400" dirty="0"/>
          </a:p>
        </p:txBody>
      </p:sp>
      <p:sp>
        <p:nvSpPr>
          <p:cNvPr id="16" name="a03_rise_rate1"/>
          <p:cNvSpPr txBox="1"/>
          <p:nvPr/>
        </p:nvSpPr>
        <p:spPr>
          <a:xfrm>
            <a:off x="3657600" y="4983480"/>
            <a:ext cx="2103120" cy="868680"/>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11.3%</a:t>
            </a:r>
            <a:endParaRPr lang="en-US" sz="3000" dirty="0"/>
          </a:p>
          <a:p>
            <a:pPr indent="0" marL="0">
              <a:buNone/>
            </a:pPr>
            <a:r>
              <a:rPr lang="en-US" sz="1200" dirty="0">
                <a:solidFill>
                  <a:schemeClr val="accent5"/>
                </a:solidFill>
              </a:rPr>
              <a:t>of genuine visits denied</a:t>
            </a:r>
            <a:endParaRPr lang="en-US" sz="3000" dirty="0"/>
          </a:p>
        </p:txBody>
      </p:sp>
      <p:sp>
        <p:nvSpPr>
          <p:cNvPr id="17" name="a04_rise_card2"/>
          <p:cNvSpPr/>
          <p:nvPr/>
        </p:nvSpPr>
        <p:spPr>
          <a:xfrm>
            <a:off x="6217920" y="2743200"/>
            <a:ext cx="2560320" cy="3246120"/>
          </a:xfrm>
          <a:prstGeom prst="roundRect">
            <a:avLst>
              <a:gd name="adj" fmla="val 428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8" name="a04_rise_icon2_c"/>
          <p:cNvSpPr/>
          <p:nvPr/>
        </p:nvSpPr>
        <p:spPr>
          <a:xfrm>
            <a:off x="6492240" y="3017520"/>
            <a:ext cx="731520" cy="731520"/>
          </a:xfrm>
          <a:prstGeom prst="ellipse">
            <a:avLst/>
          </a:prstGeom>
          <a:solidFill>
            <a:schemeClr val="accent1"/>
          </a:solidFill>
          <a:ln/>
        </p:spPr>
      </p:sp>
      <p:pic>
        <p:nvPicPr>
          <p:cNvPr id="19" name="a04_rise_icon2_i" descr="preencoded.png">    </p:cNvPr>
          <p:cNvPicPr>
            <a:picLocks noChangeAspect="1"/>
          </p:cNvPicPr>
          <p:nvPr/>
        </p:nvPicPr>
        <p:blipFill>
          <a:blip r:embed="rId3"/>
          <a:stretch>
            <a:fillRect/>
          </a:stretch>
        </p:blipFill>
        <p:spPr>
          <a:xfrm>
            <a:off x="6667805" y="3193085"/>
            <a:ext cx="380390" cy="380390"/>
          </a:xfrm>
          <a:prstGeom prst="rect">
            <a:avLst/>
          </a:prstGeom>
        </p:spPr>
      </p:pic>
      <p:sp>
        <p:nvSpPr>
          <p:cNvPr id="20" name="a04_rise_name2"/>
          <p:cNvSpPr txBox="1"/>
          <p:nvPr/>
        </p:nvSpPr>
        <p:spPr>
          <a:xfrm>
            <a:off x="6492240" y="3931920"/>
            <a:ext cx="2103120" cy="365760"/>
          </a:xfrm>
          <a:prstGeom prst="rect">
            <a:avLst/>
          </a:prstGeom>
          <a:noFill/>
          <a:ln/>
        </p:spPr>
        <p:txBody>
          <a:bodyPr wrap="square" lIns="0" tIns="0" rIns="0" bIns="0" rtlCol="0" anchor="t"/>
          <a:lstStyle/>
          <a:p>
            <a:pPr indent="0" marL="0">
              <a:buNone/>
            </a:pPr>
            <a:r>
              <a:rPr lang="en-US" sz="1800" b="1" dirty="0">
                <a:solidFill>
                  <a:schemeClr val="accent1"/>
                </a:solidFill>
              </a:rPr>
              <a:t>MGNREGA wages</a:t>
            </a:r>
            <a:endParaRPr lang="en-US" sz="1800" dirty="0"/>
          </a:p>
        </p:txBody>
      </p:sp>
      <p:sp>
        <p:nvSpPr>
          <p:cNvPr id="21" name="a04_rise_desc2"/>
          <p:cNvSpPr txBox="1"/>
          <p:nvPr/>
        </p:nvSpPr>
        <p:spPr>
          <a:xfrm>
            <a:off x="6492240" y="4315968"/>
            <a:ext cx="2103120" cy="548640"/>
          </a:xfrm>
          <a:prstGeom prst="rect">
            <a:avLst/>
          </a:prstGeom>
          <a:noFill/>
          <a:ln/>
        </p:spPr>
        <p:txBody>
          <a:bodyPr wrap="square" lIns="0" tIns="0" rIns="0" bIns="0" rtlCol="0" anchor="t"/>
          <a:lstStyle/>
          <a:p>
            <a:pPr indent="0" marL="0">
              <a:buNone/>
            </a:pPr>
            <a:r>
              <a:rPr lang="en-US" sz="1400" dirty="0">
                <a:solidFill>
                  <a:schemeClr val="accent5"/>
                </a:solidFill>
              </a:rPr>
              <a:t>Pay for rural public works</a:t>
            </a:r>
            <a:endParaRPr lang="en-US" sz="1400" dirty="0"/>
          </a:p>
        </p:txBody>
      </p:sp>
      <p:sp>
        <p:nvSpPr>
          <p:cNvPr id="22" name="a04_rise_rate2"/>
          <p:cNvSpPr txBox="1"/>
          <p:nvPr/>
        </p:nvSpPr>
        <p:spPr>
          <a:xfrm>
            <a:off x="6492240" y="4983480"/>
            <a:ext cx="2103120" cy="8686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2.3%</a:t>
            </a:r>
            <a:endParaRPr lang="en-US" sz="3000" dirty="0"/>
          </a:p>
          <a:p>
            <a:pPr indent="0" marL="0">
              <a:buNone/>
            </a:pPr>
            <a:r>
              <a:rPr lang="en-US" sz="1200" dirty="0">
                <a:solidFill>
                  <a:schemeClr val="accent5"/>
                </a:solidFill>
              </a:rPr>
              <a:t>of genuine visits denied</a:t>
            </a:r>
            <a:endParaRPr lang="en-US" sz="3000" dirty="0"/>
          </a:p>
        </p:txBody>
      </p:sp>
      <p:sp>
        <p:nvSpPr>
          <p:cNvPr id="23" name="a05_rise_card3"/>
          <p:cNvSpPr/>
          <p:nvPr/>
        </p:nvSpPr>
        <p:spPr>
          <a:xfrm>
            <a:off x="9052560" y="2743200"/>
            <a:ext cx="2560320" cy="3246120"/>
          </a:xfrm>
          <a:prstGeom prst="roundRect">
            <a:avLst>
              <a:gd name="adj" fmla="val 428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24" name="a05_rise_icon3_c"/>
          <p:cNvSpPr/>
          <p:nvPr/>
        </p:nvSpPr>
        <p:spPr>
          <a:xfrm>
            <a:off x="9326880" y="3017520"/>
            <a:ext cx="731520" cy="731520"/>
          </a:xfrm>
          <a:prstGeom prst="ellipse">
            <a:avLst/>
          </a:prstGeom>
          <a:solidFill>
            <a:schemeClr val="accent1"/>
          </a:solidFill>
          <a:ln/>
        </p:spPr>
      </p:sp>
      <p:pic>
        <p:nvPicPr>
          <p:cNvPr id="25" name="a05_rise_icon3_i" descr="preencoded.png">    </p:cNvPr>
          <p:cNvPicPr>
            <a:picLocks noChangeAspect="1"/>
          </p:cNvPicPr>
          <p:nvPr/>
        </p:nvPicPr>
        <p:blipFill>
          <a:blip r:embed="rId4"/>
          <a:stretch>
            <a:fillRect/>
          </a:stretch>
        </p:blipFill>
        <p:spPr>
          <a:xfrm>
            <a:off x="9502445" y="3193085"/>
            <a:ext cx="380390" cy="380390"/>
          </a:xfrm>
          <a:prstGeom prst="rect">
            <a:avLst/>
          </a:prstGeom>
        </p:spPr>
      </p:pic>
      <p:sp>
        <p:nvSpPr>
          <p:cNvPr id="26" name="a05_rise_name3"/>
          <p:cNvSpPr txBox="1"/>
          <p:nvPr/>
        </p:nvSpPr>
        <p:spPr>
          <a:xfrm>
            <a:off x="9326880" y="3931920"/>
            <a:ext cx="2103120" cy="365760"/>
          </a:xfrm>
          <a:prstGeom prst="rect">
            <a:avLst/>
          </a:prstGeom>
          <a:noFill/>
          <a:ln/>
        </p:spPr>
        <p:txBody>
          <a:bodyPr wrap="square" lIns="0" tIns="0" rIns="0" bIns="0" rtlCol="0" anchor="t"/>
          <a:lstStyle/>
          <a:p>
            <a:pPr indent="0" marL="0">
              <a:buNone/>
            </a:pPr>
            <a:r>
              <a:rPr lang="en-US" sz="1800" b="1" dirty="0">
                <a:solidFill>
                  <a:schemeClr val="accent1"/>
                </a:solidFill>
              </a:rPr>
              <a:t>AePS banking</a:t>
            </a:r>
            <a:endParaRPr lang="en-US" sz="1800" dirty="0"/>
          </a:p>
        </p:txBody>
      </p:sp>
      <p:sp>
        <p:nvSpPr>
          <p:cNvPr id="27" name="a05_rise_desc3"/>
          <p:cNvSpPr txBox="1"/>
          <p:nvPr/>
        </p:nvSpPr>
        <p:spPr>
          <a:xfrm>
            <a:off x="9326880" y="4315968"/>
            <a:ext cx="2103120" cy="548640"/>
          </a:xfrm>
          <a:prstGeom prst="rect">
            <a:avLst/>
          </a:prstGeom>
          <a:noFill/>
          <a:ln/>
        </p:spPr>
        <p:txBody>
          <a:bodyPr wrap="square" lIns="0" tIns="0" rIns="0" bIns="0" rtlCol="0" anchor="t"/>
          <a:lstStyle/>
          <a:p>
            <a:pPr indent="0" marL="0">
              <a:buNone/>
            </a:pPr>
            <a:r>
              <a:rPr lang="en-US" sz="1400" dirty="0">
                <a:solidFill>
                  <a:schemeClr val="accent5"/>
                </a:solidFill>
              </a:rPr>
              <a:t>Cash at village banking points</a:t>
            </a:r>
            <a:endParaRPr lang="en-US" sz="1400" dirty="0"/>
          </a:p>
        </p:txBody>
      </p:sp>
      <p:sp>
        <p:nvSpPr>
          <p:cNvPr id="28" name="a05_rise_rate3"/>
          <p:cNvSpPr txBox="1"/>
          <p:nvPr/>
        </p:nvSpPr>
        <p:spPr>
          <a:xfrm>
            <a:off x="9326880" y="4983480"/>
            <a:ext cx="2103120" cy="8686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2.3%</a:t>
            </a:r>
            <a:endParaRPr lang="en-US" sz="3000" dirty="0"/>
          </a:p>
          <a:p>
            <a:pPr indent="0" marL="0">
              <a:buNone/>
            </a:pPr>
            <a:r>
              <a:rPr lang="en-US" sz="1200" dirty="0">
                <a:solidFill>
                  <a:schemeClr val="accent5"/>
                </a:solidFill>
              </a:rPr>
              <a:t>of genuine visits denied</a:t>
            </a: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131" fill="hold">
                      <p:stCondLst>
                        <p:cond delay="indefinite"/>
                        <p:cond evt="onBegin" delay="0">
                          <p:tn val="2"/>
                        </p:cond>
                      </p:stCondLst>
                      <p:childTnLst>
                        <p:par>
                          <p:cTn id="12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childTnLst>
                          </p:cTn>
                        </p:par>
                        <p:par>
                          <p:cTn id="127" fill="hold">
                            <p:stCondLst>
                              <p:cond delay="247"/>
                            </p:stCondLst>
                            <p:childTnLst>
                              <p:par>
                                <p:cTn id="6" presetID="42"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50"/>
                                        <p:tgtEl>
                                          <p:spTgt spid="5"/>
                                        </p:tgtEl>
                                      </p:cBhvr>
                                    </p:animEffect>
                                    <p:anim calcmode="lin" valueType="num">
                                      <p:cBhvr additive="base">
                                        <p:cTn id="9" dur="550" fill="hold"/>
                                        <p:tgtEl>
                                          <p:spTgt spid="5"/>
                                        </p:tgtEl>
                                        <p:attrNameLst>
                                          <p:attrName>ppt_x</p:attrName>
                                        </p:attrNameLst>
                                      </p:cBhvr>
                                      <p:tavLst>
                                        <p:tav tm="0">
                                          <p:val>
                                            <p:strVal val="#ppt_x"/>
                                          </p:val>
                                        </p:tav>
                                        <p:tav tm="100000">
                                          <p:val>
                                            <p:strVal val="#ppt_x"/>
                                          </p:val>
                                        </p:tav>
                                      </p:tavLst>
                                    </p:anim>
                                    <p:anim calcmode="lin" valueType="num">
                                      <p:cBhvr additive="base">
                                        <p:cTn id="10" dur="550" fill="hold"/>
                                        <p:tgtEl>
                                          <p:spTgt spid="5"/>
                                        </p:tgtEl>
                                        <p:attrNameLst>
                                          <p:attrName>ppt_y</p:attrName>
                                        </p:attrNameLst>
                                      </p:cBhvr>
                                      <p:tavLst>
                                        <p:tav tm="0">
                                          <p:val>
                                            <p:strVal val="#ppt_y+.06"/>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50"/>
                                        <p:tgtEl>
                                          <p:spTgt spid="6"/>
                                        </p:tgtEl>
                                      </p:cBhvr>
                                    </p:animEffect>
                                    <p:anim calcmode="lin" valueType="num">
                                      <p:cBhvr additive="base">
                                        <p:cTn id="14" dur="550" fill="hold"/>
                                        <p:tgtEl>
                                          <p:spTgt spid="6"/>
                                        </p:tgtEl>
                                        <p:attrNameLst>
                                          <p:attrName>ppt_x</p:attrName>
                                        </p:attrNameLst>
                                      </p:cBhvr>
                                      <p:tavLst>
                                        <p:tav tm="0">
                                          <p:val>
                                            <p:strVal val="#ppt_x"/>
                                          </p:val>
                                        </p:tav>
                                        <p:tav tm="100000">
                                          <p:val>
                                            <p:strVal val="#ppt_x"/>
                                          </p:val>
                                        </p:tav>
                                      </p:tavLst>
                                    </p:anim>
                                    <p:anim calcmode="lin" valueType="num">
                                      <p:cBhvr additive="base">
                                        <p:cTn id="15" dur="550" fill="hold"/>
                                        <p:tgtEl>
                                          <p:spTgt spid="6"/>
                                        </p:tgtEl>
                                        <p:attrNameLst>
                                          <p:attrName>ppt_y</p:attrName>
                                        </p:attrNameLst>
                                      </p:cBhvr>
                                      <p:tavLst>
                                        <p:tav tm="0">
                                          <p:val>
                                            <p:strVal val="#ppt_y+.06"/>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50"/>
                                        <p:tgtEl>
                                          <p:spTgt spid="7"/>
                                        </p:tgtEl>
                                      </p:cBhvr>
                                    </p:animEffect>
                                    <p:anim calcmode="lin" valueType="num">
                                      <p:cBhvr additive="base">
                                        <p:cTn id="19" dur="550" fill="hold"/>
                                        <p:tgtEl>
                                          <p:spTgt spid="7"/>
                                        </p:tgtEl>
                                        <p:attrNameLst>
                                          <p:attrName>ppt_x</p:attrName>
                                        </p:attrNameLst>
                                      </p:cBhvr>
                                      <p:tavLst>
                                        <p:tav tm="0">
                                          <p:val>
                                            <p:strVal val="#ppt_x"/>
                                          </p:val>
                                        </p:tav>
                                        <p:tav tm="100000">
                                          <p:val>
                                            <p:strVal val="#ppt_x"/>
                                          </p:val>
                                        </p:tav>
                                      </p:tavLst>
                                    </p:anim>
                                    <p:anim calcmode="lin" valueType="num">
                                      <p:cBhvr additive="base">
                                        <p:cTn id="20" dur="550" fill="hold"/>
                                        <p:tgtEl>
                                          <p:spTgt spid="7"/>
                                        </p:tgtEl>
                                        <p:attrNameLst>
                                          <p:attrName>ppt_y</p:attrName>
                                        </p:attrNameLst>
                                      </p:cBhvr>
                                      <p:tavLst>
                                        <p:tav tm="0">
                                          <p:val>
                                            <p:strVal val="#ppt_y+.06"/>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50"/>
                                        <p:tgtEl>
                                          <p:spTgt spid="8"/>
                                        </p:tgtEl>
                                      </p:cBhvr>
                                    </p:animEffect>
                                    <p:anim calcmode="lin" valueType="num">
                                      <p:cBhvr additive="base">
                                        <p:cTn id="24" dur="550" fill="hold"/>
                                        <p:tgtEl>
                                          <p:spTgt spid="8"/>
                                        </p:tgtEl>
                                        <p:attrNameLst>
                                          <p:attrName>ppt_x</p:attrName>
                                        </p:attrNameLst>
                                      </p:cBhvr>
                                      <p:tavLst>
                                        <p:tav tm="0">
                                          <p:val>
                                            <p:strVal val="#ppt_x"/>
                                          </p:val>
                                        </p:tav>
                                        <p:tav tm="100000">
                                          <p:val>
                                            <p:strVal val="#ppt_x"/>
                                          </p:val>
                                        </p:tav>
                                      </p:tavLst>
                                    </p:anim>
                                    <p:anim calcmode="lin" valueType="num">
                                      <p:cBhvr additive="base">
                                        <p:cTn id="25" dur="550" fill="hold"/>
                                        <p:tgtEl>
                                          <p:spTgt spid="8"/>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50"/>
                                        <p:tgtEl>
                                          <p:spTgt spid="9"/>
                                        </p:tgtEl>
                                      </p:cBhvr>
                                    </p:animEffect>
                                    <p:anim calcmode="lin" valueType="num">
                                      <p:cBhvr additive="base">
                                        <p:cTn id="29" dur="550" fill="hold"/>
                                        <p:tgtEl>
                                          <p:spTgt spid="9"/>
                                        </p:tgtEl>
                                        <p:attrNameLst>
                                          <p:attrName>ppt_x</p:attrName>
                                        </p:attrNameLst>
                                      </p:cBhvr>
                                      <p:tavLst>
                                        <p:tav tm="0">
                                          <p:val>
                                            <p:strVal val="#ppt_x"/>
                                          </p:val>
                                        </p:tav>
                                        <p:tav tm="100000">
                                          <p:val>
                                            <p:strVal val="#ppt_x"/>
                                          </p:val>
                                        </p:tav>
                                      </p:tavLst>
                                    </p:anim>
                                    <p:anim calcmode="lin" valueType="num">
                                      <p:cBhvr additive="base">
                                        <p:cTn id="30" dur="550" fill="hold"/>
                                        <p:tgtEl>
                                          <p:spTgt spid="9"/>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50"/>
                                        <p:tgtEl>
                                          <p:spTgt spid="10"/>
                                        </p:tgtEl>
                                      </p:cBhvr>
                                    </p:animEffect>
                                    <p:anim calcmode="lin" valueType="num">
                                      <p:cBhvr additive="base">
                                        <p:cTn id="34" dur="550" fill="hold"/>
                                        <p:tgtEl>
                                          <p:spTgt spid="10"/>
                                        </p:tgtEl>
                                        <p:attrNameLst>
                                          <p:attrName>ppt_x</p:attrName>
                                        </p:attrNameLst>
                                      </p:cBhvr>
                                      <p:tavLst>
                                        <p:tav tm="0">
                                          <p:val>
                                            <p:strVal val="#ppt_x"/>
                                          </p:val>
                                        </p:tav>
                                        <p:tav tm="100000">
                                          <p:val>
                                            <p:strVal val="#ppt_x"/>
                                          </p:val>
                                        </p:tav>
                                      </p:tavLst>
                                    </p:anim>
                                    <p:anim calcmode="lin" valueType="num">
                                      <p:cBhvr additive="base">
                                        <p:cTn id="35" dur="550" fill="hold"/>
                                        <p:tgtEl>
                                          <p:spTgt spid="10"/>
                                        </p:tgtEl>
                                        <p:attrNameLst>
                                          <p:attrName>ppt_y</p:attrName>
                                        </p:attrNameLst>
                                      </p:cBhvr>
                                      <p:tavLst>
                                        <p:tav tm="0">
                                          <p:val>
                                            <p:strVal val="#ppt_y+.06"/>
                                          </p:val>
                                        </p:tav>
                                        <p:tav tm="100000">
                                          <p:val>
                                            <p:strVal val="#ppt_y"/>
                                          </p:val>
                                        </p:tav>
                                      </p:tavLst>
                                    </p:anim>
                                  </p:childTnLst>
                                </p:cTn>
                              </p:par>
                            </p:childTnLst>
                          </p:cTn>
                        </p:par>
                        <p:par>
                          <p:cTn id="128" fill="hold">
                            <p:stCondLst>
                              <p:cond delay="550"/>
                            </p:stCondLst>
                            <p:childTnLst>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anim calcmode="lin" valueType="num">
                                      <p:cBhvr additive="base">
                                        <p:cTn id="39" dur="550" fill="hold"/>
                                        <p:tgtEl>
                                          <p:spTgt spid="11"/>
                                        </p:tgtEl>
                                        <p:attrNameLst>
                                          <p:attrName>ppt_x</p:attrName>
                                        </p:attrNameLst>
                                      </p:cBhvr>
                                      <p:tavLst>
                                        <p:tav tm="0">
                                          <p:val>
                                            <p:strVal val="#ppt_x"/>
                                          </p:val>
                                        </p:tav>
                                        <p:tav tm="100000">
                                          <p:val>
                                            <p:strVal val="#ppt_x"/>
                                          </p:val>
                                        </p:tav>
                                      </p:tavLst>
                                    </p:anim>
                                    <p:anim calcmode="lin" valueType="num">
                                      <p:cBhvr additive="base">
                                        <p:cTn id="40" dur="550" fill="hold"/>
                                        <p:tgtEl>
                                          <p:spTgt spid="11"/>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50"/>
                                        <p:tgtEl>
                                          <p:spTgt spid="12"/>
                                        </p:tgtEl>
                                      </p:cBhvr>
                                    </p:animEffect>
                                    <p:anim calcmode="lin" valueType="num">
                                      <p:cBhvr additive="base">
                                        <p:cTn id="44" dur="550" fill="hold"/>
                                        <p:tgtEl>
                                          <p:spTgt spid="12"/>
                                        </p:tgtEl>
                                        <p:attrNameLst>
                                          <p:attrName>ppt_x</p:attrName>
                                        </p:attrNameLst>
                                      </p:cBhvr>
                                      <p:tavLst>
                                        <p:tav tm="0">
                                          <p:val>
                                            <p:strVal val="#ppt_x"/>
                                          </p:val>
                                        </p:tav>
                                        <p:tav tm="100000">
                                          <p:val>
                                            <p:strVal val="#ppt_x"/>
                                          </p:val>
                                        </p:tav>
                                      </p:tavLst>
                                    </p:anim>
                                    <p:anim calcmode="lin" valueType="num">
                                      <p:cBhvr additive="base">
                                        <p:cTn id="45" dur="550" fill="hold"/>
                                        <p:tgtEl>
                                          <p:spTgt spid="12"/>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50"/>
                                        <p:tgtEl>
                                          <p:spTgt spid="13"/>
                                        </p:tgtEl>
                                      </p:cBhvr>
                                    </p:animEffect>
                                    <p:anim calcmode="lin" valueType="num">
                                      <p:cBhvr additive="base">
                                        <p:cTn id="49" dur="550" fill="hold"/>
                                        <p:tgtEl>
                                          <p:spTgt spid="13"/>
                                        </p:tgtEl>
                                        <p:attrNameLst>
                                          <p:attrName>ppt_x</p:attrName>
                                        </p:attrNameLst>
                                      </p:cBhvr>
                                      <p:tavLst>
                                        <p:tav tm="0">
                                          <p:val>
                                            <p:strVal val="#ppt_x"/>
                                          </p:val>
                                        </p:tav>
                                        <p:tav tm="100000">
                                          <p:val>
                                            <p:strVal val="#ppt_x"/>
                                          </p:val>
                                        </p:tav>
                                      </p:tavLst>
                                    </p:anim>
                                    <p:anim calcmode="lin" valueType="num">
                                      <p:cBhvr additive="base">
                                        <p:cTn id="50" dur="550" fill="hold"/>
                                        <p:tgtEl>
                                          <p:spTgt spid="13"/>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50"/>
                                        <p:tgtEl>
                                          <p:spTgt spid="14"/>
                                        </p:tgtEl>
                                      </p:cBhvr>
                                    </p:animEffect>
                                    <p:anim calcmode="lin" valueType="num">
                                      <p:cBhvr additive="base">
                                        <p:cTn id="54" dur="550" fill="hold"/>
                                        <p:tgtEl>
                                          <p:spTgt spid="14"/>
                                        </p:tgtEl>
                                        <p:attrNameLst>
                                          <p:attrName>ppt_x</p:attrName>
                                        </p:attrNameLst>
                                      </p:cBhvr>
                                      <p:tavLst>
                                        <p:tav tm="0">
                                          <p:val>
                                            <p:strVal val="#ppt_x"/>
                                          </p:val>
                                        </p:tav>
                                        <p:tav tm="100000">
                                          <p:val>
                                            <p:strVal val="#ppt_x"/>
                                          </p:val>
                                        </p:tav>
                                      </p:tavLst>
                                    </p:anim>
                                    <p:anim calcmode="lin" valueType="num">
                                      <p:cBhvr additive="base">
                                        <p:cTn id="55" dur="550" fill="hold"/>
                                        <p:tgtEl>
                                          <p:spTgt spid="14"/>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50"/>
                                        <p:tgtEl>
                                          <p:spTgt spid="15"/>
                                        </p:tgtEl>
                                      </p:cBhvr>
                                    </p:animEffect>
                                    <p:anim calcmode="lin" valueType="num">
                                      <p:cBhvr additive="base">
                                        <p:cTn id="59" dur="550" fill="hold"/>
                                        <p:tgtEl>
                                          <p:spTgt spid="15"/>
                                        </p:tgtEl>
                                        <p:attrNameLst>
                                          <p:attrName>ppt_x</p:attrName>
                                        </p:attrNameLst>
                                      </p:cBhvr>
                                      <p:tavLst>
                                        <p:tav tm="0">
                                          <p:val>
                                            <p:strVal val="#ppt_x"/>
                                          </p:val>
                                        </p:tav>
                                        <p:tav tm="100000">
                                          <p:val>
                                            <p:strVal val="#ppt_x"/>
                                          </p:val>
                                        </p:tav>
                                      </p:tavLst>
                                    </p:anim>
                                    <p:anim calcmode="lin" valueType="num">
                                      <p:cBhvr additive="base">
                                        <p:cTn id="60" dur="550" fill="hold"/>
                                        <p:tgtEl>
                                          <p:spTgt spid="15"/>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50"/>
                                        <p:tgtEl>
                                          <p:spTgt spid="16"/>
                                        </p:tgtEl>
                                      </p:cBhvr>
                                    </p:animEffect>
                                    <p:anim calcmode="lin" valueType="num">
                                      <p:cBhvr additive="base">
                                        <p:cTn id="64" dur="550" fill="hold"/>
                                        <p:tgtEl>
                                          <p:spTgt spid="16"/>
                                        </p:tgtEl>
                                        <p:attrNameLst>
                                          <p:attrName>ppt_x</p:attrName>
                                        </p:attrNameLst>
                                      </p:cBhvr>
                                      <p:tavLst>
                                        <p:tav tm="0">
                                          <p:val>
                                            <p:strVal val="#ppt_x"/>
                                          </p:val>
                                        </p:tav>
                                        <p:tav tm="100000">
                                          <p:val>
                                            <p:strVal val="#ppt_x"/>
                                          </p:val>
                                        </p:tav>
                                      </p:tavLst>
                                    </p:anim>
                                    <p:anim calcmode="lin" valueType="num">
                                      <p:cBhvr additive="base">
                                        <p:cTn id="65" dur="550" fill="hold"/>
                                        <p:tgtEl>
                                          <p:spTgt spid="16"/>
                                        </p:tgtEl>
                                        <p:attrNameLst>
                                          <p:attrName>ppt_y</p:attrName>
                                        </p:attrNameLst>
                                      </p:cBhvr>
                                      <p:tavLst>
                                        <p:tav tm="0">
                                          <p:val>
                                            <p:strVal val="#ppt_y+.06"/>
                                          </p:val>
                                        </p:tav>
                                        <p:tav tm="100000">
                                          <p:val>
                                            <p:strVal val="#ppt_y"/>
                                          </p:val>
                                        </p:tav>
                                      </p:tavLst>
                                    </p:anim>
                                  </p:childTnLst>
                                </p:cTn>
                              </p:par>
                            </p:childTnLst>
                          </p:cTn>
                        </p:par>
                        <p:par>
                          <p:cTn id="129" fill="hold">
                            <p:stCondLst>
                              <p:cond delay="852"/>
                            </p:stCondLst>
                            <p:childTnLst>
                              <p:par>
                                <p:cTn id="66" presetID="42" presetClass="entr" presetSubtype="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50"/>
                                        <p:tgtEl>
                                          <p:spTgt spid="17"/>
                                        </p:tgtEl>
                                      </p:cBhvr>
                                    </p:animEffect>
                                    <p:anim calcmode="lin" valueType="num">
                                      <p:cBhvr additive="base">
                                        <p:cTn id="69" dur="550" fill="hold"/>
                                        <p:tgtEl>
                                          <p:spTgt spid="17"/>
                                        </p:tgtEl>
                                        <p:attrNameLst>
                                          <p:attrName>ppt_x</p:attrName>
                                        </p:attrNameLst>
                                      </p:cBhvr>
                                      <p:tavLst>
                                        <p:tav tm="0">
                                          <p:val>
                                            <p:strVal val="#ppt_x"/>
                                          </p:val>
                                        </p:tav>
                                        <p:tav tm="100000">
                                          <p:val>
                                            <p:strVal val="#ppt_x"/>
                                          </p:val>
                                        </p:tav>
                                      </p:tavLst>
                                    </p:anim>
                                    <p:anim calcmode="lin" valueType="num">
                                      <p:cBhvr additive="base">
                                        <p:cTn id="70" dur="550" fill="hold"/>
                                        <p:tgtEl>
                                          <p:spTgt spid="17"/>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50"/>
                                        <p:tgtEl>
                                          <p:spTgt spid="18"/>
                                        </p:tgtEl>
                                      </p:cBhvr>
                                    </p:animEffect>
                                    <p:anim calcmode="lin" valueType="num">
                                      <p:cBhvr additive="base">
                                        <p:cTn id="74" dur="550" fill="hold"/>
                                        <p:tgtEl>
                                          <p:spTgt spid="18"/>
                                        </p:tgtEl>
                                        <p:attrNameLst>
                                          <p:attrName>ppt_x</p:attrName>
                                        </p:attrNameLst>
                                      </p:cBhvr>
                                      <p:tavLst>
                                        <p:tav tm="0">
                                          <p:val>
                                            <p:strVal val="#ppt_x"/>
                                          </p:val>
                                        </p:tav>
                                        <p:tav tm="100000">
                                          <p:val>
                                            <p:strVal val="#ppt_x"/>
                                          </p:val>
                                        </p:tav>
                                      </p:tavLst>
                                    </p:anim>
                                    <p:anim calcmode="lin" valueType="num">
                                      <p:cBhvr additive="base">
                                        <p:cTn id="75" dur="550" fill="hold"/>
                                        <p:tgtEl>
                                          <p:spTgt spid="18"/>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50"/>
                                        <p:tgtEl>
                                          <p:spTgt spid="19"/>
                                        </p:tgtEl>
                                      </p:cBhvr>
                                    </p:animEffect>
                                    <p:anim calcmode="lin" valueType="num">
                                      <p:cBhvr additive="base">
                                        <p:cTn id="79" dur="550" fill="hold"/>
                                        <p:tgtEl>
                                          <p:spTgt spid="19"/>
                                        </p:tgtEl>
                                        <p:attrNameLst>
                                          <p:attrName>ppt_x</p:attrName>
                                        </p:attrNameLst>
                                      </p:cBhvr>
                                      <p:tavLst>
                                        <p:tav tm="0">
                                          <p:val>
                                            <p:strVal val="#ppt_x"/>
                                          </p:val>
                                        </p:tav>
                                        <p:tav tm="100000">
                                          <p:val>
                                            <p:strVal val="#ppt_x"/>
                                          </p:val>
                                        </p:tav>
                                      </p:tavLst>
                                    </p:anim>
                                    <p:anim calcmode="lin" valueType="num">
                                      <p:cBhvr additive="base">
                                        <p:cTn id="80" dur="550" fill="hold"/>
                                        <p:tgtEl>
                                          <p:spTgt spid="19"/>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50"/>
                                        <p:tgtEl>
                                          <p:spTgt spid="20"/>
                                        </p:tgtEl>
                                      </p:cBhvr>
                                    </p:animEffect>
                                    <p:anim calcmode="lin" valueType="num">
                                      <p:cBhvr additive="base">
                                        <p:cTn id="84" dur="550" fill="hold"/>
                                        <p:tgtEl>
                                          <p:spTgt spid="20"/>
                                        </p:tgtEl>
                                        <p:attrNameLst>
                                          <p:attrName>ppt_x</p:attrName>
                                        </p:attrNameLst>
                                      </p:cBhvr>
                                      <p:tavLst>
                                        <p:tav tm="0">
                                          <p:val>
                                            <p:strVal val="#ppt_x"/>
                                          </p:val>
                                        </p:tav>
                                        <p:tav tm="100000">
                                          <p:val>
                                            <p:strVal val="#ppt_x"/>
                                          </p:val>
                                        </p:tav>
                                      </p:tavLst>
                                    </p:anim>
                                    <p:anim calcmode="lin" valueType="num">
                                      <p:cBhvr additive="base">
                                        <p:cTn id="85" dur="550" fill="hold"/>
                                        <p:tgtEl>
                                          <p:spTgt spid="20"/>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50"/>
                                        <p:tgtEl>
                                          <p:spTgt spid="21"/>
                                        </p:tgtEl>
                                      </p:cBhvr>
                                    </p:animEffect>
                                    <p:anim calcmode="lin" valueType="num">
                                      <p:cBhvr additive="base">
                                        <p:cTn id="89" dur="550" fill="hold"/>
                                        <p:tgtEl>
                                          <p:spTgt spid="21"/>
                                        </p:tgtEl>
                                        <p:attrNameLst>
                                          <p:attrName>ppt_x</p:attrName>
                                        </p:attrNameLst>
                                      </p:cBhvr>
                                      <p:tavLst>
                                        <p:tav tm="0">
                                          <p:val>
                                            <p:strVal val="#ppt_x"/>
                                          </p:val>
                                        </p:tav>
                                        <p:tav tm="100000">
                                          <p:val>
                                            <p:strVal val="#ppt_x"/>
                                          </p:val>
                                        </p:tav>
                                      </p:tavLst>
                                    </p:anim>
                                    <p:anim calcmode="lin" valueType="num">
                                      <p:cBhvr additive="base">
                                        <p:cTn id="90" dur="550" fill="hold"/>
                                        <p:tgtEl>
                                          <p:spTgt spid="21"/>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50"/>
                                        <p:tgtEl>
                                          <p:spTgt spid="22"/>
                                        </p:tgtEl>
                                      </p:cBhvr>
                                    </p:animEffect>
                                    <p:anim calcmode="lin" valueType="num">
                                      <p:cBhvr additive="base">
                                        <p:cTn id="94" dur="550" fill="hold"/>
                                        <p:tgtEl>
                                          <p:spTgt spid="22"/>
                                        </p:tgtEl>
                                        <p:attrNameLst>
                                          <p:attrName>ppt_x</p:attrName>
                                        </p:attrNameLst>
                                      </p:cBhvr>
                                      <p:tavLst>
                                        <p:tav tm="0">
                                          <p:val>
                                            <p:strVal val="#ppt_x"/>
                                          </p:val>
                                        </p:tav>
                                        <p:tav tm="100000">
                                          <p:val>
                                            <p:strVal val="#ppt_x"/>
                                          </p:val>
                                        </p:tav>
                                      </p:tavLst>
                                    </p:anim>
                                    <p:anim calcmode="lin" valueType="num">
                                      <p:cBhvr additive="base">
                                        <p:cTn id="95" dur="550" fill="hold"/>
                                        <p:tgtEl>
                                          <p:spTgt spid="22"/>
                                        </p:tgtEl>
                                        <p:attrNameLst>
                                          <p:attrName>ppt_y</p:attrName>
                                        </p:attrNameLst>
                                      </p:cBhvr>
                                      <p:tavLst>
                                        <p:tav tm="0">
                                          <p:val>
                                            <p:strVal val="#ppt_y+.06"/>
                                          </p:val>
                                        </p:tav>
                                        <p:tav tm="100000">
                                          <p:val>
                                            <p:strVal val="#ppt_y"/>
                                          </p:val>
                                        </p:tav>
                                      </p:tavLst>
                                    </p:anim>
                                  </p:childTnLst>
                                </p:cTn>
                              </p:par>
                            </p:childTnLst>
                          </p:cTn>
                        </p:par>
                        <p:par>
                          <p:cTn id="130" fill="hold">
                            <p:stCondLst>
                              <p:cond delay="1155"/>
                            </p:stCondLst>
                            <p:childTnLst>
                              <p:par>
                                <p:cTn id="96" presetID="42" presetClass="entr" presetSubtype="0" fill="hold" grpId="0" nodeType="with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550"/>
                                        <p:tgtEl>
                                          <p:spTgt spid="23"/>
                                        </p:tgtEl>
                                      </p:cBhvr>
                                    </p:animEffect>
                                    <p:anim calcmode="lin" valueType="num">
                                      <p:cBhvr additive="base">
                                        <p:cTn id="99" dur="550" fill="hold"/>
                                        <p:tgtEl>
                                          <p:spTgt spid="23"/>
                                        </p:tgtEl>
                                        <p:attrNameLst>
                                          <p:attrName>ppt_x</p:attrName>
                                        </p:attrNameLst>
                                      </p:cBhvr>
                                      <p:tavLst>
                                        <p:tav tm="0">
                                          <p:val>
                                            <p:strVal val="#ppt_x"/>
                                          </p:val>
                                        </p:tav>
                                        <p:tav tm="100000">
                                          <p:val>
                                            <p:strVal val="#ppt_x"/>
                                          </p:val>
                                        </p:tav>
                                      </p:tavLst>
                                    </p:anim>
                                    <p:anim calcmode="lin" valueType="num">
                                      <p:cBhvr additive="base">
                                        <p:cTn id="100" dur="550" fill="hold"/>
                                        <p:tgtEl>
                                          <p:spTgt spid="23"/>
                                        </p:tgtEl>
                                        <p:attrNameLst>
                                          <p:attrName>ppt_y</p:attrName>
                                        </p:attrNameLst>
                                      </p:cBhvr>
                                      <p:tavLst>
                                        <p:tav tm="0">
                                          <p:val>
                                            <p:strVal val="#ppt_y+.06"/>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550"/>
                                        <p:tgtEl>
                                          <p:spTgt spid="24"/>
                                        </p:tgtEl>
                                      </p:cBhvr>
                                    </p:animEffect>
                                    <p:anim calcmode="lin" valueType="num">
                                      <p:cBhvr additive="base">
                                        <p:cTn id="104" dur="550" fill="hold"/>
                                        <p:tgtEl>
                                          <p:spTgt spid="24"/>
                                        </p:tgtEl>
                                        <p:attrNameLst>
                                          <p:attrName>ppt_x</p:attrName>
                                        </p:attrNameLst>
                                      </p:cBhvr>
                                      <p:tavLst>
                                        <p:tav tm="0">
                                          <p:val>
                                            <p:strVal val="#ppt_x"/>
                                          </p:val>
                                        </p:tav>
                                        <p:tav tm="100000">
                                          <p:val>
                                            <p:strVal val="#ppt_x"/>
                                          </p:val>
                                        </p:tav>
                                      </p:tavLst>
                                    </p:anim>
                                    <p:anim calcmode="lin" valueType="num">
                                      <p:cBhvr additive="base">
                                        <p:cTn id="105" dur="550" fill="hold"/>
                                        <p:tgtEl>
                                          <p:spTgt spid="24"/>
                                        </p:tgtEl>
                                        <p:attrNameLst>
                                          <p:attrName>ppt_y</p:attrName>
                                        </p:attrNameLst>
                                      </p:cBhvr>
                                      <p:tavLst>
                                        <p:tav tm="0">
                                          <p:val>
                                            <p:strVal val="#ppt_y+.06"/>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550"/>
                                        <p:tgtEl>
                                          <p:spTgt spid="25"/>
                                        </p:tgtEl>
                                      </p:cBhvr>
                                    </p:animEffect>
                                    <p:anim calcmode="lin" valueType="num">
                                      <p:cBhvr additive="base">
                                        <p:cTn id="109" dur="550" fill="hold"/>
                                        <p:tgtEl>
                                          <p:spTgt spid="25"/>
                                        </p:tgtEl>
                                        <p:attrNameLst>
                                          <p:attrName>ppt_x</p:attrName>
                                        </p:attrNameLst>
                                      </p:cBhvr>
                                      <p:tavLst>
                                        <p:tav tm="0">
                                          <p:val>
                                            <p:strVal val="#ppt_x"/>
                                          </p:val>
                                        </p:tav>
                                        <p:tav tm="100000">
                                          <p:val>
                                            <p:strVal val="#ppt_x"/>
                                          </p:val>
                                        </p:tav>
                                      </p:tavLst>
                                    </p:anim>
                                    <p:anim calcmode="lin" valueType="num">
                                      <p:cBhvr additive="base">
                                        <p:cTn id="110" dur="550" fill="hold"/>
                                        <p:tgtEl>
                                          <p:spTgt spid="25"/>
                                        </p:tgtEl>
                                        <p:attrNameLst>
                                          <p:attrName>ppt_y</p:attrName>
                                        </p:attrNameLst>
                                      </p:cBhvr>
                                      <p:tavLst>
                                        <p:tav tm="0">
                                          <p:val>
                                            <p:strVal val="#ppt_y+.06"/>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26"/>
                                        </p:tgtEl>
                                        <p:attrNameLst>
                                          <p:attrName>style.visibility</p:attrName>
                                        </p:attrNameLst>
                                      </p:cBhvr>
                                      <p:to>
                                        <p:strVal val="visible"/>
                                      </p:to>
                                    </p:set>
                                    <p:animEffect transition="in" filter="fade">
                                      <p:cBhvr>
                                        <p:cTn id="113" dur="550"/>
                                        <p:tgtEl>
                                          <p:spTgt spid="26"/>
                                        </p:tgtEl>
                                      </p:cBhvr>
                                    </p:animEffect>
                                    <p:anim calcmode="lin" valueType="num">
                                      <p:cBhvr additive="base">
                                        <p:cTn id="114" dur="550" fill="hold"/>
                                        <p:tgtEl>
                                          <p:spTgt spid="26"/>
                                        </p:tgtEl>
                                        <p:attrNameLst>
                                          <p:attrName>ppt_x</p:attrName>
                                        </p:attrNameLst>
                                      </p:cBhvr>
                                      <p:tavLst>
                                        <p:tav tm="0">
                                          <p:val>
                                            <p:strVal val="#ppt_x"/>
                                          </p:val>
                                        </p:tav>
                                        <p:tav tm="100000">
                                          <p:val>
                                            <p:strVal val="#ppt_x"/>
                                          </p:val>
                                        </p:tav>
                                      </p:tavLst>
                                    </p:anim>
                                    <p:anim calcmode="lin" valueType="num">
                                      <p:cBhvr additive="base">
                                        <p:cTn id="115" dur="550" fill="hold"/>
                                        <p:tgtEl>
                                          <p:spTgt spid="26"/>
                                        </p:tgtEl>
                                        <p:attrNameLst>
                                          <p:attrName>ppt_y</p:attrName>
                                        </p:attrNameLst>
                                      </p:cBhvr>
                                      <p:tavLst>
                                        <p:tav tm="0">
                                          <p:val>
                                            <p:strVal val="#ppt_y+.06"/>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ppt_x</p:attrName>
                                        </p:attrNameLst>
                                      </p:cBhvr>
                                      <p:tavLst>
                                        <p:tav tm="0">
                                          <p:val>
                                            <p:strVal val="#ppt_x"/>
                                          </p:val>
                                        </p:tav>
                                        <p:tav tm="100000">
                                          <p:val>
                                            <p:strVal val="#ppt_x"/>
                                          </p:val>
                                        </p:tav>
                                      </p:tavLst>
                                    </p:anim>
                                    <p:anim calcmode="lin" valueType="num">
                                      <p:cBhvr additive="base">
                                        <p:cTn id="120" dur="550" fill="hold"/>
                                        <p:tgtEl>
                                          <p:spTgt spid="27"/>
                                        </p:tgtEl>
                                        <p:attrNameLst>
                                          <p:attrName>ppt_y</p:attrName>
                                        </p:attrNameLst>
                                      </p:cBhvr>
                                      <p:tavLst>
                                        <p:tav tm="0">
                                          <p:val>
                                            <p:strVal val="#ppt_y+.06"/>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fade">
                                      <p:cBhvr>
                                        <p:cTn id="123" dur="550"/>
                                        <p:tgtEl>
                                          <p:spTgt spid="28"/>
                                        </p:tgtEl>
                                      </p:cBhvr>
                                    </p:animEffect>
                                    <p:anim calcmode="lin" valueType="num">
                                      <p:cBhvr additive="base">
                                        <p:cTn id="124" dur="550" fill="hold"/>
                                        <p:tgtEl>
                                          <p:spTgt spid="28"/>
                                        </p:tgtEl>
                                        <p:attrNameLst>
                                          <p:attrName>ppt_x</p:attrName>
                                        </p:attrNameLst>
                                      </p:cBhvr>
                                      <p:tavLst>
                                        <p:tav tm="0">
                                          <p:val>
                                            <p:strVal val="#ppt_x"/>
                                          </p:val>
                                        </p:tav>
                                        <p:tav tm="100000">
                                          <p:val>
                                            <p:strVal val="#ppt_x"/>
                                          </p:val>
                                        </p:tav>
                                      </p:tavLst>
                                    </p:anim>
                                    <p:anim calcmode="lin" valueType="num">
                                      <p:cBhvr additive="base">
                                        <p:cTn id="125" dur="550" fill="hold"/>
                                        <p:tgtEl>
                                          <p:spTgt spid="2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WHY THIS IS AN ETHICS PROBLEM</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A system can be bug-free and still unfair</a:t>
            </a:r>
            <a:endParaRPr lang="en-US" sz="3400" dirty="0"/>
          </a:p>
        </p:txBody>
      </p:sp>
      <p:sp>
        <p:nvSpPr>
          <p:cNvPr id="4" name="a01_rise_fail0"/>
          <p:cNvSpPr/>
          <p:nvPr/>
        </p:nvSpPr>
        <p:spPr>
          <a:xfrm>
            <a:off x="548640" y="1645920"/>
            <a:ext cx="4206240" cy="1280160"/>
          </a:xfrm>
          <a:prstGeom prst="roundRect">
            <a:avLst>
              <a:gd name="adj" fmla="val 8571"/>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5" name="a01_rise_failT0"/>
          <p:cNvSpPr txBox="1"/>
          <p:nvPr/>
        </p:nvSpPr>
        <p:spPr>
          <a:xfrm>
            <a:off x="822960" y="1801368"/>
            <a:ext cx="3749040" cy="1005840"/>
          </a:xfrm>
          <a:prstGeom prst="rect">
            <a:avLst/>
          </a:prstGeom>
          <a:noFill/>
          <a:ln/>
        </p:spPr>
        <p:txBody>
          <a:bodyPr wrap="square" lIns="0" tIns="0" rIns="0" bIns="0" rtlCol="0" anchor="t"/>
          <a:lstStyle/>
          <a:p>
            <a:pPr indent="0" marL="0">
              <a:buNone/>
            </a:pPr>
            <a:r>
              <a:rPr lang="en-US" sz="1700" b="1" dirty="0">
                <a:solidFill>
                  <a:schemeClr val="accent1"/>
                </a:solidFill>
              </a:rPr>
              <a:t>Technical failure</a:t>
            </a:r>
            <a:endParaRPr lang="en-US" sz="1700" dirty="0"/>
          </a:p>
          <a:p>
            <a:pPr indent="0" marL="0">
              <a:buNone/>
            </a:pPr>
            <a:r>
              <a:rPr lang="en-US" sz="1400" dirty="0">
                <a:solidFill>
                  <a:schemeClr val="tx1"/>
                </a:solidFill>
              </a:rPr>
              <a:t>A bug, a sensor fault, a wrong parameter. Fixed by debugging.</a:t>
            </a:r>
            <a:endParaRPr lang="en-US" sz="1700" dirty="0"/>
          </a:p>
        </p:txBody>
      </p:sp>
      <p:sp>
        <p:nvSpPr>
          <p:cNvPr id="6" name="a02_rise_fail1"/>
          <p:cNvSpPr/>
          <p:nvPr/>
        </p:nvSpPr>
        <p:spPr>
          <a:xfrm>
            <a:off x="548640" y="3108960"/>
            <a:ext cx="4206240" cy="1280160"/>
          </a:xfrm>
          <a:prstGeom prst="roundRect">
            <a:avLst>
              <a:gd name="adj" fmla="val 8571"/>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7" name="a02_rise_failT1"/>
          <p:cNvSpPr txBox="1"/>
          <p:nvPr/>
        </p:nvSpPr>
        <p:spPr>
          <a:xfrm>
            <a:off x="822960" y="3264408"/>
            <a:ext cx="3749040" cy="1005840"/>
          </a:xfrm>
          <a:prstGeom prst="rect">
            <a:avLst/>
          </a:prstGeom>
          <a:noFill/>
          <a:ln/>
        </p:spPr>
        <p:txBody>
          <a:bodyPr wrap="square" lIns="0" tIns="0" rIns="0" bIns="0" rtlCol="0" anchor="t"/>
          <a:lstStyle/>
          <a:p>
            <a:pPr indent="0" marL="0">
              <a:buNone/>
            </a:pPr>
            <a:r>
              <a:rPr lang="en-US" sz="1700" b="1" dirty="0">
                <a:solidFill>
                  <a:schemeClr val="accent3"/>
                </a:solidFill>
              </a:rPr>
              <a:t>Ethical failure</a:t>
            </a:r>
            <a:endParaRPr lang="en-US" sz="1700" dirty="0"/>
          </a:p>
          <a:p>
            <a:pPr indent="0" marL="0">
              <a:buNone/>
            </a:pPr>
            <a:r>
              <a:rPr lang="en-US" sz="1400" dirty="0">
                <a:solidFill>
                  <a:schemeClr val="tx1"/>
                </a:solidFill>
              </a:rPr>
              <a:t>Discrimination, unfair risk exposure, no accountability. It can happen with no bug at all.</a:t>
            </a:r>
            <a:endParaRPr lang="en-US" sz="1700" dirty="0"/>
          </a:p>
        </p:txBody>
      </p:sp>
      <p:sp>
        <p:nvSpPr>
          <p:cNvPr id="8" name="a03_rise_comp"/>
          <p:cNvSpPr/>
          <p:nvPr/>
        </p:nvSpPr>
        <p:spPr>
          <a:xfrm>
            <a:off x="548640" y="4572000"/>
            <a:ext cx="4206240" cy="1417320"/>
          </a:xfrm>
          <a:prstGeom prst="roundRect">
            <a:avLst>
              <a:gd name="adj" fmla="val 7742"/>
            </a:avLst>
          </a:prstGeom>
          <a:solidFill>
            <a:schemeClr val="accent1"/>
          </a:solidFill>
          <a:ln/>
          <a:effectLst>
            <a:outerShdw sx="100000" sy="100000" kx="0" ky="0" algn="bl" rotWithShape="0" blurRad="127000" dist="38100" dir="5400000">
              <a:srgbClr val="0B3C5D">
                <a:alpha val="14000"/>
              </a:srgbClr>
            </a:outerShdw>
          </a:effectLst>
        </p:spPr>
      </p:sp>
      <p:sp>
        <p:nvSpPr>
          <p:cNvPr id="9" name="a03_rise_compT"/>
          <p:cNvSpPr txBox="1"/>
          <p:nvPr/>
        </p:nvSpPr>
        <p:spPr>
          <a:xfrm>
            <a:off x="822960" y="4709160"/>
            <a:ext cx="3749040" cy="1143000"/>
          </a:xfrm>
          <a:prstGeom prst="rect">
            <a:avLst/>
          </a:prstGeom>
          <a:noFill/>
          <a:ln/>
        </p:spPr>
        <p:txBody>
          <a:bodyPr wrap="square" lIns="0" tIns="0" rIns="0" bIns="0" rtlCol="0" anchor="ctr"/>
          <a:lstStyle/>
          <a:p>
            <a:pPr indent="0" marL="0">
              <a:buNone/>
            </a:pPr>
            <a:r>
              <a:rPr lang="en-US" sz="1500" b="1" dirty="0">
                <a:solidFill>
                  <a:schemeClr val="accent6"/>
                </a:solidFill>
              </a:rPr>
              <a:t>Compliance asks: </a:t>
            </a:r>
            <a:pPr indent="0" marL="0">
              <a:buNone/>
            </a:pPr>
            <a:r>
              <a:rPr lang="en-US" sz="1500" dirty="0">
                <a:solidFill>
                  <a:schemeClr val="bg1"/>
                </a:solidFill>
              </a:rPr>
              <a:t>are we following the rules?</a:t>
            </a:r>
            <a:endParaRPr lang="en-US" sz="1500" dirty="0"/>
          </a:p>
          <a:p>
            <a:pPr indent="0" marL="0">
              <a:buNone/>
            </a:pPr>
            <a:r>
              <a:rPr lang="en-US" sz="1500" b="1" dirty="0">
                <a:solidFill>
                  <a:schemeClr val="accent6"/>
                </a:solidFill>
              </a:rPr>
              <a:t>Ethics asks: </a:t>
            </a:r>
            <a:pPr indent="0" marL="0">
              <a:buNone/>
            </a:pPr>
            <a:r>
              <a:rPr lang="en-US" sz="1500" dirty="0">
                <a:solidFill>
                  <a:schemeClr val="bg1"/>
                </a:solidFill>
              </a:rPr>
              <a:t>should we, even if it is allowed?</a:t>
            </a:r>
            <a:endParaRPr lang="en-US" sz="1500" dirty="0"/>
          </a:p>
        </p:txBody>
      </p:sp>
      <p:sp>
        <p:nvSpPr>
          <p:cNvPr id="10" name="a04_rise_p0"/>
          <p:cNvSpPr/>
          <p:nvPr/>
        </p:nvSpPr>
        <p:spPr>
          <a:xfrm>
            <a:off x="5029200" y="1645920"/>
            <a:ext cx="3154680" cy="2057400"/>
          </a:xfrm>
          <a:prstGeom prst="roundRect">
            <a:avLst>
              <a:gd name="adj" fmla="val 5333"/>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1" name="a04_rise_pIcon0_c"/>
          <p:cNvSpPr/>
          <p:nvPr/>
        </p:nvSpPr>
        <p:spPr>
          <a:xfrm>
            <a:off x="5303520" y="1920240"/>
            <a:ext cx="548640" cy="548640"/>
          </a:xfrm>
          <a:prstGeom prst="ellipse">
            <a:avLst/>
          </a:prstGeom>
          <a:solidFill>
            <a:schemeClr val="accent1"/>
          </a:solidFill>
          <a:ln/>
        </p:spPr>
      </p:sp>
      <p:pic>
        <p:nvPicPr>
          <p:cNvPr id="12" name="a04_rise_pIcon0_i" descr="preencoded.png">    </p:cNvPr>
          <p:cNvPicPr>
            <a:picLocks noChangeAspect="1"/>
          </p:cNvPicPr>
          <p:nvPr/>
        </p:nvPicPr>
        <p:blipFill>
          <a:blip r:embed="rId1"/>
          <a:stretch>
            <a:fillRect/>
          </a:stretch>
        </p:blipFill>
        <p:spPr>
          <a:xfrm>
            <a:off x="5435194" y="2051914"/>
            <a:ext cx="285293" cy="285293"/>
          </a:xfrm>
          <a:prstGeom prst="rect">
            <a:avLst/>
          </a:prstGeom>
        </p:spPr>
      </p:pic>
      <p:sp>
        <p:nvSpPr>
          <p:cNvPr id="13" name="a04_rise_pName0"/>
          <p:cNvSpPr txBox="1"/>
          <p:nvPr/>
        </p:nvSpPr>
        <p:spPr>
          <a:xfrm>
            <a:off x="5989320" y="1993392"/>
            <a:ext cx="2011680" cy="411480"/>
          </a:xfrm>
          <a:prstGeom prst="rect">
            <a:avLst/>
          </a:prstGeom>
          <a:noFill/>
          <a:ln/>
        </p:spPr>
        <p:txBody>
          <a:bodyPr wrap="square" lIns="0" tIns="0" rIns="0" bIns="0" rtlCol="0" anchor="ctr"/>
          <a:lstStyle/>
          <a:p>
            <a:pPr indent="0" marL="0">
              <a:buNone/>
            </a:pPr>
            <a:r>
              <a:rPr lang="en-US" sz="1800" b="1" dirty="0">
                <a:solidFill>
                  <a:schemeClr val="accent1"/>
                </a:solidFill>
              </a:rPr>
              <a:t>Fairness</a:t>
            </a:r>
            <a:endParaRPr lang="en-US" sz="1800" dirty="0"/>
          </a:p>
        </p:txBody>
      </p:sp>
      <p:sp>
        <p:nvSpPr>
          <p:cNvPr id="14" name="a04_rise_pBody0"/>
          <p:cNvSpPr txBox="1"/>
          <p:nvPr/>
        </p:nvSpPr>
        <p:spPr>
          <a:xfrm>
            <a:off x="5303520" y="2606040"/>
            <a:ext cx="2651760" cy="1005840"/>
          </a:xfrm>
          <a:prstGeom prst="rect">
            <a:avLst/>
          </a:prstGeom>
          <a:noFill/>
          <a:ln/>
        </p:spPr>
        <p:txBody>
          <a:bodyPr wrap="square" lIns="0" tIns="0" rIns="0" bIns="0" rtlCol="0" anchor="t"/>
          <a:lstStyle/>
          <a:p>
            <a:pPr indent="0" marL="0">
              <a:buNone/>
            </a:pPr>
            <a:r>
              <a:rPr lang="en-US" sz="1400" dirty="0">
                <a:solidFill>
                  <a:schemeClr val="tx1"/>
                </a:solidFill>
              </a:rPr>
              <a:t>Works on average (3.3% of visits denied) but not for everyone: 21.7% for people aged 75+.</a:t>
            </a:r>
            <a:endParaRPr lang="en-US" sz="1400" dirty="0"/>
          </a:p>
        </p:txBody>
      </p:sp>
      <p:sp>
        <p:nvSpPr>
          <p:cNvPr id="15" name="a05_rise_p1"/>
          <p:cNvSpPr/>
          <p:nvPr/>
        </p:nvSpPr>
        <p:spPr>
          <a:xfrm>
            <a:off x="8366760" y="1645920"/>
            <a:ext cx="3154680" cy="2057400"/>
          </a:xfrm>
          <a:prstGeom prst="roundRect">
            <a:avLst>
              <a:gd name="adj" fmla="val 5333"/>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6" name="a05_rise_pIcon1_c"/>
          <p:cNvSpPr/>
          <p:nvPr/>
        </p:nvSpPr>
        <p:spPr>
          <a:xfrm>
            <a:off x="8641080" y="1920240"/>
            <a:ext cx="548640" cy="548640"/>
          </a:xfrm>
          <a:prstGeom prst="ellipse">
            <a:avLst/>
          </a:prstGeom>
          <a:solidFill>
            <a:schemeClr val="accent1"/>
          </a:solidFill>
          <a:ln/>
        </p:spPr>
      </p:sp>
      <p:pic>
        <p:nvPicPr>
          <p:cNvPr id="17" name="a05_rise_pIcon1_i" descr="preencoded.png">    </p:cNvPr>
          <p:cNvPicPr>
            <a:picLocks noChangeAspect="1"/>
          </p:cNvPicPr>
          <p:nvPr/>
        </p:nvPicPr>
        <p:blipFill>
          <a:blip r:embed="rId2"/>
          <a:stretch>
            <a:fillRect/>
          </a:stretch>
        </p:blipFill>
        <p:spPr>
          <a:xfrm>
            <a:off x="8772754" y="2051914"/>
            <a:ext cx="285293" cy="285293"/>
          </a:xfrm>
          <a:prstGeom prst="rect">
            <a:avLst/>
          </a:prstGeom>
        </p:spPr>
      </p:pic>
      <p:sp>
        <p:nvSpPr>
          <p:cNvPr id="18" name="a05_rise_pName1"/>
          <p:cNvSpPr txBox="1"/>
          <p:nvPr/>
        </p:nvSpPr>
        <p:spPr>
          <a:xfrm>
            <a:off x="9326880" y="1993392"/>
            <a:ext cx="2011680" cy="411480"/>
          </a:xfrm>
          <a:prstGeom prst="rect">
            <a:avLst/>
          </a:prstGeom>
          <a:noFill/>
          <a:ln/>
        </p:spPr>
        <p:txBody>
          <a:bodyPr wrap="square" lIns="0" tIns="0" rIns="0" bIns="0" rtlCol="0" anchor="ctr"/>
          <a:lstStyle/>
          <a:p>
            <a:pPr indent="0" marL="0">
              <a:buNone/>
            </a:pPr>
            <a:r>
              <a:rPr lang="en-US" sz="1800" b="1" dirty="0">
                <a:solidFill>
                  <a:schemeClr val="accent1"/>
                </a:solidFill>
              </a:rPr>
              <a:t>Accountability</a:t>
            </a:r>
            <a:endParaRPr lang="en-US" sz="1800" dirty="0"/>
          </a:p>
        </p:txBody>
      </p:sp>
      <p:sp>
        <p:nvSpPr>
          <p:cNvPr id="19" name="a05_rise_pBody1"/>
          <p:cNvSpPr txBox="1"/>
          <p:nvPr/>
        </p:nvSpPr>
        <p:spPr>
          <a:xfrm>
            <a:off x="8641080" y="2606040"/>
            <a:ext cx="2651760" cy="1005840"/>
          </a:xfrm>
          <a:prstGeom prst="rect">
            <a:avLst/>
          </a:prstGeom>
          <a:noFill/>
          <a:ln/>
        </p:spPr>
        <p:txBody>
          <a:bodyPr wrap="square" lIns="0" tIns="0" rIns="0" bIns="0" rtlCol="0" anchor="t"/>
          <a:lstStyle/>
          <a:p>
            <a:pPr indent="0" marL="0">
              <a:buNone/>
            </a:pPr>
            <a:r>
              <a:rPr lang="en-US" sz="1400" dirty="0">
                <a:solidFill>
                  <a:schemeClr val="tx1"/>
                </a:solidFill>
              </a:rPr>
              <a:t>When a pensioner is turned away, who answers? “The machine said no” is not an answer.</a:t>
            </a:r>
            <a:endParaRPr lang="en-US" sz="1400" dirty="0"/>
          </a:p>
        </p:txBody>
      </p:sp>
      <p:sp>
        <p:nvSpPr>
          <p:cNvPr id="20" name="a06_rise_p2"/>
          <p:cNvSpPr/>
          <p:nvPr/>
        </p:nvSpPr>
        <p:spPr>
          <a:xfrm>
            <a:off x="5029200" y="3886200"/>
            <a:ext cx="3154680" cy="2057400"/>
          </a:xfrm>
          <a:prstGeom prst="roundRect">
            <a:avLst>
              <a:gd name="adj" fmla="val 5333"/>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21" name="a06_rise_pIcon2_c"/>
          <p:cNvSpPr/>
          <p:nvPr/>
        </p:nvSpPr>
        <p:spPr>
          <a:xfrm>
            <a:off x="5303520" y="4160520"/>
            <a:ext cx="548640" cy="548640"/>
          </a:xfrm>
          <a:prstGeom prst="ellipse">
            <a:avLst/>
          </a:prstGeom>
          <a:solidFill>
            <a:schemeClr val="accent1"/>
          </a:solidFill>
          <a:ln/>
        </p:spPr>
      </p:sp>
      <p:pic>
        <p:nvPicPr>
          <p:cNvPr id="22" name="a06_rise_pIcon2_i" descr="preencoded.png">    </p:cNvPr>
          <p:cNvPicPr>
            <a:picLocks noChangeAspect="1"/>
          </p:cNvPicPr>
          <p:nvPr/>
        </p:nvPicPr>
        <p:blipFill>
          <a:blip r:embed="rId3"/>
          <a:stretch>
            <a:fillRect/>
          </a:stretch>
        </p:blipFill>
        <p:spPr>
          <a:xfrm>
            <a:off x="5435194" y="4292194"/>
            <a:ext cx="285293" cy="285293"/>
          </a:xfrm>
          <a:prstGeom prst="rect">
            <a:avLst/>
          </a:prstGeom>
        </p:spPr>
      </p:pic>
      <p:sp>
        <p:nvSpPr>
          <p:cNvPr id="23" name="a06_rise_pName2"/>
          <p:cNvSpPr txBox="1"/>
          <p:nvPr/>
        </p:nvSpPr>
        <p:spPr>
          <a:xfrm>
            <a:off x="5989320" y="4233672"/>
            <a:ext cx="2011680" cy="411480"/>
          </a:xfrm>
          <a:prstGeom prst="rect">
            <a:avLst/>
          </a:prstGeom>
          <a:noFill/>
          <a:ln/>
        </p:spPr>
        <p:txBody>
          <a:bodyPr wrap="square" lIns="0" tIns="0" rIns="0" bIns="0" rtlCol="0" anchor="ctr"/>
          <a:lstStyle/>
          <a:p>
            <a:pPr indent="0" marL="0">
              <a:buNone/>
            </a:pPr>
            <a:r>
              <a:rPr lang="en-US" sz="1800" b="1" dirty="0">
                <a:solidFill>
                  <a:schemeClr val="accent1"/>
                </a:solidFill>
              </a:rPr>
              <a:t>Transparency</a:t>
            </a:r>
            <a:endParaRPr lang="en-US" sz="1800" dirty="0"/>
          </a:p>
        </p:txBody>
      </p:sp>
      <p:sp>
        <p:nvSpPr>
          <p:cNvPr id="24" name="a06_rise_pBody2"/>
          <p:cNvSpPr txBox="1"/>
          <p:nvPr/>
        </p:nvSpPr>
        <p:spPr>
          <a:xfrm>
            <a:off x="5303520" y="4846320"/>
            <a:ext cx="2651760" cy="1005840"/>
          </a:xfrm>
          <a:prstGeom prst="rect">
            <a:avLst/>
          </a:prstGeom>
          <a:noFill/>
          <a:ln/>
        </p:spPr>
        <p:txBody>
          <a:bodyPr wrap="square" lIns="0" tIns="0" rIns="0" bIns="0" rtlCol="0" anchor="t"/>
          <a:lstStyle/>
          <a:p>
            <a:pPr indent="0" marL="0">
              <a:buNone/>
            </a:pPr>
            <a:r>
              <a:rPr lang="en-US" sz="1400" dirty="0">
                <a:solidFill>
                  <a:schemeClr val="tx1"/>
                </a:solidFill>
              </a:rPr>
              <a:t>A denied person is not told why: poor capture, a mismatch or a network timeout?</a:t>
            </a:r>
            <a:endParaRPr lang="en-US" sz="1400" dirty="0"/>
          </a:p>
        </p:txBody>
      </p:sp>
      <p:sp>
        <p:nvSpPr>
          <p:cNvPr id="25" name="a07_rise_p3"/>
          <p:cNvSpPr/>
          <p:nvPr/>
        </p:nvSpPr>
        <p:spPr>
          <a:xfrm>
            <a:off x="8366760" y="3886200"/>
            <a:ext cx="3154680" cy="2057400"/>
          </a:xfrm>
          <a:prstGeom prst="roundRect">
            <a:avLst>
              <a:gd name="adj" fmla="val 5333"/>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26" name="a07_rise_pIcon3_c"/>
          <p:cNvSpPr/>
          <p:nvPr/>
        </p:nvSpPr>
        <p:spPr>
          <a:xfrm>
            <a:off x="8641080" y="4160520"/>
            <a:ext cx="548640" cy="548640"/>
          </a:xfrm>
          <a:prstGeom prst="ellipse">
            <a:avLst/>
          </a:prstGeom>
          <a:solidFill>
            <a:schemeClr val="accent1"/>
          </a:solidFill>
          <a:ln/>
        </p:spPr>
      </p:sp>
      <p:pic>
        <p:nvPicPr>
          <p:cNvPr id="27" name="a07_rise_pIcon3_i" descr="preencoded.png">    </p:cNvPr>
          <p:cNvPicPr>
            <a:picLocks noChangeAspect="1"/>
          </p:cNvPicPr>
          <p:nvPr/>
        </p:nvPicPr>
        <p:blipFill>
          <a:blip r:embed="rId4"/>
          <a:stretch>
            <a:fillRect/>
          </a:stretch>
        </p:blipFill>
        <p:spPr>
          <a:xfrm>
            <a:off x="8772754" y="4292194"/>
            <a:ext cx="285293" cy="285293"/>
          </a:xfrm>
          <a:prstGeom prst="rect">
            <a:avLst/>
          </a:prstGeom>
        </p:spPr>
      </p:pic>
      <p:sp>
        <p:nvSpPr>
          <p:cNvPr id="28" name="a07_rise_pName3"/>
          <p:cNvSpPr txBox="1"/>
          <p:nvPr/>
        </p:nvSpPr>
        <p:spPr>
          <a:xfrm>
            <a:off x="9326880" y="4233672"/>
            <a:ext cx="2011680" cy="411480"/>
          </a:xfrm>
          <a:prstGeom prst="rect">
            <a:avLst/>
          </a:prstGeom>
          <a:noFill/>
          <a:ln/>
        </p:spPr>
        <p:txBody>
          <a:bodyPr wrap="square" lIns="0" tIns="0" rIns="0" bIns="0" rtlCol="0" anchor="ctr"/>
          <a:lstStyle/>
          <a:p>
            <a:pPr indent="0" marL="0">
              <a:buNone/>
            </a:pPr>
            <a:r>
              <a:rPr lang="en-US" sz="1800" b="1" dirty="0">
                <a:solidFill>
                  <a:schemeClr val="accent1"/>
                </a:solidFill>
              </a:rPr>
              <a:t>Privacy</a:t>
            </a:r>
            <a:endParaRPr lang="en-US" sz="1800" dirty="0"/>
          </a:p>
        </p:txBody>
      </p:sp>
      <p:sp>
        <p:nvSpPr>
          <p:cNvPr id="29" name="a07_rise_pBody3"/>
          <p:cNvSpPr txBox="1"/>
          <p:nvPr/>
        </p:nvSpPr>
        <p:spPr>
          <a:xfrm>
            <a:off x="8641080" y="4846320"/>
            <a:ext cx="2651760" cy="1005840"/>
          </a:xfrm>
          <a:prstGeom prst="rect">
            <a:avLst/>
          </a:prstGeom>
          <a:noFill/>
          <a:ln/>
        </p:spPr>
        <p:txBody>
          <a:bodyPr wrap="square" lIns="0" tIns="0" rIns="0" bIns="0" rtlCol="0" anchor="t"/>
          <a:lstStyle/>
          <a:p>
            <a:pPr indent="0" marL="0">
              <a:buNone/>
            </a:pPr>
            <a:r>
              <a:rPr lang="en-US" sz="1400" dirty="0">
                <a:solidFill>
                  <a:schemeClr val="tx1"/>
                </a:solidFill>
              </a:rPr>
              <a:t>Fingerprints and iris scans are sensitive personal data. Our study uses none.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140" fill="hold">
                      <p:stCondLst>
                        <p:cond delay="indefinite"/>
                        <p:cond evt="onBegin" delay="0">
                          <p:tn val="2"/>
                        </p:cond>
                      </p:stCondLst>
                      <p:childTnLst>
                        <p:par>
                          <p:cTn id="133"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additive="base">
                                        <p:cTn id="6" dur="550" fill="hold"/>
                                        <p:tgtEl>
                                          <p:spTgt spid="4"/>
                                        </p:tgtEl>
                                        <p:attrNameLst>
                                          <p:attrName>ppt_x</p:attrName>
                                        </p:attrNameLst>
                                      </p:cBhvr>
                                      <p:tavLst>
                                        <p:tav tm="0">
                                          <p:val>
                                            <p:strVal val="#ppt_x"/>
                                          </p:val>
                                        </p:tav>
                                        <p:tav tm="100000">
                                          <p:val>
                                            <p:strVal val="#ppt_x"/>
                                          </p:val>
                                        </p:tav>
                                      </p:tavLst>
                                    </p:anim>
                                    <p:anim calcmode="lin" valueType="num">
                                      <p:cBhvr additive="base">
                                        <p:cTn id="7" dur="550" fill="hold"/>
                                        <p:tgtEl>
                                          <p:spTgt spid="4"/>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additive="base">
                                        <p:cTn id="11" dur="550" fill="hold"/>
                                        <p:tgtEl>
                                          <p:spTgt spid="5"/>
                                        </p:tgtEl>
                                        <p:attrNameLst>
                                          <p:attrName>ppt_x</p:attrName>
                                        </p:attrNameLst>
                                      </p:cBhvr>
                                      <p:tavLst>
                                        <p:tav tm="0">
                                          <p:val>
                                            <p:strVal val="#ppt_x"/>
                                          </p:val>
                                        </p:tav>
                                        <p:tav tm="100000">
                                          <p:val>
                                            <p:strVal val="#ppt_x"/>
                                          </p:val>
                                        </p:tav>
                                      </p:tavLst>
                                    </p:anim>
                                    <p:anim calcmode="lin" valueType="num">
                                      <p:cBhvr additive="base">
                                        <p:cTn id="12" dur="550" fill="hold"/>
                                        <p:tgtEl>
                                          <p:spTgt spid="5"/>
                                        </p:tgtEl>
                                        <p:attrNameLst>
                                          <p:attrName>ppt_y</p:attrName>
                                        </p:attrNameLst>
                                      </p:cBhvr>
                                      <p:tavLst>
                                        <p:tav tm="0">
                                          <p:val>
                                            <p:strVal val="#ppt_y+.06"/>
                                          </p:val>
                                        </p:tav>
                                        <p:tav tm="100000">
                                          <p:val>
                                            <p:strVal val="#ppt_y"/>
                                          </p:val>
                                        </p:tav>
                                      </p:tavLst>
                                    </p:anim>
                                  </p:childTnLst>
                                </p:cTn>
                              </p:par>
                            </p:childTnLst>
                          </p:cTn>
                        </p:par>
                        <p:par>
                          <p:cTn id="134" fill="hold">
                            <p:stCondLst>
                              <p:cond delay="302"/>
                            </p:stCondLst>
                            <p:childTnLst>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50"/>
                                        <p:tgtEl>
                                          <p:spTgt spid="6"/>
                                        </p:tgtEl>
                                      </p:cBhvr>
                                    </p:animEffect>
                                    <p:anim calcmode="lin" valueType="num">
                                      <p:cBhvr additive="base">
                                        <p:cTn id="16" dur="550" fill="hold"/>
                                        <p:tgtEl>
                                          <p:spTgt spid="6"/>
                                        </p:tgtEl>
                                        <p:attrNameLst>
                                          <p:attrName>ppt_x</p:attrName>
                                        </p:attrNameLst>
                                      </p:cBhvr>
                                      <p:tavLst>
                                        <p:tav tm="0">
                                          <p:val>
                                            <p:strVal val="#ppt_x"/>
                                          </p:val>
                                        </p:tav>
                                        <p:tav tm="100000">
                                          <p:val>
                                            <p:strVal val="#ppt_x"/>
                                          </p:val>
                                        </p:tav>
                                      </p:tavLst>
                                    </p:anim>
                                    <p:anim calcmode="lin" valueType="num">
                                      <p:cBhvr additive="base">
                                        <p:cTn id="17" dur="55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50"/>
                                        <p:tgtEl>
                                          <p:spTgt spid="7"/>
                                        </p:tgtEl>
                                      </p:cBhvr>
                                    </p:animEffect>
                                    <p:anim calcmode="lin" valueType="num">
                                      <p:cBhvr additive="base">
                                        <p:cTn id="21" dur="550" fill="hold"/>
                                        <p:tgtEl>
                                          <p:spTgt spid="7"/>
                                        </p:tgtEl>
                                        <p:attrNameLst>
                                          <p:attrName>ppt_x</p:attrName>
                                        </p:attrNameLst>
                                      </p:cBhvr>
                                      <p:tavLst>
                                        <p:tav tm="0">
                                          <p:val>
                                            <p:strVal val="#ppt_x"/>
                                          </p:val>
                                        </p:tav>
                                        <p:tav tm="100000">
                                          <p:val>
                                            <p:strVal val="#ppt_x"/>
                                          </p:val>
                                        </p:tav>
                                      </p:tavLst>
                                    </p:anim>
                                    <p:anim calcmode="lin" valueType="num">
                                      <p:cBhvr additive="base">
                                        <p:cTn id="22" dur="550" fill="hold"/>
                                        <p:tgtEl>
                                          <p:spTgt spid="7"/>
                                        </p:tgtEl>
                                        <p:attrNameLst>
                                          <p:attrName>ppt_y</p:attrName>
                                        </p:attrNameLst>
                                      </p:cBhvr>
                                      <p:tavLst>
                                        <p:tav tm="0">
                                          <p:val>
                                            <p:strVal val="#ppt_y+.06"/>
                                          </p:val>
                                        </p:tav>
                                        <p:tav tm="100000">
                                          <p:val>
                                            <p:strVal val="#ppt_y"/>
                                          </p:val>
                                        </p:tav>
                                      </p:tavLst>
                                    </p:anim>
                                  </p:childTnLst>
                                </p:cTn>
                              </p:par>
                            </p:childTnLst>
                          </p:cTn>
                        </p:par>
                        <p:par>
                          <p:cTn id="135" fill="hold">
                            <p:stCondLst>
                              <p:cond delay="605"/>
                            </p:stCondLst>
                            <p:childTnLst>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50"/>
                                        <p:tgtEl>
                                          <p:spTgt spid="8"/>
                                        </p:tgtEl>
                                      </p:cBhvr>
                                    </p:animEffect>
                                    <p:anim calcmode="lin" valueType="num">
                                      <p:cBhvr additive="base">
                                        <p:cTn id="26" dur="550" fill="hold"/>
                                        <p:tgtEl>
                                          <p:spTgt spid="8"/>
                                        </p:tgtEl>
                                        <p:attrNameLst>
                                          <p:attrName>ppt_x</p:attrName>
                                        </p:attrNameLst>
                                      </p:cBhvr>
                                      <p:tavLst>
                                        <p:tav tm="0">
                                          <p:val>
                                            <p:strVal val="#ppt_x"/>
                                          </p:val>
                                        </p:tav>
                                        <p:tav tm="100000">
                                          <p:val>
                                            <p:strVal val="#ppt_x"/>
                                          </p:val>
                                        </p:tav>
                                      </p:tavLst>
                                    </p:anim>
                                    <p:anim calcmode="lin" valueType="num">
                                      <p:cBhvr additive="base">
                                        <p:cTn id="27" dur="55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anim calcmode="lin" valueType="num">
                                      <p:cBhvr additive="base">
                                        <p:cTn id="31" dur="550" fill="hold"/>
                                        <p:tgtEl>
                                          <p:spTgt spid="9"/>
                                        </p:tgtEl>
                                        <p:attrNameLst>
                                          <p:attrName>ppt_x</p:attrName>
                                        </p:attrNameLst>
                                      </p:cBhvr>
                                      <p:tavLst>
                                        <p:tav tm="0">
                                          <p:val>
                                            <p:strVal val="#ppt_x"/>
                                          </p:val>
                                        </p:tav>
                                        <p:tav tm="100000">
                                          <p:val>
                                            <p:strVal val="#ppt_x"/>
                                          </p:val>
                                        </p:tav>
                                      </p:tavLst>
                                    </p:anim>
                                    <p:anim calcmode="lin" valueType="num">
                                      <p:cBhvr additive="base">
                                        <p:cTn id="32" dur="550" fill="hold"/>
                                        <p:tgtEl>
                                          <p:spTgt spid="9"/>
                                        </p:tgtEl>
                                        <p:attrNameLst>
                                          <p:attrName>ppt_y</p:attrName>
                                        </p:attrNameLst>
                                      </p:cBhvr>
                                      <p:tavLst>
                                        <p:tav tm="0">
                                          <p:val>
                                            <p:strVal val="#ppt_y+.06"/>
                                          </p:val>
                                        </p:tav>
                                        <p:tav tm="100000">
                                          <p:val>
                                            <p:strVal val="#ppt_y"/>
                                          </p:val>
                                        </p:tav>
                                      </p:tavLst>
                                    </p:anim>
                                  </p:childTnLst>
                                </p:cTn>
                              </p:par>
                            </p:childTnLst>
                          </p:cTn>
                        </p:par>
                        <p:par>
                          <p:cTn id="136" fill="hold">
                            <p:stCondLst>
                              <p:cond delay="907"/>
                            </p:stCondLst>
                            <p:childTnLst>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50"/>
                                        <p:tgtEl>
                                          <p:spTgt spid="10"/>
                                        </p:tgtEl>
                                      </p:cBhvr>
                                    </p:animEffect>
                                    <p:anim calcmode="lin" valueType="num">
                                      <p:cBhvr additive="base">
                                        <p:cTn id="36" dur="550" fill="hold"/>
                                        <p:tgtEl>
                                          <p:spTgt spid="10"/>
                                        </p:tgtEl>
                                        <p:attrNameLst>
                                          <p:attrName>ppt_x</p:attrName>
                                        </p:attrNameLst>
                                      </p:cBhvr>
                                      <p:tavLst>
                                        <p:tav tm="0">
                                          <p:val>
                                            <p:strVal val="#ppt_x"/>
                                          </p:val>
                                        </p:tav>
                                        <p:tav tm="100000">
                                          <p:val>
                                            <p:strVal val="#ppt_x"/>
                                          </p:val>
                                        </p:tav>
                                      </p:tavLst>
                                    </p:anim>
                                    <p:anim calcmode="lin" valueType="num">
                                      <p:cBhvr additive="base">
                                        <p:cTn id="37" dur="550" fill="hold"/>
                                        <p:tgtEl>
                                          <p:spTgt spid="10"/>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50"/>
                                        <p:tgtEl>
                                          <p:spTgt spid="11"/>
                                        </p:tgtEl>
                                      </p:cBhvr>
                                    </p:animEffect>
                                    <p:anim calcmode="lin" valueType="num">
                                      <p:cBhvr additive="base">
                                        <p:cTn id="41" dur="550" fill="hold"/>
                                        <p:tgtEl>
                                          <p:spTgt spid="11"/>
                                        </p:tgtEl>
                                        <p:attrNameLst>
                                          <p:attrName>ppt_x</p:attrName>
                                        </p:attrNameLst>
                                      </p:cBhvr>
                                      <p:tavLst>
                                        <p:tav tm="0">
                                          <p:val>
                                            <p:strVal val="#ppt_x"/>
                                          </p:val>
                                        </p:tav>
                                        <p:tav tm="100000">
                                          <p:val>
                                            <p:strVal val="#ppt_x"/>
                                          </p:val>
                                        </p:tav>
                                      </p:tavLst>
                                    </p:anim>
                                    <p:anim calcmode="lin" valueType="num">
                                      <p:cBhvr additive="base">
                                        <p:cTn id="42" dur="550" fill="hold"/>
                                        <p:tgtEl>
                                          <p:spTgt spid="11"/>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50"/>
                                        <p:tgtEl>
                                          <p:spTgt spid="12"/>
                                        </p:tgtEl>
                                      </p:cBhvr>
                                    </p:animEffect>
                                    <p:anim calcmode="lin" valueType="num">
                                      <p:cBhvr additive="base">
                                        <p:cTn id="46" dur="550" fill="hold"/>
                                        <p:tgtEl>
                                          <p:spTgt spid="12"/>
                                        </p:tgtEl>
                                        <p:attrNameLst>
                                          <p:attrName>ppt_x</p:attrName>
                                        </p:attrNameLst>
                                      </p:cBhvr>
                                      <p:tavLst>
                                        <p:tav tm="0">
                                          <p:val>
                                            <p:strVal val="#ppt_x"/>
                                          </p:val>
                                        </p:tav>
                                        <p:tav tm="100000">
                                          <p:val>
                                            <p:strVal val="#ppt_x"/>
                                          </p:val>
                                        </p:tav>
                                      </p:tavLst>
                                    </p:anim>
                                    <p:anim calcmode="lin" valueType="num">
                                      <p:cBhvr additive="base">
                                        <p:cTn id="47" dur="550" fill="hold"/>
                                        <p:tgtEl>
                                          <p:spTgt spid="12"/>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50"/>
                                        <p:tgtEl>
                                          <p:spTgt spid="13"/>
                                        </p:tgtEl>
                                      </p:cBhvr>
                                    </p:animEffect>
                                    <p:anim calcmode="lin" valueType="num">
                                      <p:cBhvr additive="base">
                                        <p:cTn id="51" dur="550" fill="hold"/>
                                        <p:tgtEl>
                                          <p:spTgt spid="13"/>
                                        </p:tgtEl>
                                        <p:attrNameLst>
                                          <p:attrName>ppt_x</p:attrName>
                                        </p:attrNameLst>
                                      </p:cBhvr>
                                      <p:tavLst>
                                        <p:tav tm="0">
                                          <p:val>
                                            <p:strVal val="#ppt_x"/>
                                          </p:val>
                                        </p:tav>
                                        <p:tav tm="100000">
                                          <p:val>
                                            <p:strVal val="#ppt_x"/>
                                          </p:val>
                                        </p:tav>
                                      </p:tavLst>
                                    </p:anim>
                                    <p:anim calcmode="lin" valueType="num">
                                      <p:cBhvr additive="base">
                                        <p:cTn id="52" dur="550" fill="hold"/>
                                        <p:tgtEl>
                                          <p:spTgt spid="13"/>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50"/>
                                        <p:tgtEl>
                                          <p:spTgt spid="14"/>
                                        </p:tgtEl>
                                      </p:cBhvr>
                                    </p:animEffect>
                                    <p:anim calcmode="lin" valueType="num">
                                      <p:cBhvr additive="base">
                                        <p:cTn id="56" dur="550" fill="hold"/>
                                        <p:tgtEl>
                                          <p:spTgt spid="14"/>
                                        </p:tgtEl>
                                        <p:attrNameLst>
                                          <p:attrName>ppt_x</p:attrName>
                                        </p:attrNameLst>
                                      </p:cBhvr>
                                      <p:tavLst>
                                        <p:tav tm="0">
                                          <p:val>
                                            <p:strVal val="#ppt_x"/>
                                          </p:val>
                                        </p:tav>
                                        <p:tav tm="100000">
                                          <p:val>
                                            <p:strVal val="#ppt_x"/>
                                          </p:val>
                                        </p:tav>
                                      </p:tavLst>
                                    </p:anim>
                                    <p:anim calcmode="lin" valueType="num">
                                      <p:cBhvr additive="base">
                                        <p:cTn id="57" dur="550" fill="hold"/>
                                        <p:tgtEl>
                                          <p:spTgt spid="14"/>
                                        </p:tgtEl>
                                        <p:attrNameLst>
                                          <p:attrName>ppt_y</p:attrName>
                                        </p:attrNameLst>
                                      </p:cBhvr>
                                      <p:tavLst>
                                        <p:tav tm="0">
                                          <p:val>
                                            <p:strVal val="#ppt_y+.06"/>
                                          </p:val>
                                        </p:tav>
                                        <p:tav tm="100000">
                                          <p:val>
                                            <p:strVal val="#ppt_y"/>
                                          </p:val>
                                        </p:tav>
                                      </p:tavLst>
                                    </p:anim>
                                  </p:childTnLst>
                                </p:cTn>
                              </p:par>
                            </p:childTnLst>
                          </p:cTn>
                        </p:par>
                        <p:par>
                          <p:cTn id="137" fill="hold">
                            <p:stCondLst>
                              <p:cond delay="1210"/>
                            </p:stCondLst>
                            <p:childTnLst>
                              <p:par>
                                <p:cTn id="58" presetID="42"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50"/>
                                        <p:tgtEl>
                                          <p:spTgt spid="15"/>
                                        </p:tgtEl>
                                      </p:cBhvr>
                                    </p:animEffect>
                                    <p:anim calcmode="lin" valueType="num">
                                      <p:cBhvr additive="base">
                                        <p:cTn id="61" dur="550" fill="hold"/>
                                        <p:tgtEl>
                                          <p:spTgt spid="15"/>
                                        </p:tgtEl>
                                        <p:attrNameLst>
                                          <p:attrName>ppt_x</p:attrName>
                                        </p:attrNameLst>
                                      </p:cBhvr>
                                      <p:tavLst>
                                        <p:tav tm="0">
                                          <p:val>
                                            <p:strVal val="#ppt_x"/>
                                          </p:val>
                                        </p:tav>
                                        <p:tav tm="100000">
                                          <p:val>
                                            <p:strVal val="#ppt_x"/>
                                          </p:val>
                                        </p:tav>
                                      </p:tavLst>
                                    </p:anim>
                                    <p:anim calcmode="lin" valueType="num">
                                      <p:cBhvr additive="base">
                                        <p:cTn id="62" dur="550" fill="hold"/>
                                        <p:tgtEl>
                                          <p:spTgt spid="15"/>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50"/>
                                        <p:tgtEl>
                                          <p:spTgt spid="16"/>
                                        </p:tgtEl>
                                      </p:cBhvr>
                                    </p:animEffect>
                                    <p:anim calcmode="lin" valueType="num">
                                      <p:cBhvr additive="base">
                                        <p:cTn id="66" dur="550" fill="hold"/>
                                        <p:tgtEl>
                                          <p:spTgt spid="16"/>
                                        </p:tgtEl>
                                        <p:attrNameLst>
                                          <p:attrName>ppt_x</p:attrName>
                                        </p:attrNameLst>
                                      </p:cBhvr>
                                      <p:tavLst>
                                        <p:tav tm="0">
                                          <p:val>
                                            <p:strVal val="#ppt_x"/>
                                          </p:val>
                                        </p:tav>
                                        <p:tav tm="100000">
                                          <p:val>
                                            <p:strVal val="#ppt_x"/>
                                          </p:val>
                                        </p:tav>
                                      </p:tavLst>
                                    </p:anim>
                                    <p:anim calcmode="lin" valueType="num">
                                      <p:cBhvr additive="base">
                                        <p:cTn id="67" dur="550" fill="hold"/>
                                        <p:tgtEl>
                                          <p:spTgt spid="16"/>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50"/>
                                        <p:tgtEl>
                                          <p:spTgt spid="17"/>
                                        </p:tgtEl>
                                      </p:cBhvr>
                                    </p:animEffect>
                                    <p:anim calcmode="lin" valueType="num">
                                      <p:cBhvr additive="base">
                                        <p:cTn id="71" dur="550" fill="hold"/>
                                        <p:tgtEl>
                                          <p:spTgt spid="17"/>
                                        </p:tgtEl>
                                        <p:attrNameLst>
                                          <p:attrName>ppt_x</p:attrName>
                                        </p:attrNameLst>
                                      </p:cBhvr>
                                      <p:tavLst>
                                        <p:tav tm="0">
                                          <p:val>
                                            <p:strVal val="#ppt_x"/>
                                          </p:val>
                                        </p:tav>
                                        <p:tav tm="100000">
                                          <p:val>
                                            <p:strVal val="#ppt_x"/>
                                          </p:val>
                                        </p:tav>
                                      </p:tavLst>
                                    </p:anim>
                                    <p:anim calcmode="lin" valueType="num">
                                      <p:cBhvr additive="base">
                                        <p:cTn id="72" dur="550" fill="hold"/>
                                        <p:tgtEl>
                                          <p:spTgt spid="17"/>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50"/>
                                        <p:tgtEl>
                                          <p:spTgt spid="18"/>
                                        </p:tgtEl>
                                      </p:cBhvr>
                                    </p:animEffect>
                                    <p:anim calcmode="lin" valueType="num">
                                      <p:cBhvr additive="base">
                                        <p:cTn id="76" dur="550" fill="hold"/>
                                        <p:tgtEl>
                                          <p:spTgt spid="18"/>
                                        </p:tgtEl>
                                        <p:attrNameLst>
                                          <p:attrName>ppt_x</p:attrName>
                                        </p:attrNameLst>
                                      </p:cBhvr>
                                      <p:tavLst>
                                        <p:tav tm="0">
                                          <p:val>
                                            <p:strVal val="#ppt_x"/>
                                          </p:val>
                                        </p:tav>
                                        <p:tav tm="100000">
                                          <p:val>
                                            <p:strVal val="#ppt_x"/>
                                          </p:val>
                                        </p:tav>
                                      </p:tavLst>
                                    </p:anim>
                                    <p:anim calcmode="lin" valueType="num">
                                      <p:cBhvr additive="base">
                                        <p:cTn id="77" dur="550" fill="hold"/>
                                        <p:tgtEl>
                                          <p:spTgt spid="18"/>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50"/>
                                        <p:tgtEl>
                                          <p:spTgt spid="19"/>
                                        </p:tgtEl>
                                      </p:cBhvr>
                                    </p:animEffect>
                                    <p:anim calcmode="lin" valueType="num">
                                      <p:cBhvr additive="base">
                                        <p:cTn id="81" dur="550" fill="hold"/>
                                        <p:tgtEl>
                                          <p:spTgt spid="19"/>
                                        </p:tgtEl>
                                        <p:attrNameLst>
                                          <p:attrName>ppt_x</p:attrName>
                                        </p:attrNameLst>
                                      </p:cBhvr>
                                      <p:tavLst>
                                        <p:tav tm="0">
                                          <p:val>
                                            <p:strVal val="#ppt_x"/>
                                          </p:val>
                                        </p:tav>
                                        <p:tav tm="100000">
                                          <p:val>
                                            <p:strVal val="#ppt_x"/>
                                          </p:val>
                                        </p:tav>
                                      </p:tavLst>
                                    </p:anim>
                                    <p:anim calcmode="lin" valueType="num">
                                      <p:cBhvr additive="base">
                                        <p:cTn id="82" dur="550" fill="hold"/>
                                        <p:tgtEl>
                                          <p:spTgt spid="19"/>
                                        </p:tgtEl>
                                        <p:attrNameLst>
                                          <p:attrName>ppt_y</p:attrName>
                                        </p:attrNameLst>
                                      </p:cBhvr>
                                      <p:tavLst>
                                        <p:tav tm="0">
                                          <p:val>
                                            <p:strVal val="#ppt_y+.06"/>
                                          </p:val>
                                        </p:tav>
                                        <p:tav tm="100000">
                                          <p:val>
                                            <p:strVal val="#ppt_y"/>
                                          </p:val>
                                        </p:tav>
                                      </p:tavLst>
                                    </p:anim>
                                  </p:childTnLst>
                                </p:cTn>
                              </p:par>
                            </p:childTnLst>
                          </p:cTn>
                        </p:par>
                        <p:par>
                          <p:cTn id="138" fill="hold">
                            <p:stCondLst>
                              <p:cond delay="1512"/>
                            </p:stCondLst>
                            <p:childTnLst>
                              <p:par>
                                <p:cTn id="83" presetID="42"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50"/>
                                        <p:tgtEl>
                                          <p:spTgt spid="20"/>
                                        </p:tgtEl>
                                      </p:cBhvr>
                                    </p:animEffect>
                                    <p:anim calcmode="lin" valueType="num">
                                      <p:cBhvr additive="base">
                                        <p:cTn id="86" dur="550" fill="hold"/>
                                        <p:tgtEl>
                                          <p:spTgt spid="20"/>
                                        </p:tgtEl>
                                        <p:attrNameLst>
                                          <p:attrName>ppt_x</p:attrName>
                                        </p:attrNameLst>
                                      </p:cBhvr>
                                      <p:tavLst>
                                        <p:tav tm="0">
                                          <p:val>
                                            <p:strVal val="#ppt_x"/>
                                          </p:val>
                                        </p:tav>
                                        <p:tav tm="100000">
                                          <p:val>
                                            <p:strVal val="#ppt_x"/>
                                          </p:val>
                                        </p:tav>
                                      </p:tavLst>
                                    </p:anim>
                                    <p:anim calcmode="lin" valueType="num">
                                      <p:cBhvr additive="base">
                                        <p:cTn id="87" dur="550" fill="hold"/>
                                        <p:tgtEl>
                                          <p:spTgt spid="20"/>
                                        </p:tgtEl>
                                        <p:attrNameLst>
                                          <p:attrName>ppt_y</p:attrName>
                                        </p:attrNameLst>
                                      </p:cBhvr>
                                      <p:tavLst>
                                        <p:tav tm="0">
                                          <p:val>
                                            <p:strVal val="#ppt_y+.06"/>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50"/>
                                        <p:tgtEl>
                                          <p:spTgt spid="21"/>
                                        </p:tgtEl>
                                      </p:cBhvr>
                                    </p:animEffect>
                                    <p:anim calcmode="lin" valueType="num">
                                      <p:cBhvr additive="base">
                                        <p:cTn id="91" dur="550" fill="hold"/>
                                        <p:tgtEl>
                                          <p:spTgt spid="21"/>
                                        </p:tgtEl>
                                        <p:attrNameLst>
                                          <p:attrName>ppt_x</p:attrName>
                                        </p:attrNameLst>
                                      </p:cBhvr>
                                      <p:tavLst>
                                        <p:tav tm="0">
                                          <p:val>
                                            <p:strVal val="#ppt_x"/>
                                          </p:val>
                                        </p:tav>
                                        <p:tav tm="100000">
                                          <p:val>
                                            <p:strVal val="#ppt_x"/>
                                          </p:val>
                                        </p:tav>
                                      </p:tavLst>
                                    </p:anim>
                                    <p:anim calcmode="lin" valueType="num">
                                      <p:cBhvr additive="base">
                                        <p:cTn id="92" dur="550" fill="hold"/>
                                        <p:tgtEl>
                                          <p:spTgt spid="21"/>
                                        </p:tgtEl>
                                        <p:attrNameLst>
                                          <p:attrName>ppt_y</p:attrName>
                                        </p:attrNameLst>
                                      </p:cBhvr>
                                      <p:tavLst>
                                        <p:tav tm="0">
                                          <p:val>
                                            <p:strVal val="#ppt_y+.06"/>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550"/>
                                        <p:tgtEl>
                                          <p:spTgt spid="22"/>
                                        </p:tgtEl>
                                      </p:cBhvr>
                                    </p:animEffect>
                                    <p:anim calcmode="lin" valueType="num">
                                      <p:cBhvr additive="base">
                                        <p:cTn id="96" dur="550" fill="hold"/>
                                        <p:tgtEl>
                                          <p:spTgt spid="22"/>
                                        </p:tgtEl>
                                        <p:attrNameLst>
                                          <p:attrName>ppt_x</p:attrName>
                                        </p:attrNameLst>
                                      </p:cBhvr>
                                      <p:tavLst>
                                        <p:tav tm="0">
                                          <p:val>
                                            <p:strVal val="#ppt_x"/>
                                          </p:val>
                                        </p:tav>
                                        <p:tav tm="100000">
                                          <p:val>
                                            <p:strVal val="#ppt_x"/>
                                          </p:val>
                                        </p:tav>
                                      </p:tavLst>
                                    </p:anim>
                                    <p:anim calcmode="lin" valueType="num">
                                      <p:cBhvr additive="base">
                                        <p:cTn id="97" dur="550" fill="hold"/>
                                        <p:tgtEl>
                                          <p:spTgt spid="22"/>
                                        </p:tgtEl>
                                        <p:attrNameLst>
                                          <p:attrName>ppt_y</p:attrName>
                                        </p:attrNameLst>
                                      </p:cBhvr>
                                      <p:tavLst>
                                        <p:tav tm="0">
                                          <p:val>
                                            <p:strVal val="#ppt_y+.06"/>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50"/>
                                        <p:tgtEl>
                                          <p:spTgt spid="23"/>
                                        </p:tgtEl>
                                      </p:cBhvr>
                                    </p:animEffect>
                                    <p:anim calcmode="lin" valueType="num">
                                      <p:cBhvr additive="base">
                                        <p:cTn id="101" dur="550" fill="hold"/>
                                        <p:tgtEl>
                                          <p:spTgt spid="23"/>
                                        </p:tgtEl>
                                        <p:attrNameLst>
                                          <p:attrName>ppt_x</p:attrName>
                                        </p:attrNameLst>
                                      </p:cBhvr>
                                      <p:tavLst>
                                        <p:tav tm="0">
                                          <p:val>
                                            <p:strVal val="#ppt_x"/>
                                          </p:val>
                                        </p:tav>
                                        <p:tav tm="100000">
                                          <p:val>
                                            <p:strVal val="#ppt_x"/>
                                          </p:val>
                                        </p:tav>
                                      </p:tavLst>
                                    </p:anim>
                                    <p:anim calcmode="lin" valueType="num">
                                      <p:cBhvr additive="base">
                                        <p:cTn id="102" dur="550" fill="hold"/>
                                        <p:tgtEl>
                                          <p:spTgt spid="23"/>
                                        </p:tgtEl>
                                        <p:attrNameLst>
                                          <p:attrName>ppt_y</p:attrName>
                                        </p:attrNameLst>
                                      </p:cBhvr>
                                      <p:tavLst>
                                        <p:tav tm="0">
                                          <p:val>
                                            <p:strVal val="#ppt_y+.06"/>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550"/>
                                        <p:tgtEl>
                                          <p:spTgt spid="24"/>
                                        </p:tgtEl>
                                      </p:cBhvr>
                                    </p:animEffect>
                                    <p:anim calcmode="lin" valueType="num">
                                      <p:cBhvr additive="base">
                                        <p:cTn id="106" dur="550" fill="hold"/>
                                        <p:tgtEl>
                                          <p:spTgt spid="24"/>
                                        </p:tgtEl>
                                        <p:attrNameLst>
                                          <p:attrName>ppt_x</p:attrName>
                                        </p:attrNameLst>
                                      </p:cBhvr>
                                      <p:tavLst>
                                        <p:tav tm="0">
                                          <p:val>
                                            <p:strVal val="#ppt_x"/>
                                          </p:val>
                                        </p:tav>
                                        <p:tav tm="100000">
                                          <p:val>
                                            <p:strVal val="#ppt_x"/>
                                          </p:val>
                                        </p:tav>
                                      </p:tavLst>
                                    </p:anim>
                                    <p:anim calcmode="lin" valueType="num">
                                      <p:cBhvr additive="base">
                                        <p:cTn id="107" dur="550" fill="hold"/>
                                        <p:tgtEl>
                                          <p:spTgt spid="24"/>
                                        </p:tgtEl>
                                        <p:attrNameLst>
                                          <p:attrName>ppt_y</p:attrName>
                                        </p:attrNameLst>
                                      </p:cBhvr>
                                      <p:tavLst>
                                        <p:tav tm="0">
                                          <p:val>
                                            <p:strVal val="#ppt_y+.06"/>
                                          </p:val>
                                        </p:tav>
                                        <p:tav tm="100000">
                                          <p:val>
                                            <p:strVal val="#ppt_y"/>
                                          </p:val>
                                        </p:tav>
                                      </p:tavLst>
                                    </p:anim>
                                  </p:childTnLst>
                                </p:cTn>
                              </p:par>
                            </p:childTnLst>
                          </p:cTn>
                        </p:par>
                        <p:par>
                          <p:cTn id="139" fill="hold">
                            <p:stCondLst>
                              <p:cond delay="1815"/>
                            </p:stCondLst>
                            <p:childTnLst>
                              <p:par>
                                <p:cTn id="108" presetID="42" presetClass="entr" presetSubtype="0" fill="hold" grpId="0" nodeType="with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550"/>
                                        <p:tgtEl>
                                          <p:spTgt spid="25"/>
                                        </p:tgtEl>
                                      </p:cBhvr>
                                    </p:animEffect>
                                    <p:anim calcmode="lin" valueType="num">
                                      <p:cBhvr additive="base">
                                        <p:cTn id="111" dur="550" fill="hold"/>
                                        <p:tgtEl>
                                          <p:spTgt spid="25"/>
                                        </p:tgtEl>
                                        <p:attrNameLst>
                                          <p:attrName>ppt_x</p:attrName>
                                        </p:attrNameLst>
                                      </p:cBhvr>
                                      <p:tavLst>
                                        <p:tav tm="0">
                                          <p:val>
                                            <p:strVal val="#ppt_x"/>
                                          </p:val>
                                        </p:tav>
                                        <p:tav tm="100000">
                                          <p:val>
                                            <p:strVal val="#ppt_x"/>
                                          </p:val>
                                        </p:tav>
                                      </p:tavLst>
                                    </p:anim>
                                    <p:anim calcmode="lin" valueType="num">
                                      <p:cBhvr additive="base">
                                        <p:cTn id="112" dur="550" fill="hold"/>
                                        <p:tgtEl>
                                          <p:spTgt spid="25"/>
                                        </p:tgtEl>
                                        <p:attrNameLst>
                                          <p:attrName>ppt_y</p:attrName>
                                        </p:attrNameLst>
                                      </p:cBhvr>
                                      <p:tavLst>
                                        <p:tav tm="0">
                                          <p:val>
                                            <p:strVal val="#ppt_y+.06"/>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550"/>
                                        <p:tgtEl>
                                          <p:spTgt spid="26"/>
                                        </p:tgtEl>
                                      </p:cBhvr>
                                    </p:animEffect>
                                    <p:anim calcmode="lin" valueType="num">
                                      <p:cBhvr additive="base">
                                        <p:cTn id="116" dur="550" fill="hold"/>
                                        <p:tgtEl>
                                          <p:spTgt spid="26"/>
                                        </p:tgtEl>
                                        <p:attrNameLst>
                                          <p:attrName>ppt_x</p:attrName>
                                        </p:attrNameLst>
                                      </p:cBhvr>
                                      <p:tavLst>
                                        <p:tav tm="0">
                                          <p:val>
                                            <p:strVal val="#ppt_x"/>
                                          </p:val>
                                        </p:tav>
                                        <p:tav tm="100000">
                                          <p:val>
                                            <p:strVal val="#ppt_x"/>
                                          </p:val>
                                        </p:tav>
                                      </p:tavLst>
                                    </p:anim>
                                    <p:anim calcmode="lin" valueType="num">
                                      <p:cBhvr additive="base">
                                        <p:cTn id="117" dur="550" fill="hold"/>
                                        <p:tgtEl>
                                          <p:spTgt spid="26"/>
                                        </p:tgtEl>
                                        <p:attrNameLst>
                                          <p:attrName>ppt_y</p:attrName>
                                        </p:attrNameLst>
                                      </p:cBhvr>
                                      <p:tavLst>
                                        <p:tav tm="0">
                                          <p:val>
                                            <p:strVal val="#ppt_y+.06"/>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550"/>
                                        <p:tgtEl>
                                          <p:spTgt spid="27"/>
                                        </p:tgtEl>
                                      </p:cBhvr>
                                    </p:animEffect>
                                    <p:anim calcmode="lin" valueType="num">
                                      <p:cBhvr additive="base">
                                        <p:cTn id="121" dur="550" fill="hold"/>
                                        <p:tgtEl>
                                          <p:spTgt spid="27"/>
                                        </p:tgtEl>
                                        <p:attrNameLst>
                                          <p:attrName>ppt_x</p:attrName>
                                        </p:attrNameLst>
                                      </p:cBhvr>
                                      <p:tavLst>
                                        <p:tav tm="0">
                                          <p:val>
                                            <p:strVal val="#ppt_x"/>
                                          </p:val>
                                        </p:tav>
                                        <p:tav tm="100000">
                                          <p:val>
                                            <p:strVal val="#ppt_x"/>
                                          </p:val>
                                        </p:tav>
                                      </p:tavLst>
                                    </p:anim>
                                    <p:anim calcmode="lin" valueType="num">
                                      <p:cBhvr additive="base">
                                        <p:cTn id="122" dur="550" fill="hold"/>
                                        <p:tgtEl>
                                          <p:spTgt spid="27"/>
                                        </p:tgtEl>
                                        <p:attrNameLst>
                                          <p:attrName>ppt_y</p:attrName>
                                        </p:attrNameLst>
                                      </p:cBhvr>
                                      <p:tavLst>
                                        <p:tav tm="0">
                                          <p:val>
                                            <p:strVal val="#ppt_y+.06"/>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550"/>
                                        <p:tgtEl>
                                          <p:spTgt spid="28"/>
                                        </p:tgtEl>
                                      </p:cBhvr>
                                    </p:animEffect>
                                    <p:anim calcmode="lin" valueType="num">
                                      <p:cBhvr additive="base">
                                        <p:cTn id="126" dur="550" fill="hold"/>
                                        <p:tgtEl>
                                          <p:spTgt spid="28"/>
                                        </p:tgtEl>
                                        <p:attrNameLst>
                                          <p:attrName>ppt_x</p:attrName>
                                        </p:attrNameLst>
                                      </p:cBhvr>
                                      <p:tavLst>
                                        <p:tav tm="0">
                                          <p:val>
                                            <p:strVal val="#ppt_x"/>
                                          </p:val>
                                        </p:tav>
                                        <p:tav tm="100000">
                                          <p:val>
                                            <p:strVal val="#ppt_x"/>
                                          </p:val>
                                        </p:tav>
                                      </p:tavLst>
                                    </p:anim>
                                    <p:anim calcmode="lin" valueType="num">
                                      <p:cBhvr additive="base">
                                        <p:cTn id="127" dur="550" fill="hold"/>
                                        <p:tgtEl>
                                          <p:spTgt spid="28"/>
                                        </p:tgtEl>
                                        <p:attrNameLst>
                                          <p:attrName>ppt_y</p:attrName>
                                        </p:attrNameLst>
                                      </p:cBhvr>
                                      <p:tavLst>
                                        <p:tav tm="0">
                                          <p:val>
                                            <p:strVal val="#ppt_y+.06"/>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50"/>
                                        <p:tgtEl>
                                          <p:spTgt spid="29"/>
                                        </p:tgtEl>
                                      </p:cBhvr>
                                    </p:animEffect>
                                    <p:anim calcmode="lin" valueType="num">
                                      <p:cBhvr additive="base">
                                        <p:cTn id="131" dur="550" fill="hold"/>
                                        <p:tgtEl>
                                          <p:spTgt spid="29"/>
                                        </p:tgtEl>
                                        <p:attrNameLst>
                                          <p:attrName>ppt_x</p:attrName>
                                        </p:attrNameLst>
                                      </p:cBhvr>
                                      <p:tavLst>
                                        <p:tav tm="0">
                                          <p:val>
                                            <p:strVal val="#ppt_x"/>
                                          </p:val>
                                        </p:tav>
                                        <p:tav tm="100000">
                                          <p:val>
                                            <p:strVal val="#ppt_x"/>
                                          </p:val>
                                        </p:tav>
                                      </p:tavLst>
                                    </p:anim>
                                    <p:anim calcmode="lin" valueType="num">
                                      <p:cBhvr additive="base">
                                        <p:cTn id="132" dur="550" fill="hold"/>
                                        <p:tgtEl>
                                          <p:spTgt spid="2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OUR APPROACH</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We simulated 7,858 attempts, one visit at a time</a:t>
            </a:r>
            <a:endParaRPr lang="en-US" sz="3400" dirty="0"/>
          </a:p>
        </p:txBody>
      </p:sp>
      <p:sp>
        <p:nvSpPr>
          <p:cNvPr id="4" name="a01_zoom_stat0"/>
          <p:cNvSpPr/>
          <p:nvPr/>
        </p:nvSpPr>
        <p:spPr>
          <a:xfrm>
            <a:off x="548640" y="1600200"/>
            <a:ext cx="3474720" cy="1097280"/>
          </a:xfrm>
          <a:prstGeom prst="roundRect">
            <a:avLst>
              <a:gd name="adj" fmla="val 10000"/>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5" name="a01_zoom_statIcon0_c"/>
          <p:cNvSpPr/>
          <p:nvPr/>
        </p:nvSpPr>
        <p:spPr>
          <a:xfrm>
            <a:off x="822960" y="1847088"/>
            <a:ext cx="603504" cy="603504"/>
          </a:xfrm>
          <a:prstGeom prst="ellipse">
            <a:avLst/>
          </a:prstGeom>
          <a:solidFill>
            <a:schemeClr val="accent2"/>
          </a:solidFill>
          <a:ln/>
        </p:spPr>
      </p:sp>
      <p:pic>
        <p:nvPicPr>
          <p:cNvPr id="6" name="a01_zoom_statIcon0_i" descr="preencoded.png">    </p:cNvPr>
          <p:cNvPicPr>
            <a:picLocks noChangeAspect="1"/>
          </p:cNvPicPr>
          <p:nvPr/>
        </p:nvPicPr>
        <p:blipFill>
          <a:blip r:embed="rId1"/>
          <a:stretch>
            <a:fillRect/>
          </a:stretch>
        </p:blipFill>
        <p:spPr>
          <a:xfrm>
            <a:off x="967801" y="1991929"/>
            <a:ext cx="313822" cy="313822"/>
          </a:xfrm>
          <a:prstGeom prst="rect">
            <a:avLst/>
          </a:prstGeom>
        </p:spPr>
      </p:pic>
      <p:sp>
        <p:nvSpPr>
          <p:cNvPr id="7" name="a01_zoom_statNum0"/>
          <p:cNvSpPr txBox="1"/>
          <p:nvPr/>
        </p:nvSpPr>
        <p:spPr>
          <a:xfrm>
            <a:off x="1600200" y="1691640"/>
            <a:ext cx="228600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2,000</a:t>
            </a:r>
            <a:endParaRPr lang="en-US" sz="3000" dirty="0"/>
          </a:p>
        </p:txBody>
      </p:sp>
      <p:sp>
        <p:nvSpPr>
          <p:cNvPr id="8" name="a01_zoom_statLbl0"/>
          <p:cNvSpPr txBox="1"/>
          <p:nvPr/>
        </p:nvSpPr>
        <p:spPr>
          <a:xfrm>
            <a:off x="1600200" y="2240280"/>
            <a:ext cx="2286000" cy="320040"/>
          </a:xfrm>
          <a:prstGeom prst="rect">
            <a:avLst/>
          </a:prstGeom>
          <a:noFill/>
          <a:ln/>
        </p:spPr>
        <p:txBody>
          <a:bodyPr wrap="square" lIns="0" tIns="0" rIns="0" bIns="0" rtlCol="0" anchor="t"/>
          <a:lstStyle/>
          <a:p>
            <a:pPr indent="0" marL="0">
              <a:buNone/>
            </a:pPr>
            <a:r>
              <a:rPr lang="en-US" sz="1400" dirty="0">
                <a:solidFill>
                  <a:schemeClr val="accent5"/>
                </a:solidFill>
              </a:rPr>
              <a:t>invented beneficiaries</a:t>
            </a:r>
            <a:endParaRPr lang="en-US" sz="1400" dirty="0"/>
          </a:p>
        </p:txBody>
      </p:sp>
      <p:sp>
        <p:nvSpPr>
          <p:cNvPr id="9" name="a02_zoom_stat1"/>
          <p:cNvSpPr/>
          <p:nvPr/>
        </p:nvSpPr>
        <p:spPr>
          <a:xfrm>
            <a:off x="4297680" y="1600200"/>
            <a:ext cx="3474720" cy="1097280"/>
          </a:xfrm>
          <a:prstGeom prst="roundRect">
            <a:avLst>
              <a:gd name="adj" fmla="val 10000"/>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0" name="a02_zoom_statIcon1_c"/>
          <p:cNvSpPr/>
          <p:nvPr/>
        </p:nvSpPr>
        <p:spPr>
          <a:xfrm>
            <a:off x="4572000" y="1847088"/>
            <a:ext cx="603504" cy="603504"/>
          </a:xfrm>
          <a:prstGeom prst="ellipse">
            <a:avLst/>
          </a:prstGeom>
          <a:solidFill>
            <a:schemeClr val="accent2"/>
          </a:solidFill>
          <a:ln/>
        </p:spPr>
      </p:sp>
      <p:pic>
        <p:nvPicPr>
          <p:cNvPr id="11" name="a02_zoom_statIcon1_i" descr="preencoded.png">    </p:cNvPr>
          <p:cNvPicPr>
            <a:picLocks noChangeAspect="1"/>
          </p:cNvPicPr>
          <p:nvPr/>
        </p:nvPicPr>
        <p:blipFill>
          <a:blip r:embed="rId2"/>
          <a:stretch>
            <a:fillRect/>
          </a:stretch>
        </p:blipFill>
        <p:spPr>
          <a:xfrm>
            <a:off x="4716841" y="1991929"/>
            <a:ext cx="313822" cy="313822"/>
          </a:xfrm>
          <a:prstGeom prst="rect">
            <a:avLst/>
          </a:prstGeom>
        </p:spPr>
      </p:pic>
      <p:sp>
        <p:nvSpPr>
          <p:cNvPr id="12" name="a02_zoom_statNum1"/>
          <p:cNvSpPr txBox="1"/>
          <p:nvPr/>
        </p:nvSpPr>
        <p:spPr>
          <a:xfrm>
            <a:off x="5349240" y="1691640"/>
            <a:ext cx="228600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6,000</a:t>
            </a:r>
            <a:endParaRPr lang="en-US" sz="3000" dirty="0"/>
          </a:p>
        </p:txBody>
      </p:sp>
      <p:sp>
        <p:nvSpPr>
          <p:cNvPr id="13" name="a02_zoom_statLbl1"/>
          <p:cNvSpPr txBox="1"/>
          <p:nvPr/>
        </p:nvSpPr>
        <p:spPr>
          <a:xfrm>
            <a:off x="5349240" y="2240280"/>
            <a:ext cx="2286000" cy="320040"/>
          </a:xfrm>
          <a:prstGeom prst="rect">
            <a:avLst/>
          </a:prstGeom>
          <a:noFill/>
          <a:ln/>
        </p:spPr>
        <p:txBody>
          <a:bodyPr wrap="square" lIns="0" tIns="0" rIns="0" bIns="0" rtlCol="0" anchor="t"/>
          <a:lstStyle/>
          <a:p>
            <a:pPr indent="0" marL="0">
              <a:buNone/>
            </a:pPr>
            <a:r>
              <a:rPr lang="en-US" sz="1400" dirty="0">
                <a:solidFill>
                  <a:schemeClr val="accent5"/>
                </a:solidFill>
              </a:rPr>
              <a:t>visits to a service point</a:t>
            </a:r>
            <a:endParaRPr lang="en-US" sz="1400" dirty="0"/>
          </a:p>
        </p:txBody>
      </p:sp>
      <p:sp>
        <p:nvSpPr>
          <p:cNvPr id="14" name="a03_zoom_stat2"/>
          <p:cNvSpPr/>
          <p:nvPr/>
        </p:nvSpPr>
        <p:spPr>
          <a:xfrm>
            <a:off x="8046720" y="1600200"/>
            <a:ext cx="3474720" cy="1097280"/>
          </a:xfrm>
          <a:prstGeom prst="roundRect">
            <a:avLst>
              <a:gd name="adj" fmla="val 10000"/>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5" name="a03_zoom_statIcon2_c"/>
          <p:cNvSpPr/>
          <p:nvPr/>
        </p:nvSpPr>
        <p:spPr>
          <a:xfrm>
            <a:off x="8321040" y="1847088"/>
            <a:ext cx="603504" cy="603504"/>
          </a:xfrm>
          <a:prstGeom prst="ellipse">
            <a:avLst/>
          </a:prstGeom>
          <a:solidFill>
            <a:schemeClr val="accent2"/>
          </a:solidFill>
          <a:ln/>
        </p:spPr>
      </p:sp>
      <p:pic>
        <p:nvPicPr>
          <p:cNvPr id="16" name="a03_zoom_statIcon2_i" descr="preencoded.png">    </p:cNvPr>
          <p:cNvPicPr>
            <a:picLocks noChangeAspect="1"/>
          </p:cNvPicPr>
          <p:nvPr/>
        </p:nvPicPr>
        <p:blipFill>
          <a:blip r:embed="rId3"/>
          <a:stretch>
            <a:fillRect/>
          </a:stretch>
        </p:blipFill>
        <p:spPr>
          <a:xfrm>
            <a:off x="8465881" y="1991929"/>
            <a:ext cx="313822" cy="313822"/>
          </a:xfrm>
          <a:prstGeom prst="rect">
            <a:avLst/>
          </a:prstGeom>
        </p:spPr>
      </p:pic>
      <p:sp>
        <p:nvSpPr>
          <p:cNvPr id="17" name="a03_zoom_statNum2"/>
          <p:cNvSpPr txBox="1"/>
          <p:nvPr/>
        </p:nvSpPr>
        <p:spPr>
          <a:xfrm>
            <a:off x="9098280" y="1691640"/>
            <a:ext cx="228600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7,858</a:t>
            </a:r>
            <a:endParaRPr lang="en-US" sz="3000" dirty="0"/>
          </a:p>
        </p:txBody>
      </p:sp>
      <p:sp>
        <p:nvSpPr>
          <p:cNvPr id="18" name="a03_zoom_statLbl2"/>
          <p:cNvSpPr txBox="1"/>
          <p:nvPr/>
        </p:nvSpPr>
        <p:spPr>
          <a:xfrm>
            <a:off x="9098280" y="2240280"/>
            <a:ext cx="2286000" cy="320040"/>
          </a:xfrm>
          <a:prstGeom prst="rect">
            <a:avLst/>
          </a:prstGeom>
          <a:noFill/>
          <a:ln/>
        </p:spPr>
        <p:txBody>
          <a:bodyPr wrap="square" lIns="0" tIns="0" rIns="0" bIns="0" rtlCol="0" anchor="t"/>
          <a:lstStyle/>
          <a:p>
            <a:pPr indent="0" marL="0">
              <a:buNone/>
            </a:pPr>
            <a:r>
              <a:rPr lang="en-US" sz="1400" dirty="0">
                <a:solidFill>
                  <a:schemeClr val="accent5"/>
                </a:solidFill>
              </a:rPr>
              <a:t>authentication attempts</a:t>
            </a:r>
            <a:endParaRPr lang="en-US" sz="1400" dirty="0"/>
          </a:p>
        </p:txBody>
      </p:sp>
      <p:sp>
        <p:nvSpPr>
          <p:cNvPr id="19" name="a04_zoom_flow0_c"/>
          <p:cNvSpPr/>
          <p:nvPr/>
        </p:nvSpPr>
        <p:spPr>
          <a:xfrm>
            <a:off x="1444752" y="3017520"/>
            <a:ext cx="777240" cy="777240"/>
          </a:xfrm>
          <a:prstGeom prst="ellipse">
            <a:avLst/>
          </a:prstGeom>
          <a:solidFill>
            <a:schemeClr val="accent1"/>
          </a:solidFill>
          <a:ln/>
        </p:spPr>
      </p:sp>
      <p:pic>
        <p:nvPicPr>
          <p:cNvPr id="20" name="a04_zoom_flow0_i" descr="preencoded.png">    </p:cNvPr>
          <p:cNvPicPr>
            <a:picLocks noChangeAspect="1"/>
          </p:cNvPicPr>
          <p:nvPr/>
        </p:nvPicPr>
        <p:blipFill>
          <a:blip r:embed="rId4"/>
          <a:stretch>
            <a:fillRect/>
          </a:stretch>
        </p:blipFill>
        <p:spPr>
          <a:xfrm>
            <a:off x="1631290" y="3204058"/>
            <a:ext cx="404165" cy="404165"/>
          </a:xfrm>
          <a:prstGeom prst="rect">
            <a:avLst/>
          </a:prstGeom>
        </p:spPr>
      </p:pic>
      <p:sp>
        <p:nvSpPr>
          <p:cNvPr id="21" name="a04_fade_flowT0"/>
          <p:cNvSpPr txBox="1"/>
          <p:nvPr/>
        </p:nvSpPr>
        <p:spPr>
          <a:xfrm>
            <a:off x="548640" y="3886200"/>
            <a:ext cx="2560320" cy="365760"/>
          </a:xfrm>
          <a:prstGeom prst="rect">
            <a:avLst/>
          </a:prstGeom>
          <a:noFill/>
          <a:ln/>
        </p:spPr>
        <p:txBody>
          <a:bodyPr wrap="square" lIns="0" tIns="0" rIns="0" bIns="0" rtlCol="0" anchor="t"/>
          <a:lstStyle/>
          <a:p>
            <a:pPr algn="ctr" indent="0" marL="0">
              <a:buNone/>
            </a:pPr>
            <a:r>
              <a:rPr lang="en-US" sz="1800" b="1" dirty="0">
                <a:solidFill>
                  <a:schemeClr val="accent1"/>
                </a:solidFill>
              </a:rPr>
              <a:t>01  Scan</a:t>
            </a:r>
            <a:endParaRPr lang="en-US" sz="1800" dirty="0"/>
          </a:p>
        </p:txBody>
      </p:sp>
      <p:sp>
        <p:nvSpPr>
          <p:cNvPr id="22" name="a04_fade_flowD0"/>
          <p:cNvSpPr txBox="1"/>
          <p:nvPr/>
        </p:nvSpPr>
        <p:spPr>
          <a:xfrm>
            <a:off x="640080" y="4279392"/>
            <a:ext cx="2377440" cy="777240"/>
          </a:xfrm>
          <a:prstGeom prst="rect">
            <a:avLst/>
          </a:prstGeom>
          <a:noFill/>
          <a:ln/>
        </p:spPr>
        <p:txBody>
          <a:bodyPr wrap="square" lIns="0" tIns="0" rIns="0" bIns="0" rtlCol="0" anchor="t"/>
          <a:lstStyle/>
          <a:p>
            <a:pPr algn="ctr" indent="0" marL="0">
              <a:buNone/>
            </a:pPr>
            <a:r>
              <a:rPr lang="en-US" sz="1400" dirty="0">
                <a:solidFill>
                  <a:schemeClr val="accent5"/>
                </a:solidFill>
              </a:rPr>
              <a:t>Quality scored 0 to 100; below 40 is rejected.</a:t>
            </a:r>
            <a:endParaRPr lang="en-US" sz="1400" dirty="0"/>
          </a:p>
        </p:txBody>
      </p:sp>
      <p:sp>
        <p:nvSpPr>
          <p:cNvPr id="23" name="a05_wipe_arrow0"/>
          <p:cNvSpPr/>
          <p:nvPr/>
        </p:nvSpPr>
        <p:spPr>
          <a:xfrm>
            <a:off x="2423160" y="3406140"/>
            <a:ext cx="1691640" cy="0"/>
          </a:xfrm>
          <a:prstGeom prst="line">
            <a:avLst/>
          </a:prstGeom>
          <a:noFill/>
          <a:ln w="38100">
            <a:solidFill>
              <a:schemeClr val="accent2"/>
            </a:solidFill>
            <a:prstDash val="solid"/>
            <a:tailEnd type="triangle"/>
          </a:ln>
        </p:spPr>
      </p:sp>
      <p:sp>
        <p:nvSpPr>
          <p:cNvPr id="24" name="a06_zoom_flow1_c"/>
          <p:cNvSpPr/>
          <p:nvPr/>
        </p:nvSpPr>
        <p:spPr>
          <a:xfrm>
            <a:off x="4325112" y="3017520"/>
            <a:ext cx="777240" cy="777240"/>
          </a:xfrm>
          <a:prstGeom prst="ellipse">
            <a:avLst/>
          </a:prstGeom>
          <a:solidFill>
            <a:schemeClr val="accent1"/>
          </a:solidFill>
          <a:ln/>
        </p:spPr>
      </p:sp>
      <p:pic>
        <p:nvPicPr>
          <p:cNvPr id="25" name="a06_zoom_flow1_i" descr="preencoded.png">    </p:cNvPr>
          <p:cNvPicPr>
            <a:picLocks noChangeAspect="1"/>
          </p:cNvPicPr>
          <p:nvPr/>
        </p:nvPicPr>
        <p:blipFill>
          <a:blip r:embed="rId5"/>
          <a:stretch>
            <a:fillRect/>
          </a:stretch>
        </p:blipFill>
        <p:spPr>
          <a:xfrm>
            <a:off x="4511650" y="3204058"/>
            <a:ext cx="404165" cy="404165"/>
          </a:xfrm>
          <a:prstGeom prst="rect">
            <a:avLst/>
          </a:prstGeom>
        </p:spPr>
      </p:pic>
      <p:sp>
        <p:nvSpPr>
          <p:cNvPr id="26" name="a06_fade_flowT1"/>
          <p:cNvSpPr txBox="1"/>
          <p:nvPr/>
        </p:nvSpPr>
        <p:spPr>
          <a:xfrm>
            <a:off x="3429000" y="3886200"/>
            <a:ext cx="2560320" cy="365760"/>
          </a:xfrm>
          <a:prstGeom prst="rect">
            <a:avLst/>
          </a:prstGeom>
          <a:noFill/>
          <a:ln/>
        </p:spPr>
        <p:txBody>
          <a:bodyPr wrap="square" lIns="0" tIns="0" rIns="0" bIns="0" rtlCol="0" anchor="t"/>
          <a:lstStyle/>
          <a:p>
            <a:pPr algn="ctr" indent="0" marL="0">
              <a:buNone/>
            </a:pPr>
            <a:r>
              <a:rPr lang="en-US" sz="1800" b="1" dirty="0">
                <a:solidFill>
                  <a:schemeClr val="accent1"/>
                </a:solidFill>
              </a:rPr>
              <a:t>02  Match</a:t>
            </a:r>
            <a:endParaRPr lang="en-US" sz="1800" dirty="0"/>
          </a:p>
        </p:txBody>
      </p:sp>
      <p:sp>
        <p:nvSpPr>
          <p:cNvPr id="27" name="a06_fade_flowD1"/>
          <p:cNvSpPr txBox="1"/>
          <p:nvPr/>
        </p:nvSpPr>
        <p:spPr>
          <a:xfrm>
            <a:off x="3520440" y="4279392"/>
            <a:ext cx="2377440" cy="777240"/>
          </a:xfrm>
          <a:prstGeom prst="rect">
            <a:avLst/>
          </a:prstGeom>
          <a:noFill/>
          <a:ln/>
        </p:spPr>
        <p:txBody>
          <a:bodyPr wrap="square" lIns="0" tIns="0" rIns="0" bIns="0" rtlCol="0" anchor="t"/>
          <a:lstStyle/>
          <a:p>
            <a:pPr algn="ctr" indent="0" marL="0">
              <a:buNone/>
            </a:pPr>
            <a:r>
              <a:rPr lang="en-US" sz="1400" dirty="0">
                <a:solidFill>
                  <a:schemeClr val="accent5"/>
                </a:solidFill>
              </a:rPr>
              <a:t>Compared with the stored template; the score must clear 0.60.</a:t>
            </a:r>
            <a:endParaRPr lang="en-US" sz="1400" dirty="0"/>
          </a:p>
        </p:txBody>
      </p:sp>
      <p:sp>
        <p:nvSpPr>
          <p:cNvPr id="28" name="a07_wipe_arrow1"/>
          <p:cNvSpPr/>
          <p:nvPr/>
        </p:nvSpPr>
        <p:spPr>
          <a:xfrm>
            <a:off x="5303520" y="3406140"/>
            <a:ext cx="1691640" cy="0"/>
          </a:xfrm>
          <a:prstGeom prst="line">
            <a:avLst/>
          </a:prstGeom>
          <a:noFill/>
          <a:ln w="38100">
            <a:solidFill>
              <a:schemeClr val="accent2"/>
            </a:solidFill>
            <a:prstDash val="solid"/>
            <a:tailEnd type="triangle"/>
          </a:ln>
        </p:spPr>
      </p:sp>
      <p:sp>
        <p:nvSpPr>
          <p:cNvPr id="29" name="a08_zoom_flow2_c"/>
          <p:cNvSpPr/>
          <p:nvPr/>
        </p:nvSpPr>
        <p:spPr>
          <a:xfrm>
            <a:off x="7205472" y="3017520"/>
            <a:ext cx="777240" cy="777240"/>
          </a:xfrm>
          <a:prstGeom prst="ellipse">
            <a:avLst/>
          </a:prstGeom>
          <a:solidFill>
            <a:schemeClr val="accent1"/>
          </a:solidFill>
          <a:ln/>
        </p:spPr>
      </p:sp>
      <p:pic>
        <p:nvPicPr>
          <p:cNvPr id="30" name="a08_zoom_flow2_i" descr="preencoded.png">    </p:cNvPr>
          <p:cNvPicPr>
            <a:picLocks noChangeAspect="1"/>
          </p:cNvPicPr>
          <p:nvPr/>
        </p:nvPicPr>
        <p:blipFill>
          <a:blip r:embed="rId6"/>
          <a:stretch>
            <a:fillRect/>
          </a:stretch>
        </p:blipFill>
        <p:spPr>
          <a:xfrm>
            <a:off x="7392010" y="3204058"/>
            <a:ext cx="404165" cy="404165"/>
          </a:xfrm>
          <a:prstGeom prst="rect">
            <a:avLst/>
          </a:prstGeom>
        </p:spPr>
      </p:pic>
      <p:sp>
        <p:nvSpPr>
          <p:cNvPr id="31" name="a08_fade_flowT2"/>
          <p:cNvSpPr txBox="1"/>
          <p:nvPr/>
        </p:nvSpPr>
        <p:spPr>
          <a:xfrm>
            <a:off x="6309360" y="3886200"/>
            <a:ext cx="2560320" cy="365760"/>
          </a:xfrm>
          <a:prstGeom prst="rect">
            <a:avLst/>
          </a:prstGeom>
          <a:noFill/>
          <a:ln/>
        </p:spPr>
        <p:txBody>
          <a:bodyPr wrap="square" lIns="0" tIns="0" rIns="0" bIns="0" rtlCol="0" anchor="t"/>
          <a:lstStyle/>
          <a:p>
            <a:pPr algn="ctr" indent="0" marL="0">
              <a:buNone/>
            </a:pPr>
            <a:r>
              <a:rPr lang="en-US" sz="1800" b="1" dirty="0">
                <a:solidFill>
                  <a:schemeClr val="accent1"/>
                </a:solidFill>
              </a:rPr>
              <a:t>03  Retry</a:t>
            </a:r>
            <a:endParaRPr lang="en-US" sz="1800" dirty="0"/>
          </a:p>
        </p:txBody>
      </p:sp>
      <p:sp>
        <p:nvSpPr>
          <p:cNvPr id="32" name="a08_fade_flowD2"/>
          <p:cNvSpPr txBox="1"/>
          <p:nvPr/>
        </p:nvSpPr>
        <p:spPr>
          <a:xfrm>
            <a:off x="6400800" y="4279392"/>
            <a:ext cx="2377440" cy="777240"/>
          </a:xfrm>
          <a:prstGeom prst="rect">
            <a:avLst/>
          </a:prstGeom>
          <a:noFill/>
          <a:ln/>
        </p:spPr>
        <p:txBody>
          <a:bodyPr wrap="square" lIns="0" tIns="0" rIns="0" bIns="0" rtlCol="0" anchor="t"/>
          <a:lstStyle/>
          <a:p>
            <a:pPr algn="ctr" indent="0" marL="0">
              <a:buNone/>
            </a:pPr>
            <a:r>
              <a:rPr lang="en-US" sz="1400" dirty="0">
                <a:solidFill>
                  <a:schemeClr val="accent5"/>
                </a:solidFill>
              </a:rPr>
              <a:t>Up to three attempts are allowed per visit.</a:t>
            </a:r>
            <a:endParaRPr lang="en-US" sz="1400" dirty="0"/>
          </a:p>
        </p:txBody>
      </p:sp>
      <p:sp>
        <p:nvSpPr>
          <p:cNvPr id="33" name="a09_wipe_arrow2"/>
          <p:cNvSpPr/>
          <p:nvPr/>
        </p:nvSpPr>
        <p:spPr>
          <a:xfrm>
            <a:off x="8183880" y="3406140"/>
            <a:ext cx="1691640" cy="0"/>
          </a:xfrm>
          <a:prstGeom prst="line">
            <a:avLst/>
          </a:prstGeom>
          <a:noFill/>
          <a:ln w="38100">
            <a:solidFill>
              <a:schemeClr val="accent2"/>
            </a:solidFill>
            <a:prstDash val="solid"/>
            <a:tailEnd type="triangle"/>
          </a:ln>
        </p:spPr>
      </p:sp>
      <p:sp>
        <p:nvSpPr>
          <p:cNvPr id="34" name="a10_zoom_flow3_c"/>
          <p:cNvSpPr/>
          <p:nvPr/>
        </p:nvSpPr>
        <p:spPr>
          <a:xfrm>
            <a:off x="10085832" y="3017520"/>
            <a:ext cx="777240" cy="777240"/>
          </a:xfrm>
          <a:prstGeom prst="ellipse">
            <a:avLst/>
          </a:prstGeom>
          <a:solidFill>
            <a:schemeClr val="accent3"/>
          </a:solidFill>
          <a:ln/>
        </p:spPr>
      </p:sp>
      <p:pic>
        <p:nvPicPr>
          <p:cNvPr id="35" name="a10_zoom_flow3_i" descr="preencoded.png">    </p:cNvPr>
          <p:cNvPicPr>
            <a:picLocks noChangeAspect="1"/>
          </p:cNvPicPr>
          <p:nvPr/>
        </p:nvPicPr>
        <p:blipFill>
          <a:blip r:embed="rId7"/>
          <a:stretch>
            <a:fillRect/>
          </a:stretch>
        </p:blipFill>
        <p:spPr>
          <a:xfrm>
            <a:off x="10272370" y="3204058"/>
            <a:ext cx="404165" cy="404165"/>
          </a:xfrm>
          <a:prstGeom prst="rect">
            <a:avLst/>
          </a:prstGeom>
        </p:spPr>
      </p:pic>
      <p:sp>
        <p:nvSpPr>
          <p:cNvPr id="36" name="a10_fade_flowT3"/>
          <p:cNvSpPr txBox="1"/>
          <p:nvPr/>
        </p:nvSpPr>
        <p:spPr>
          <a:xfrm>
            <a:off x="9189720" y="3886200"/>
            <a:ext cx="2560320" cy="365760"/>
          </a:xfrm>
          <a:prstGeom prst="rect">
            <a:avLst/>
          </a:prstGeom>
          <a:noFill/>
          <a:ln/>
        </p:spPr>
        <p:txBody>
          <a:bodyPr wrap="square" lIns="0" tIns="0" rIns="0" bIns="0" rtlCol="0" anchor="t"/>
          <a:lstStyle/>
          <a:p>
            <a:pPr algn="ctr" indent="0" marL="0">
              <a:buNone/>
            </a:pPr>
            <a:r>
              <a:rPr lang="en-US" sz="1800" b="1" dirty="0">
                <a:solidFill>
                  <a:schemeClr val="accent1"/>
                </a:solidFill>
              </a:rPr>
              <a:t>04  Decide</a:t>
            </a:r>
            <a:endParaRPr lang="en-US" sz="1800" dirty="0"/>
          </a:p>
        </p:txBody>
      </p:sp>
      <p:sp>
        <p:nvSpPr>
          <p:cNvPr id="37" name="a10_fade_flowD3"/>
          <p:cNvSpPr txBox="1"/>
          <p:nvPr/>
        </p:nvSpPr>
        <p:spPr>
          <a:xfrm>
            <a:off x="9281160" y="4279392"/>
            <a:ext cx="2377440" cy="777240"/>
          </a:xfrm>
          <a:prstGeom prst="rect">
            <a:avLst/>
          </a:prstGeom>
          <a:noFill/>
          <a:ln/>
        </p:spPr>
        <p:txBody>
          <a:bodyPr wrap="square" lIns="0" tIns="0" rIns="0" bIns="0" rtlCol="0" anchor="t"/>
          <a:lstStyle/>
          <a:p>
            <a:pPr algn="ctr" indent="0" marL="0">
              <a:buNone/>
            </a:pPr>
            <a:r>
              <a:rPr lang="en-US" sz="1400" dirty="0">
                <a:solidFill>
                  <a:schemeClr val="accent5"/>
                </a:solidFill>
              </a:rPr>
              <a:t>If every attempt fails, the service is denied.</a:t>
            </a:r>
            <a:endParaRPr lang="en-US" sz="1400" dirty="0"/>
          </a:p>
        </p:txBody>
      </p:sp>
      <p:sp>
        <p:nvSpPr>
          <p:cNvPr id="38" name="a11_rise_privacy"/>
          <p:cNvSpPr/>
          <p:nvPr/>
        </p:nvSpPr>
        <p:spPr>
          <a:xfrm>
            <a:off x="548640" y="5257800"/>
            <a:ext cx="11064240" cy="822960"/>
          </a:xfrm>
          <a:prstGeom prst="roundRect">
            <a:avLst>
              <a:gd name="adj" fmla="val 13333"/>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39" name="a11_rise_privIcon_c"/>
          <p:cNvSpPr/>
          <p:nvPr/>
        </p:nvSpPr>
        <p:spPr>
          <a:xfrm>
            <a:off x="777240" y="5394960"/>
            <a:ext cx="548640" cy="548640"/>
          </a:xfrm>
          <a:prstGeom prst="ellipse">
            <a:avLst/>
          </a:prstGeom>
          <a:solidFill>
            <a:schemeClr val="accent4"/>
          </a:solidFill>
          <a:ln/>
        </p:spPr>
      </p:sp>
      <p:pic>
        <p:nvPicPr>
          <p:cNvPr id="40" name="a11_rise_privIcon_i" descr="preencoded.png">    </p:cNvPr>
          <p:cNvPicPr>
            <a:picLocks noChangeAspect="1"/>
          </p:cNvPicPr>
          <p:nvPr/>
        </p:nvPicPr>
        <p:blipFill>
          <a:blip r:embed="rId8"/>
          <a:stretch>
            <a:fillRect/>
          </a:stretch>
        </p:blipFill>
        <p:spPr>
          <a:xfrm>
            <a:off x="908914" y="5526634"/>
            <a:ext cx="285293" cy="285293"/>
          </a:xfrm>
          <a:prstGeom prst="rect">
            <a:avLst/>
          </a:prstGeom>
        </p:spPr>
      </p:pic>
      <p:sp>
        <p:nvSpPr>
          <p:cNvPr id="41" name="a11_rise_privText"/>
          <p:cNvSpPr txBox="1"/>
          <p:nvPr/>
        </p:nvSpPr>
        <p:spPr>
          <a:xfrm>
            <a:off x="1508760" y="5303520"/>
            <a:ext cx="9921240" cy="731520"/>
          </a:xfrm>
          <a:prstGeom prst="rect">
            <a:avLst/>
          </a:prstGeom>
          <a:noFill/>
          <a:ln/>
        </p:spPr>
        <p:txBody>
          <a:bodyPr wrap="square" lIns="0" tIns="0" rIns="0" bIns="0" rtlCol="0" anchor="ctr"/>
          <a:lstStyle/>
          <a:p>
            <a:pPr indent="0" marL="0">
              <a:buNone/>
            </a:pPr>
            <a:r>
              <a:rPr lang="en-US" sz="1500" b="1" dirty="0">
                <a:solidFill>
                  <a:schemeClr val="accent4"/>
                </a:solidFill>
              </a:rPr>
              <a:t>Privacy by design.  </a:t>
            </a:r>
            <a:pPr indent="0" marL="0">
              <a:buNone/>
            </a:pPr>
            <a:r>
              <a:rPr lang="en-US" sz="1400" dirty="0">
                <a:solidFill>
                  <a:schemeClr val="tx1"/>
                </a:solidFill>
              </a:rPr>
              <a:t>No real Aadhaar numbers or biometrics are used. Every bias is a documented assumption in a seeded generator, so we can check that fairness tests find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182" fill="hold">
                      <p:stCondLst>
                        <p:cond delay="indefinite"/>
                        <p:cond evt="onBegin" delay="0">
                          <p:tn val="2"/>
                        </p:cond>
                      </p:stCondLst>
                      <p:childTnLst>
                        <p:par>
                          <p:cTn id="171"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anim calcmode="lin" valueType="num">
                                      <p:cBhvr additive="base">
                                        <p:cTn id="6" dur="450" fill="hold"/>
                                        <p:tgtEl>
                                          <p:spTgt spid="4"/>
                                        </p:tgtEl>
                                        <p:attrNameLst>
                                          <p:attrName>ppt_w</p:attrName>
                                        </p:attrNameLst>
                                      </p:cBhvr>
                                      <p:tavLst>
                                        <p:tav tm="0">
                                          <p:val>
                                            <p:strVal val="#ppt_w*0.6"/>
                                          </p:val>
                                        </p:tav>
                                        <p:tav tm="100000">
                                          <p:val>
                                            <p:strVal val="#ppt_w"/>
                                          </p:val>
                                        </p:tav>
                                      </p:tavLst>
                                    </p:anim>
                                    <p:anim calcmode="lin" valueType="num">
                                      <p:cBhvr additive="base">
                                        <p:cTn id="7" dur="450" fill="hold"/>
                                        <p:tgtEl>
                                          <p:spTgt spid="4"/>
                                        </p:tgtEl>
                                        <p:attrNameLst>
                                          <p:attrName>ppt_h</p:attrName>
                                        </p:attrNameLst>
                                      </p:cBhvr>
                                      <p:tavLst>
                                        <p:tav tm="0">
                                          <p:val>
                                            <p:strVal val="#ppt_h*0.6"/>
                                          </p:val>
                                        </p:tav>
                                        <p:tav tm="100000">
                                          <p:val>
                                            <p:strVal val="#ppt_h"/>
                                          </p:val>
                                        </p:tav>
                                      </p:tavLst>
                                    </p:anim>
                                  </p:childTnLst>
                                </p:cTn>
                              </p:par>
                              <p:par>
                                <p:cTn id="8" presetID="53"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 calcmode="lin" valueType="num">
                                      <p:cBhvr additive="base">
                                        <p:cTn id="11" dur="450" fill="hold"/>
                                        <p:tgtEl>
                                          <p:spTgt spid="5"/>
                                        </p:tgtEl>
                                        <p:attrNameLst>
                                          <p:attrName>ppt_w</p:attrName>
                                        </p:attrNameLst>
                                      </p:cBhvr>
                                      <p:tavLst>
                                        <p:tav tm="0">
                                          <p:val>
                                            <p:strVal val="#ppt_w*0.6"/>
                                          </p:val>
                                        </p:tav>
                                        <p:tav tm="100000">
                                          <p:val>
                                            <p:strVal val="#ppt_w"/>
                                          </p:val>
                                        </p:tav>
                                      </p:tavLst>
                                    </p:anim>
                                    <p:anim calcmode="lin" valueType="num">
                                      <p:cBhvr additive="base">
                                        <p:cTn id="12" dur="450" fill="hold"/>
                                        <p:tgtEl>
                                          <p:spTgt spid="5"/>
                                        </p:tgtEl>
                                        <p:attrNameLst>
                                          <p:attrName>ppt_h</p:attrName>
                                        </p:attrNameLst>
                                      </p:cBhvr>
                                      <p:tavLst>
                                        <p:tav tm="0">
                                          <p:val>
                                            <p:strVal val="#ppt_h*0.6"/>
                                          </p:val>
                                        </p:tav>
                                        <p:tav tm="100000">
                                          <p:val>
                                            <p:strVal val="#ppt_h"/>
                                          </p:val>
                                        </p:tav>
                                      </p:tavLst>
                                    </p:anim>
                                  </p:childTnLst>
                                </p:cTn>
                              </p:par>
                              <p:par>
                                <p:cTn id="13" presetID="53"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anim calcmode="lin" valueType="num">
                                      <p:cBhvr additive="base">
                                        <p:cTn id="16" dur="450" fill="hold"/>
                                        <p:tgtEl>
                                          <p:spTgt spid="6"/>
                                        </p:tgtEl>
                                        <p:attrNameLst>
                                          <p:attrName>ppt_w</p:attrName>
                                        </p:attrNameLst>
                                      </p:cBhvr>
                                      <p:tavLst>
                                        <p:tav tm="0">
                                          <p:val>
                                            <p:strVal val="#ppt_w*0.6"/>
                                          </p:val>
                                        </p:tav>
                                        <p:tav tm="100000">
                                          <p:val>
                                            <p:strVal val="#ppt_w"/>
                                          </p:val>
                                        </p:tav>
                                      </p:tavLst>
                                    </p:anim>
                                    <p:anim calcmode="lin" valueType="num">
                                      <p:cBhvr additive="base">
                                        <p:cTn id="17" dur="450" fill="hold"/>
                                        <p:tgtEl>
                                          <p:spTgt spid="6"/>
                                        </p:tgtEl>
                                        <p:attrNameLst>
                                          <p:attrName>ppt_h</p:attrName>
                                        </p:attrNameLst>
                                      </p:cBhvr>
                                      <p:tavLst>
                                        <p:tav tm="0">
                                          <p:val>
                                            <p:strVal val="#ppt_h*0.6"/>
                                          </p:val>
                                        </p:tav>
                                        <p:tav tm="100000">
                                          <p:val>
                                            <p:strVal val="#ppt_h"/>
                                          </p:val>
                                        </p:tav>
                                      </p:tavLst>
                                    </p:anim>
                                  </p:childTnLst>
                                </p:cTn>
                              </p:par>
                              <p:par>
                                <p:cTn id="18" presetID="53" presetClass="entr" presetSubtype="16"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anim calcmode="lin" valueType="num">
                                      <p:cBhvr additive="base">
                                        <p:cTn id="21" dur="450" fill="hold"/>
                                        <p:tgtEl>
                                          <p:spTgt spid="7"/>
                                        </p:tgtEl>
                                        <p:attrNameLst>
                                          <p:attrName>ppt_w</p:attrName>
                                        </p:attrNameLst>
                                      </p:cBhvr>
                                      <p:tavLst>
                                        <p:tav tm="0">
                                          <p:val>
                                            <p:strVal val="#ppt_w*0.6"/>
                                          </p:val>
                                        </p:tav>
                                        <p:tav tm="100000">
                                          <p:val>
                                            <p:strVal val="#ppt_w"/>
                                          </p:val>
                                        </p:tav>
                                      </p:tavLst>
                                    </p:anim>
                                    <p:anim calcmode="lin" valueType="num">
                                      <p:cBhvr additive="base">
                                        <p:cTn id="22" dur="450" fill="hold"/>
                                        <p:tgtEl>
                                          <p:spTgt spid="7"/>
                                        </p:tgtEl>
                                        <p:attrNameLst>
                                          <p:attrName>ppt_h</p:attrName>
                                        </p:attrNameLst>
                                      </p:cBhvr>
                                      <p:tavLst>
                                        <p:tav tm="0">
                                          <p:val>
                                            <p:strVal val="#ppt_h*0.6"/>
                                          </p:val>
                                        </p:tav>
                                        <p:tav tm="100000">
                                          <p:val>
                                            <p:strVal val="#ppt_h"/>
                                          </p:val>
                                        </p:tav>
                                      </p:tavLst>
                                    </p:anim>
                                  </p:childTnLst>
                                </p:cTn>
                              </p:par>
                              <p:par>
                                <p:cTn id="23" presetID="53" presetClass="entr" presetSubtype="16"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anim calcmode="lin" valueType="num">
                                      <p:cBhvr additive="base">
                                        <p:cTn id="26" dur="450" fill="hold"/>
                                        <p:tgtEl>
                                          <p:spTgt spid="8"/>
                                        </p:tgtEl>
                                        <p:attrNameLst>
                                          <p:attrName>ppt_w</p:attrName>
                                        </p:attrNameLst>
                                      </p:cBhvr>
                                      <p:tavLst>
                                        <p:tav tm="0">
                                          <p:val>
                                            <p:strVal val="#ppt_w*0.6"/>
                                          </p:val>
                                        </p:tav>
                                        <p:tav tm="100000">
                                          <p:val>
                                            <p:strVal val="#ppt_w"/>
                                          </p:val>
                                        </p:tav>
                                      </p:tavLst>
                                    </p:anim>
                                    <p:anim calcmode="lin" valueType="num">
                                      <p:cBhvr additive="base">
                                        <p:cTn id="27" dur="450" fill="hold"/>
                                        <p:tgtEl>
                                          <p:spTgt spid="8"/>
                                        </p:tgtEl>
                                        <p:attrNameLst>
                                          <p:attrName>ppt_h</p:attrName>
                                        </p:attrNameLst>
                                      </p:cBhvr>
                                      <p:tavLst>
                                        <p:tav tm="0">
                                          <p:val>
                                            <p:strVal val="#ppt_h*0.6"/>
                                          </p:val>
                                        </p:tav>
                                        <p:tav tm="100000">
                                          <p:val>
                                            <p:strVal val="#ppt_h"/>
                                          </p:val>
                                        </p:tav>
                                      </p:tavLst>
                                    </p:anim>
                                  </p:childTnLst>
                                </p:cTn>
                              </p:par>
                            </p:childTnLst>
                          </p:cTn>
                        </p:par>
                        <p:par>
                          <p:cTn id="172" fill="hold">
                            <p:stCondLst>
                              <p:cond delay="247"/>
                            </p:stCondLst>
                            <p:childTnLst>
                              <p:par>
                                <p:cTn id="28" presetID="53" presetClass="entr" presetSubtype="16"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50"/>
                                        <p:tgtEl>
                                          <p:spTgt spid="9"/>
                                        </p:tgtEl>
                                      </p:cBhvr>
                                    </p:animEffect>
                                    <p:anim calcmode="lin" valueType="num">
                                      <p:cBhvr additive="base">
                                        <p:cTn id="31" dur="450" fill="hold"/>
                                        <p:tgtEl>
                                          <p:spTgt spid="9"/>
                                        </p:tgtEl>
                                        <p:attrNameLst>
                                          <p:attrName>ppt_w</p:attrName>
                                        </p:attrNameLst>
                                      </p:cBhvr>
                                      <p:tavLst>
                                        <p:tav tm="0">
                                          <p:val>
                                            <p:strVal val="#ppt_w*0.6"/>
                                          </p:val>
                                        </p:tav>
                                        <p:tav tm="100000">
                                          <p:val>
                                            <p:strVal val="#ppt_w"/>
                                          </p:val>
                                        </p:tav>
                                      </p:tavLst>
                                    </p:anim>
                                    <p:anim calcmode="lin" valueType="num">
                                      <p:cBhvr additive="base">
                                        <p:cTn id="32" dur="450" fill="hold"/>
                                        <p:tgtEl>
                                          <p:spTgt spid="9"/>
                                        </p:tgtEl>
                                        <p:attrNameLst>
                                          <p:attrName>ppt_h</p:attrName>
                                        </p:attrNameLst>
                                      </p:cBhvr>
                                      <p:tavLst>
                                        <p:tav tm="0">
                                          <p:val>
                                            <p:strVal val="#ppt_h*0.6"/>
                                          </p:val>
                                        </p:tav>
                                        <p:tav tm="100000">
                                          <p:val>
                                            <p:strVal val="#ppt_h"/>
                                          </p:val>
                                        </p:tav>
                                      </p:tavLst>
                                    </p:anim>
                                  </p:childTnLst>
                                </p:cTn>
                              </p:par>
                              <p:par>
                                <p:cTn id="33" presetID="53" presetClass="entr" presetSubtype="16"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50"/>
                                        <p:tgtEl>
                                          <p:spTgt spid="10"/>
                                        </p:tgtEl>
                                      </p:cBhvr>
                                    </p:animEffect>
                                    <p:anim calcmode="lin" valueType="num">
                                      <p:cBhvr additive="base">
                                        <p:cTn id="36" dur="450" fill="hold"/>
                                        <p:tgtEl>
                                          <p:spTgt spid="10"/>
                                        </p:tgtEl>
                                        <p:attrNameLst>
                                          <p:attrName>ppt_w</p:attrName>
                                        </p:attrNameLst>
                                      </p:cBhvr>
                                      <p:tavLst>
                                        <p:tav tm="0">
                                          <p:val>
                                            <p:strVal val="#ppt_w*0.6"/>
                                          </p:val>
                                        </p:tav>
                                        <p:tav tm="100000">
                                          <p:val>
                                            <p:strVal val="#ppt_w"/>
                                          </p:val>
                                        </p:tav>
                                      </p:tavLst>
                                    </p:anim>
                                    <p:anim calcmode="lin" valueType="num">
                                      <p:cBhvr additive="base">
                                        <p:cTn id="37" dur="450" fill="hold"/>
                                        <p:tgtEl>
                                          <p:spTgt spid="10"/>
                                        </p:tgtEl>
                                        <p:attrNameLst>
                                          <p:attrName>ppt_h</p:attrName>
                                        </p:attrNameLst>
                                      </p:cBhvr>
                                      <p:tavLst>
                                        <p:tav tm="0">
                                          <p:val>
                                            <p:strVal val="#ppt_h*0.6"/>
                                          </p:val>
                                        </p:tav>
                                        <p:tav tm="100000">
                                          <p:val>
                                            <p:strVal val="#ppt_h"/>
                                          </p:val>
                                        </p:tav>
                                      </p:tavLst>
                                    </p:anim>
                                  </p:childTnLst>
                                </p:cTn>
                              </p:par>
                              <p:par>
                                <p:cTn id="38" presetID="53" presetClass="entr" presetSubtype="16"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450"/>
                                        <p:tgtEl>
                                          <p:spTgt spid="11"/>
                                        </p:tgtEl>
                                      </p:cBhvr>
                                    </p:animEffect>
                                    <p:anim calcmode="lin" valueType="num">
                                      <p:cBhvr additive="base">
                                        <p:cTn id="41" dur="450" fill="hold"/>
                                        <p:tgtEl>
                                          <p:spTgt spid="11"/>
                                        </p:tgtEl>
                                        <p:attrNameLst>
                                          <p:attrName>ppt_w</p:attrName>
                                        </p:attrNameLst>
                                      </p:cBhvr>
                                      <p:tavLst>
                                        <p:tav tm="0">
                                          <p:val>
                                            <p:strVal val="#ppt_w*0.6"/>
                                          </p:val>
                                        </p:tav>
                                        <p:tav tm="100000">
                                          <p:val>
                                            <p:strVal val="#ppt_w"/>
                                          </p:val>
                                        </p:tav>
                                      </p:tavLst>
                                    </p:anim>
                                    <p:anim calcmode="lin" valueType="num">
                                      <p:cBhvr additive="base">
                                        <p:cTn id="42" dur="450" fill="hold"/>
                                        <p:tgtEl>
                                          <p:spTgt spid="11"/>
                                        </p:tgtEl>
                                        <p:attrNameLst>
                                          <p:attrName>ppt_h</p:attrName>
                                        </p:attrNameLst>
                                      </p:cBhvr>
                                      <p:tavLst>
                                        <p:tav tm="0">
                                          <p:val>
                                            <p:strVal val="#ppt_h*0.6"/>
                                          </p:val>
                                        </p:tav>
                                        <p:tav tm="100000">
                                          <p:val>
                                            <p:strVal val="#ppt_h"/>
                                          </p:val>
                                        </p:tav>
                                      </p:tavLst>
                                    </p:anim>
                                  </p:childTnLst>
                                </p:cTn>
                              </p:par>
                              <p:par>
                                <p:cTn id="43" presetID="53" presetClass="entr" presetSubtype="16"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450"/>
                                        <p:tgtEl>
                                          <p:spTgt spid="12"/>
                                        </p:tgtEl>
                                      </p:cBhvr>
                                    </p:animEffect>
                                    <p:anim calcmode="lin" valueType="num">
                                      <p:cBhvr additive="base">
                                        <p:cTn id="46" dur="450" fill="hold"/>
                                        <p:tgtEl>
                                          <p:spTgt spid="12"/>
                                        </p:tgtEl>
                                        <p:attrNameLst>
                                          <p:attrName>ppt_w</p:attrName>
                                        </p:attrNameLst>
                                      </p:cBhvr>
                                      <p:tavLst>
                                        <p:tav tm="0">
                                          <p:val>
                                            <p:strVal val="#ppt_w*0.6"/>
                                          </p:val>
                                        </p:tav>
                                        <p:tav tm="100000">
                                          <p:val>
                                            <p:strVal val="#ppt_w"/>
                                          </p:val>
                                        </p:tav>
                                      </p:tavLst>
                                    </p:anim>
                                    <p:anim calcmode="lin" valueType="num">
                                      <p:cBhvr additive="base">
                                        <p:cTn id="47" dur="450" fill="hold"/>
                                        <p:tgtEl>
                                          <p:spTgt spid="12"/>
                                        </p:tgtEl>
                                        <p:attrNameLst>
                                          <p:attrName>ppt_h</p:attrName>
                                        </p:attrNameLst>
                                      </p:cBhvr>
                                      <p:tavLst>
                                        <p:tav tm="0">
                                          <p:val>
                                            <p:strVal val="#ppt_h*0.6"/>
                                          </p:val>
                                        </p:tav>
                                        <p:tav tm="100000">
                                          <p:val>
                                            <p:strVal val="#ppt_h"/>
                                          </p:val>
                                        </p:tav>
                                      </p:tavLst>
                                    </p:anim>
                                  </p:childTnLst>
                                </p:cTn>
                              </p:par>
                              <p:par>
                                <p:cTn id="48" presetID="53" presetClass="entr" presetSubtype="16"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450"/>
                                        <p:tgtEl>
                                          <p:spTgt spid="13"/>
                                        </p:tgtEl>
                                      </p:cBhvr>
                                    </p:animEffect>
                                    <p:anim calcmode="lin" valueType="num">
                                      <p:cBhvr additive="base">
                                        <p:cTn id="51" dur="450" fill="hold"/>
                                        <p:tgtEl>
                                          <p:spTgt spid="13"/>
                                        </p:tgtEl>
                                        <p:attrNameLst>
                                          <p:attrName>ppt_w</p:attrName>
                                        </p:attrNameLst>
                                      </p:cBhvr>
                                      <p:tavLst>
                                        <p:tav tm="0">
                                          <p:val>
                                            <p:strVal val="#ppt_w*0.6"/>
                                          </p:val>
                                        </p:tav>
                                        <p:tav tm="100000">
                                          <p:val>
                                            <p:strVal val="#ppt_w"/>
                                          </p:val>
                                        </p:tav>
                                      </p:tavLst>
                                    </p:anim>
                                    <p:anim calcmode="lin" valueType="num">
                                      <p:cBhvr additive="base">
                                        <p:cTn id="52" dur="450" fill="hold"/>
                                        <p:tgtEl>
                                          <p:spTgt spid="13"/>
                                        </p:tgtEl>
                                        <p:attrNameLst>
                                          <p:attrName>ppt_h</p:attrName>
                                        </p:attrNameLst>
                                      </p:cBhvr>
                                      <p:tavLst>
                                        <p:tav tm="0">
                                          <p:val>
                                            <p:strVal val="#ppt_h*0.6"/>
                                          </p:val>
                                        </p:tav>
                                        <p:tav tm="100000">
                                          <p:val>
                                            <p:strVal val="#ppt_h"/>
                                          </p:val>
                                        </p:tav>
                                      </p:tavLst>
                                    </p:anim>
                                  </p:childTnLst>
                                </p:cTn>
                              </p:par>
                            </p:childTnLst>
                          </p:cTn>
                        </p:par>
                        <p:par>
                          <p:cTn id="173" fill="hold">
                            <p:stCondLst>
                              <p:cond delay="495"/>
                            </p:stCondLst>
                            <p:childTnLst>
                              <p:par>
                                <p:cTn id="53" presetID="53" presetClass="entr" presetSubtype="16"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50"/>
                                        <p:tgtEl>
                                          <p:spTgt spid="14"/>
                                        </p:tgtEl>
                                      </p:cBhvr>
                                    </p:animEffect>
                                    <p:anim calcmode="lin" valueType="num">
                                      <p:cBhvr additive="base">
                                        <p:cTn id="56" dur="450" fill="hold"/>
                                        <p:tgtEl>
                                          <p:spTgt spid="14"/>
                                        </p:tgtEl>
                                        <p:attrNameLst>
                                          <p:attrName>ppt_w</p:attrName>
                                        </p:attrNameLst>
                                      </p:cBhvr>
                                      <p:tavLst>
                                        <p:tav tm="0">
                                          <p:val>
                                            <p:strVal val="#ppt_w*0.6"/>
                                          </p:val>
                                        </p:tav>
                                        <p:tav tm="100000">
                                          <p:val>
                                            <p:strVal val="#ppt_w"/>
                                          </p:val>
                                        </p:tav>
                                      </p:tavLst>
                                    </p:anim>
                                    <p:anim calcmode="lin" valueType="num">
                                      <p:cBhvr additive="base">
                                        <p:cTn id="57" dur="450" fill="hold"/>
                                        <p:tgtEl>
                                          <p:spTgt spid="14"/>
                                        </p:tgtEl>
                                        <p:attrNameLst>
                                          <p:attrName>ppt_h</p:attrName>
                                        </p:attrNameLst>
                                      </p:cBhvr>
                                      <p:tavLst>
                                        <p:tav tm="0">
                                          <p:val>
                                            <p:strVal val="#ppt_h*0.6"/>
                                          </p:val>
                                        </p:tav>
                                        <p:tav tm="100000">
                                          <p:val>
                                            <p:strVal val="#ppt_h"/>
                                          </p:val>
                                        </p:tav>
                                      </p:tavLst>
                                    </p:anim>
                                  </p:childTnLst>
                                </p:cTn>
                              </p:par>
                              <p:par>
                                <p:cTn id="58" presetID="53" presetClass="entr" presetSubtype="16"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450"/>
                                        <p:tgtEl>
                                          <p:spTgt spid="15"/>
                                        </p:tgtEl>
                                      </p:cBhvr>
                                    </p:animEffect>
                                    <p:anim calcmode="lin" valueType="num">
                                      <p:cBhvr additive="base">
                                        <p:cTn id="61" dur="450" fill="hold"/>
                                        <p:tgtEl>
                                          <p:spTgt spid="15"/>
                                        </p:tgtEl>
                                        <p:attrNameLst>
                                          <p:attrName>ppt_w</p:attrName>
                                        </p:attrNameLst>
                                      </p:cBhvr>
                                      <p:tavLst>
                                        <p:tav tm="0">
                                          <p:val>
                                            <p:strVal val="#ppt_w*0.6"/>
                                          </p:val>
                                        </p:tav>
                                        <p:tav tm="100000">
                                          <p:val>
                                            <p:strVal val="#ppt_w"/>
                                          </p:val>
                                        </p:tav>
                                      </p:tavLst>
                                    </p:anim>
                                    <p:anim calcmode="lin" valueType="num">
                                      <p:cBhvr additive="base">
                                        <p:cTn id="62" dur="450" fill="hold"/>
                                        <p:tgtEl>
                                          <p:spTgt spid="15"/>
                                        </p:tgtEl>
                                        <p:attrNameLst>
                                          <p:attrName>ppt_h</p:attrName>
                                        </p:attrNameLst>
                                      </p:cBhvr>
                                      <p:tavLst>
                                        <p:tav tm="0">
                                          <p:val>
                                            <p:strVal val="#ppt_h*0.6"/>
                                          </p:val>
                                        </p:tav>
                                        <p:tav tm="100000">
                                          <p:val>
                                            <p:strVal val="#ppt_h"/>
                                          </p:val>
                                        </p:tav>
                                      </p:tavLst>
                                    </p:anim>
                                  </p:childTnLst>
                                </p:cTn>
                              </p:par>
                              <p:par>
                                <p:cTn id="63" presetID="53" presetClass="entr" presetSubtype="16"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450"/>
                                        <p:tgtEl>
                                          <p:spTgt spid="16"/>
                                        </p:tgtEl>
                                      </p:cBhvr>
                                    </p:animEffect>
                                    <p:anim calcmode="lin" valueType="num">
                                      <p:cBhvr additive="base">
                                        <p:cTn id="66" dur="450" fill="hold"/>
                                        <p:tgtEl>
                                          <p:spTgt spid="16"/>
                                        </p:tgtEl>
                                        <p:attrNameLst>
                                          <p:attrName>ppt_w</p:attrName>
                                        </p:attrNameLst>
                                      </p:cBhvr>
                                      <p:tavLst>
                                        <p:tav tm="0">
                                          <p:val>
                                            <p:strVal val="#ppt_w*0.6"/>
                                          </p:val>
                                        </p:tav>
                                        <p:tav tm="100000">
                                          <p:val>
                                            <p:strVal val="#ppt_w"/>
                                          </p:val>
                                        </p:tav>
                                      </p:tavLst>
                                    </p:anim>
                                    <p:anim calcmode="lin" valueType="num">
                                      <p:cBhvr additive="base">
                                        <p:cTn id="67" dur="450" fill="hold"/>
                                        <p:tgtEl>
                                          <p:spTgt spid="16"/>
                                        </p:tgtEl>
                                        <p:attrNameLst>
                                          <p:attrName>ppt_h</p:attrName>
                                        </p:attrNameLst>
                                      </p:cBhvr>
                                      <p:tavLst>
                                        <p:tav tm="0">
                                          <p:val>
                                            <p:strVal val="#ppt_h*0.6"/>
                                          </p:val>
                                        </p:tav>
                                        <p:tav tm="100000">
                                          <p:val>
                                            <p:strVal val="#ppt_h"/>
                                          </p:val>
                                        </p:tav>
                                      </p:tavLst>
                                    </p:anim>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450"/>
                                        <p:tgtEl>
                                          <p:spTgt spid="17"/>
                                        </p:tgtEl>
                                      </p:cBhvr>
                                    </p:animEffect>
                                    <p:anim calcmode="lin" valueType="num">
                                      <p:cBhvr additive="base">
                                        <p:cTn id="71" dur="450" fill="hold"/>
                                        <p:tgtEl>
                                          <p:spTgt spid="17"/>
                                        </p:tgtEl>
                                        <p:attrNameLst>
                                          <p:attrName>ppt_w</p:attrName>
                                        </p:attrNameLst>
                                      </p:cBhvr>
                                      <p:tavLst>
                                        <p:tav tm="0">
                                          <p:val>
                                            <p:strVal val="#ppt_w*0.6"/>
                                          </p:val>
                                        </p:tav>
                                        <p:tav tm="100000">
                                          <p:val>
                                            <p:strVal val="#ppt_w"/>
                                          </p:val>
                                        </p:tav>
                                      </p:tavLst>
                                    </p:anim>
                                    <p:anim calcmode="lin" valueType="num">
                                      <p:cBhvr additive="base">
                                        <p:cTn id="72" dur="450" fill="hold"/>
                                        <p:tgtEl>
                                          <p:spTgt spid="17"/>
                                        </p:tgtEl>
                                        <p:attrNameLst>
                                          <p:attrName>ppt_h</p:attrName>
                                        </p:attrNameLst>
                                      </p:cBhvr>
                                      <p:tavLst>
                                        <p:tav tm="0">
                                          <p:val>
                                            <p:strVal val="#ppt_h*0.6"/>
                                          </p:val>
                                        </p:tav>
                                        <p:tav tm="100000">
                                          <p:val>
                                            <p:strVal val="#ppt_h"/>
                                          </p:val>
                                        </p:tav>
                                      </p:tavLst>
                                    </p:anim>
                                  </p:childTnLst>
                                </p:cTn>
                              </p:par>
                              <p:par>
                                <p:cTn id="73" presetID="53" presetClass="entr" presetSubtype="16"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450"/>
                                        <p:tgtEl>
                                          <p:spTgt spid="18"/>
                                        </p:tgtEl>
                                      </p:cBhvr>
                                    </p:animEffect>
                                    <p:anim calcmode="lin" valueType="num">
                                      <p:cBhvr additive="base">
                                        <p:cTn id="76" dur="450" fill="hold"/>
                                        <p:tgtEl>
                                          <p:spTgt spid="18"/>
                                        </p:tgtEl>
                                        <p:attrNameLst>
                                          <p:attrName>ppt_w</p:attrName>
                                        </p:attrNameLst>
                                      </p:cBhvr>
                                      <p:tavLst>
                                        <p:tav tm="0">
                                          <p:val>
                                            <p:strVal val="#ppt_w*0.6"/>
                                          </p:val>
                                        </p:tav>
                                        <p:tav tm="100000">
                                          <p:val>
                                            <p:strVal val="#ppt_w"/>
                                          </p:val>
                                        </p:tav>
                                      </p:tavLst>
                                    </p:anim>
                                    <p:anim calcmode="lin" valueType="num">
                                      <p:cBhvr additive="base">
                                        <p:cTn id="77" dur="450" fill="hold"/>
                                        <p:tgtEl>
                                          <p:spTgt spid="18"/>
                                        </p:tgtEl>
                                        <p:attrNameLst>
                                          <p:attrName>ppt_h</p:attrName>
                                        </p:attrNameLst>
                                      </p:cBhvr>
                                      <p:tavLst>
                                        <p:tav tm="0">
                                          <p:val>
                                            <p:strVal val="#ppt_h*0.6"/>
                                          </p:val>
                                        </p:tav>
                                        <p:tav tm="100000">
                                          <p:val>
                                            <p:strVal val="#ppt_h"/>
                                          </p:val>
                                        </p:tav>
                                      </p:tavLst>
                                    </p:anim>
                                  </p:childTnLst>
                                </p:cTn>
                              </p:par>
                            </p:childTnLst>
                          </p:cTn>
                        </p:par>
                        <p:par>
                          <p:cTn id="174" fill="hold">
                            <p:stCondLst>
                              <p:cond delay="742"/>
                            </p:stCondLst>
                            <p:childTnLst>
                              <p:par>
                                <p:cTn id="78" presetID="53" presetClass="entr" presetSubtype="16"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450"/>
                                        <p:tgtEl>
                                          <p:spTgt spid="19"/>
                                        </p:tgtEl>
                                      </p:cBhvr>
                                    </p:animEffect>
                                    <p:anim calcmode="lin" valueType="num">
                                      <p:cBhvr additive="base">
                                        <p:cTn id="81" dur="450" fill="hold"/>
                                        <p:tgtEl>
                                          <p:spTgt spid="19"/>
                                        </p:tgtEl>
                                        <p:attrNameLst>
                                          <p:attrName>ppt_w</p:attrName>
                                        </p:attrNameLst>
                                      </p:cBhvr>
                                      <p:tavLst>
                                        <p:tav tm="0">
                                          <p:val>
                                            <p:strVal val="#ppt_w*0.6"/>
                                          </p:val>
                                        </p:tav>
                                        <p:tav tm="100000">
                                          <p:val>
                                            <p:strVal val="#ppt_w"/>
                                          </p:val>
                                        </p:tav>
                                      </p:tavLst>
                                    </p:anim>
                                    <p:anim calcmode="lin" valueType="num">
                                      <p:cBhvr additive="base">
                                        <p:cTn id="82" dur="450" fill="hold"/>
                                        <p:tgtEl>
                                          <p:spTgt spid="19"/>
                                        </p:tgtEl>
                                        <p:attrNameLst>
                                          <p:attrName>ppt_h</p:attrName>
                                        </p:attrNameLst>
                                      </p:cBhvr>
                                      <p:tavLst>
                                        <p:tav tm="0">
                                          <p:val>
                                            <p:strVal val="#ppt_h*0.6"/>
                                          </p:val>
                                        </p:tav>
                                        <p:tav tm="100000">
                                          <p:val>
                                            <p:strVal val="#ppt_h"/>
                                          </p:val>
                                        </p:tav>
                                      </p:tavLst>
                                    </p:anim>
                                  </p:childTnLst>
                                </p:cTn>
                              </p:par>
                              <p:par>
                                <p:cTn id="83" presetID="53" presetClass="entr" presetSubtype="16"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450"/>
                                        <p:tgtEl>
                                          <p:spTgt spid="20"/>
                                        </p:tgtEl>
                                      </p:cBhvr>
                                    </p:animEffect>
                                    <p:anim calcmode="lin" valueType="num">
                                      <p:cBhvr additive="base">
                                        <p:cTn id="86" dur="450" fill="hold"/>
                                        <p:tgtEl>
                                          <p:spTgt spid="20"/>
                                        </p:tgtEl>
                                        <p:attrNameLst>
                                          <p:attrName>ppt_w</p:attrName>
                                        </p:attrNameLst>
                                      </p:cBhvr>
                                      <p:tavLst>
                                        <p:tav tm="0">
                                          <p:val>
                                            <p:strVal val="#ppt_w*0.6"/>
                                          </p:val>
                                        </p:tav>
                                        <p:tav tm="100000">
                                          <p:val>
                                            <p:strVal val="#ppt_w"/>
                                          </p:val>
                                        </p:tav>
                                      </p:tavLst>
                                    </p:anim>
                                    <p:anim calcmode="lin" valueType="num">
                                      <p:cBhvr additive="base">
                                        <p:cTn id="87" dur="450" fill="hold"/>
                                        <p:tgtEl>
                                          <p:spTgt spid="20"/>
                                        </p:tgtEl>
                                        <p:attrNameLst>
                                          <p:attrName>ppt_h</p:attrName>
                                        </p:attrNameLst>
                                      </p:cBhvr>
                                      <p:tavLst>
                                        <p:tav tm="0">
                                          <p:val>
                                            <p:strVal val="#ppt_h*0.6"/>
                                          </p:val>
                                        </p:tav>
                                        <p:tav tm="100000">
                                          <p:val>
                                            <p:strVal val="#ppt_h"/>
                                          </p:val>
                                        </p:tav>
                                      </p:tavLst>
                                    </p:anim>
                                  </p:childTnLst>
                                </p:cTn>
                              </p:par>
                              <p:par>
                                <p:cTn id="88" presetID="10"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450"/>
                                        <p:tgtEl>
                                          <p:spTgt spid="2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450"/>
                                        <p:tgtEl>
                                          <p:spTgt spid="22"/>
                                        </p:tgtEl>
                                      </p:cBhvr>
                                    </p:animEffect>
                                  </p:childTnLst>
                                </p:cTn>
                              </p:par>
                            </p:childTnLst>
                          </p:cTn>
                        </p:par>
                        <p:par>
                          <p:cTn id="175" fill="hold">
                            <p:stCondLst>
                              <p:cond delay="990"/>
                            </p:stCondLst>
                            <p:childTnLst>
                              <p:par>
                                <p:cTn id="94" presetID="22" presetClass="entr" presetSubtype="8"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wipe(left)">
                                      <p:cBhvr>
                                        <p:cTn id="96" dur="700"/>
                                        <p:tgtEl>
                                          <p:spTgt spid="23"/>
                                        </p:tgtEl>
                                      </p:cBhvr>
                                    </p:animEffect>
                                  </p:childTnLst>
                                </p:cTn>
                              </p:par>
                            </p:childTnLst>
                          </p:cTn>
                        </p:par>
                        <p:par>
                          <p:cTn id="176" fill="hold">
                            <p:stCondLst>
                              <p:cond delay="1375"/>
                            </p:stCondLst>
                            <p:childTnLst>
                              <p:par>
                                <p:cTn id="97" presetID="53" presetClass="entr" presetSubtype="16"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450"/>
                                        <p:tgtEl>
                                          <p:spTgt spid="24"/>
                                        </p:tgtEl>
                                      </p:cBhvr>
                                    </p:animEffect>
                                    <p:anim calcmode="lin" valueType="num">
                                      <p:cBhvr additive="base">
                                        <p:cTn id="100" dur="450" fill="hold"/>
                                        <p:tgtEl>
                                          <p:spTgt spid="24"/>
                                        </p:tgtEl>
                                        <p:attrNameLst>
                                          <p:attrName>ppt_w</p:attrName>
                                        </p:attrNameLst>
                                      </p:cBhvr>
                                      <p:tavLst>
                                        <p:tav tm="0">
                                          <p:val>
                                            <p:strVal val="#ppt_w*0.6"/>
                                          </p:val>
                                        </p:tav>
                                        <p:tav tm="100000">
                                          <p:val>
                                            <p:strVal val="#ppt_w"/>
                                          </p:val>
                                        </p:tav>
                                      </p:tavLst>
                                    </p:anim>
                                    <p:anim calcmode="lin" valueType="num">
                                      <p:cBhvr additive="base">
                                        <p:cTn id="101" dur="450" fill="hold"/>
                                        <p:tgtEl>
                                          <p:spTgt spid="24"/>
                                        </p:tgtEl>
                                        <p:attrNameLst>
                                          <p:attrName>ppt_h</p:attrName>
                                        </p:attrNameLst>
                                      </p:cBhvr>
                                      <p:tavLst>
                                        <p:tav tm="0">
                                          <p:val>
                                            <p:strVal val="#ppt_h*0.6"/>
                                          </p:val>
                                        </p:tav>
                                        <p:tav tm="100000">
                                          <p:val>
                                            <p:strVal val="#ppt_h"/>
                                          </p:val>
                                        </p:tav>
                                      </p:tavLst>
                                    </p:anim>
                                  </p:childTnLst>
                                </p:cTn>
                              </p:par>
                              <p:par>
                                <p:cTn id="102" presetID="53" presetClass="entr" presetSubtype="16" fill="hold" grpId="0" nodeType="withEffect">
                                  <p:stCondLst>
                                    <p:cond delay="0"/>
                                  </p:stCondLst>
                                  <p:childTnLst>
                                    <p:set>
                                      <p:cBhvr>
                                        <p:cTn id="103" dur="1" fill="hold">
                                          <p:stCondLst>
                                            <p:cond delay="0"/>
                                          </p:stCondLst>
                                        </p:cTn>
                                        <p:tgtEl>
                                          <p:spTgt spid="25"/>
                                        </p:tgtEl>
                                        <p:attrNameLst>
                                          <p:attrName>style.visibility</p:attrName>
                                        </p:attrNameLst>
                                      </p:cBhvr>
                                      <p:to>
                                        <p:strVal val="visible"/>
                                      </p:to>
                                    </p:set>
                                    <p:animEffect transition="in" filter="fade">
                                      <p:cBhvr>
                                        <p:cTn id="104" dur="450"/>
                                        <p:tgtEl>
                                          <p:spTgt spid="25"/>
                                        </p:tgtEl>
                                      </p:cBhvr>
                                    </p:animEffect>
                                    <p:anim calcmode="lin" valueType="num">
                                      <p:cBhvr additive="base">
                                        <p:cTn id="105" dur="450" fill="hold"/>
                                        <p:tgtEl>
                                          <p:spTgt spid="25"/>
                                        </p:tgtEl>
                                        <p:attrNameLst>
                                          <p:attrName>ppt_w</p:attrName>
                                        </p:attrNameLst>
                                      </p:cBhvr>
                                      <p:tavLst>
                                        <p:tav tm="0">
                                          <p:val>
                                            <p:strVal val="#ppt_w*0.6"/>
                                          </p:val>
                                        </p:tav>
                                        <p:tav tm="100000">
                                          <p:val>
                                            <p:strVal val="#ppt_w"/>
                                          </p:val>
                                        </p:tav>
                                      </p:tavLst>
                                    </p:anim>
                                    <p:anim calcmode="lin" valueType="num">
                                      <p:cBhvr additive="base">
                                        <p:cTn id="106" dur="450" fill="hold"/>
                                        <p:tgtEl>
                                          <p:spTgt spid="25"/>
                                        </p:tgtEl>
                                        <p:attrNameLst>
                                          <p:attrName>ppt_h</p:attrName>
                                        </p:attrNameLst>
                                      </p:cBhvr>
                                      <p:tavLst>
                                        <p:tav tm="0">
                                          <p:val>
                                            <p:strVal val="#ppt_h*0.6"/>
                                          </p:val>
                                        </p:tav>
                                        <p:tav tm="100000">
                                          <p:val>
                                            <p:strVal val="#ppt_h"/>
                                          </p:val>
                                        </p:tav>
                                      </p:tavLst>
                                    </p:anim>
                                  </p:childTnLst>
                                </p:cTn>
                              </p:par>
                              <p:par>
                                <p:cTn id="107" presetID="10" presetClass="entr" presetSubtype="0" fill="hold" grpId="0" nodeType="withEffect">
                                  <p:stCondLst>
                                    <p:cond delay="0"/>
                                  </p:stCondLst>
                                  <p:childTnLst>
                                    <p:set>
                                      <p:cBhvr>
                                        <p:cTn id="108" dur="1" fill="hold">
                                          <p:stCondLst>
                                            <p:cond delay="0"/>
                                          </p:stCondLst>
                                        </p:cTn>
                                        <p:tgtEl>
                                          <p:spTgt spid="26"/>
                                        </p:tgtEl>
                                        <p:attrNameLst>
                                          <p:attrName>style.visibility</p:attrName>
                                        </p:attrNameLst>
                                      </p:cBhvr>
                                      <p:to>
                                        <p:strVal val="visible"/>
                                      </p:to>
                                    </p:set>
                                    <p:animEffect transition="in" filter="fade">
                                      <p:cBhvr>
                                        <p:cTn id="109" dur="450"/>
                                        <p:tgtEl>
                                          <p:spTgt spid="2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450"/>
                                        <p:tgtEl>
                                          <p:spTgt spid="27"/>
                                        </p:tgtEl>
                                      </p:cBhvr>
                                    </p:animEffect>
                                  </p:childTnLst>
                                </p:cTn>
                              </p:par>
                            </p:childTnLst>
                          </p:cTn>
                        </p:par>
                        <p:par>
                          <p:cTn id="177" fill="hold">
                            <p:stCondLst>
                              <p:cond delay="1622"/>
                            </p:stCondLst>
                            <p:childTnLst>
                              <p:par>
                                <p:cTn id="113" presetID="22" presetClass="entr" presetSubtype="8" fill="hold" grpId="0" nodeType="withEffect">
                                  <p:stCondLst>
                                    <p:cond delay="0"/>
                                  </p:stCondLst>
                                  <p:childTnLst>
                                    <p:set>
                                      <p:cBhvr>
                                        <p:cTn id="114" dur="1" fill="hold">
                                          <p:stCondLst>
                                            <p:cond delay="0"/>
                                          </p:stCondLst>
                                        </p:cTn>
                                        <p:tgtEl>
                                          <p:spTgt spid="28"/>
                                        </p:tgtEl>
                                        <p:attrNameLst>
                                          <p:attrName>style.visibility</p:attrName>
                                        </p:attrNameLst>
                                      </p:cBhvr>
                                      <p:to>
                                        <p:strVal val="visible"/>
                                      </p:to>
                                    </p:set>
                                    <p:animEffect transition="in" filter="wipe(left)">
                                      <p:cBhvr>
                                        <p:cTn id="115" dur="700"/>
                                        <p:tgtEl>
                                          <p:spTgt spid="28"/>
                                        </p:tgtEl>
                                      </p:cBhvr>
                                    </p:animEffect>
                                  </p:childTnLst>
                                </p:cTn>
                              </p:par>
                            </p:childTnLst>
                          </p:cTn>
                        </p:par>
                        <p:par>
                          <p:cTn id="178" fill="hold">
                            <p:stCondLst>
                              <p:cond delay="2007"/>
                            </p:stCondLst>
                            <p:childTnLst>
                              <p:par>
                                <p:cTn id="116" presetID="53" presetClass="entr" presetSubtype="16" fill="hold" grpId="0" nodeType="withEffect">
                                  <p:stCondLst>
                                    <p:cond delay="0"/>
                                  </p:stCondLst>
                                  <p:childTnLst>
                                    <p:set>
                                      <p:cBhvr>
                                        <p:cTn id="117" dur="1" fill="hold">
                                          <p:stCondLst>
                                            <p:cond delay="0"/>
                                          </p:stCondLst>
                                        </p:cTn>
                                        <p:tgtEl>
                                          <p:spTgt spid="29"/>
                                        </p:tgtEl>
                                        <p:attrNameLst>
                                          <p:attrName>style.visibility</p:attrName>
                                        </p:attrNameLst>
                                      </p:cBhvr>
                                      <p:to>
                                        <p:strVal val="visible"/>
                                      </p:to>
                                    </p:set>
                                    <p:animEffect transition="in" filter="fade">
                                      <p:cBhvr>
                                        <p:cTn id="118" dur="450"/>
                                        <p:tgtEl>
                                          <p:spTgt spid="29"/>
                                        </p:tgtEl>
                                      </p:cBhvr>
                                    </p:animEffect>
                                    <p:anim calcmode="lin" valueType="num">
                                      <p:cBhvr additive="base">
                                        <p:cTn id="119" dur="450" fill="hold"/>
                                        <p:tgtEl>
                                          <p:spTgt spid="29"/>
                                        </p:tgtEl>
                                        <p:attrNameLst>
                                          <p:attrName>ppt_w</p:attrName>
                                        </p:attrNameLst>
                                      </p:cBhvr>
                                      <p:tavLst>
                                        <p:tav tm="0">
                                          <p:val>
                                            <p:strVal val="#ppt_w*0.6"/>
                                          </p:val>
                                        </p:tav>
                                        <p:tav tm="100000">
                                          <p:val>
                                            <p:strVal val="#ppt_w"/>
                                          </p:val>
                                        </p:tav>
                                      </p:tavLst>
                                    </p:anim>
                                    <p:anim calcmode="lin" valueType="num">
                                      <p:cBhvr additive="base">
                                        <p:cTn id="120" dur="450" fill="hold"/>
                                        <p:tgtEl>
                                          <p:spTgt spid="29"/>
                                        </p:tgtEl>
                                        <p:attrNameLst>
                                          <p:attrName>ppt_h</p:attrName>
                                        </p:attrNameLst>
                                      </p:cBhvr>
                                      <p:tavLst>
                                        <p:tav tm="0">
                                          <p:val>
                                            <p:strVal val="#ppt_h*0.6"/>
                                          </p:val>
                                        </p:tav>
                                        <p:tav tm="100000">
                                          <p:val>
                                            <p:strVal val="#ppt_h"/>
                                          </p:val>
                                        </p:tav>
                                      </p:tavLst>
                                    </p:anim>
                                  </p:childTnLst>
                                </p:cTn>
                              </p:par>
                              <p:par>
                                <p:cTn id="121" presetID="53" presetClass="entr" presetSubtype="16" fill="hold" grpId="0" nodeType="withEffect">
                                  <p:stCondLst>
                                    <p:cond delay="0"/>
                                  </p:stCondLst>
                                  <p:childTnLst>
                                    <p:set>
                                      <p:cBhvr>
                                        <p:cTn id="122" dur="1" fill="hold">
                                          <p:stCondLst>
                                            <p:cond delay="0"/>
                                          </p:stCondLst>
                                        </p:cTn>
                                        <p:tgtEl>
                                          <p:spTgt spid="30"/>
                                        </p:tgtEl>
                                        <p:attrNameLst>
                                          <p:attrName>style.visibility</p:attrName>
                                        </p:attrNameLst>
                                      </p:cBhvr>
                                      <p:to>
                                        <p:strVal val="visible"/>
                                      </p:to>
                                    </p:set>
                                    <p:animEffect transition="in" filter="fade">
                                      <p:cBhvr>
                                        <p:cTn id="123" dur="450"/>
                                        <p:tgtEl>
                                          <p:spTgt spid="30"/>
                                        </p:tgtEl>
                                      </p:cBhvr>
                                    </p:animEffect>
                                    <p:anim calcmode="lin" valueType="num">
                                      <p:cBhvr additive="base">
                                        <p:cTn id="124" dur="450" fill="hold"/>
                                        <p:tgtEl>
                                          <p:spTgt spid="30"/>
                                        </p:tgtEl>
                                        <p:attrNameLst>
                                          <p:attrName>ppt_w</p:attrName>
                                        </p:attrNameLst>
                                      </p:cBhvr>
                                      <p:tavLst>
                                        <p:tav tm="0">
                                          <p:val>
                                            <p:strVal val="#ppt_w*0.6"/>
                                          </p:val>
                                        </p:tav>
                                        <p:tav tm="100000">
                                          <p:val>
                                            <p:strVal val="#ppt_w"/>
                                          </p:val>
                                        </p:tav>
                                      </p:tavLst>
                                    </p:anim>
                                    <p:anim calcmode="lin" valueType="num">
                                      <p:cBhvr additive="base">
                                        <p:cTn id="125" dur="450" fill="hold"/>
                                        <p:tgtEl>
                                          <p:spTgt spid="30"/>
                                        </p:tgtEl>
                                        <p:attrNameLst>
                                          <p:attrName>ppt_h</p:attrName>
                                        </p:attrNameLst>
                                      </p:cBhvr>
                                      <p:tavLst>
                                        <p:tav tm="0">
                                          <p:val>
                                            <p:strVal val="#ppt_h*0.6"/>
                                          </p:val>
                                        </p:tav>
                                        <p:tav tm="100000">
                                          <p:val>
                                            <p:strVal val="#ppt_h"/>
                                          </p:val>
                                        </p:tav>
                                      </p:tavLst>
                                    </p:anim>
                                  </p:childTnLst>
                                </p:cTn>
                              </p:par>
                              <p:par>
                                <p:cTn id="126" presetID="10" presetClass="entr" presetSubtype="0" fill="hold" grpId="0" nodeType="withEffect">
                                  <p:stCondLst>
                                    <p:cond delay="0"/>
                                  </p:stCondLst>
                                  <p:childTnLst>
                                    <p:set>
                                      <p:cBhvr>
                                        <p:cTn id="127" dur="1" fill="hold">
                                          <p:stCondLst>
                                            <p:cond delay="0"/>
                                          </p:stCondLst>
                                        </p:cTn>
                                        <p:tgtEl>
                                          <p:spTgt spid="31"/>
                                        </p:tgtEl>
                                        <p:attrNameLst>
                                          <p:attrName>style.visibility</p:attrName>
                                        </p:attrNameLst>
                                      </p:cBhvr>
                                      <p:to>
                                        <p:strVal val="visible"/>
                                      </p:to>
                                    </p:set>
                                    <p:animEffect transition="in" filter="fade">
                                      <p:cBhvr>
                                        <p:cTn id="128" dur="450"/>
                                        <p:tgtEl>
                                          <p:spTgt spid="31"/>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450"/>
                                        <p:tgtEl>
                                          <p:spTgt spid="32"/>
                                        </p:tgtEl>
                                      </p:cBhvr>
                                    </p:animEffect>
                                  </p:childTnLst>
                                </p:cTn>
                              </p:par>
                            </p:childTnLst>
                          </p:cTn>
                        </p:par>
                        <p:par>
                          <p:cTn id="179" fill="hold">
                            <p:stCondLst>
                              <p:cond delay="2255"/>
                            </p:stCondLst>
                            <p:childTnLst>
                              <p:par>
                                <p:cTn id="132" presetID="22" presetClass="entr" presetSubtype="8" fill="hold" grpId="0" nodeType="withEffect">
                                  <p:stCondLst>
                                    <p:cond delay="0"/>
                                  </p:stCondLst>
                                  <p:childTnLst>
                                    <p:set>
                                      <p:cBhvr>
                                        <p:cTn id="133" dur="1" fill="hold">
                                          <p:stCondLst>
                                            <p:cond delay="0"/>
                                          </p:stCondLst>
                                        </p:cTn>
                                        <p:tgtEl>
                                          <p:spTgt spid="33"/>
                                        </p:tgtEl>
                                        <p:attrNameLst>
                                          <p:attrName>style.visibility</p:attrName>
                                        </p:attrNameLst>
                                      </p:cBhvr>
                                      <p:to>
                                        <p:strVal val="visible"/>
                                      </p:to>
                                    </p:set>
                                    <p:animEffect transition="in" filter="wipe(left)">
                                      <p:cBhvr>
                                        <p:cTn id="134" dur="700"/>
                                        <p:tgtEl>
                                          <p:spTgt spid="33"/>
                                        </p:tgtEl>
                                      </p:cBhvr>
                                    </p:animEffect>
                                  </p:childTnLst>
                                </p:cTn>
                              </p:par>
                            </p:childTnLst>
                          </p:cTn>
                        </p:par>
                        <p:par>
                          <p:cTn id="180" fill="hold">
                            <p:stCondLst>
                              <p:cond delay="2640"/>
                            </p:stCondLst>
                            <p:childTnLst>
                              <p:par>
                                <p:cTn id="135" presetID="53" presetClass="entr" presetSubtype="16" fill="hold" grpId="0" nodeType="withEffect">
                                  <p:stCondLst>
                                    <p:cond delay="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450"/>
                                        <p:tgtEl>
                                          <p:spTgt spid="34"/>
                                        </p:tgtEl>
                                      </p:cBhvr>
                                    </p:animEffect>
                                    <p:anim calcmode="lin" valueType="num">
                                      <p:cBhvr additive="base">
                                        <p:cTn id="138" dur="450" fill="hold"/>
                                        <p:tgtEl>
                                          <p:spTgt spid="34"/>
                                        </p:tgtEl>
                                        <p:attrNameLst>
                                          <p:attrName>ppt_w</p:attrName>
                                        </p:attrNameLst>
                                      </p:cBhvr>
                                      <p:tavLst>
                                        <p:tav tm="0">
                                          <p:val>
                                            <p:strVal val="#ppt_w*0.6"/>
                                          </p:val>
                                        </p:tav>
                                        <p:tav tm="100000">
                                          <p:val>
                                            <p:strVal val="#ppt_w"/>
                                          </p:val>
                                        </p:tav>
                                      </p:tavLst>
                                    </p:anim>
                                    <p:anim calcmode="lin" valueType="num">
                                      <p:cBhvr additive="base">
                                        <p:cTn id="139" dur="450" fill="hold"/>
                                        <p:tgtEl>
                                          <p:spTgt spid="34"/>
                                        </p:tgtEl>
                                        <p:attrNameLst>
                                          <p:attrName>ppt_h</p:attrName>
                                        </p:attrNameLst>
                                      </p:cBhvr>
                                      <p:tavLst>
                                        <p:tav tm="0">
                                          <p:val>
                                            <p:strVal val="#ppt_h*0.6"/>
                                          </p:val>
                                        </p:tav>
                                        <p:tav tm="100000">
                                          <p:val>
                                            <p:strVal val="#ppt_h"/>
                                          </p:val>
                                        </p:tav>
                                      </p:tavLst>
                                    </p:anim>
                                  </p:childTnLst>
                                </p:cTn>
                              </p:par>
                              <p:par>
                                <p:cTn id="140" presetID="53" presetClass="entr" presetSubtype="16" fill="hold" grpId="0" nodeType="withEffect">
                                  <p:stCondLst>
                                    <p:cond delay="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450"/>
                                        <p:tgtEl>
                                          <p:spTgt spid="35"/>
                                        </p:tgtEl>
                                      </p:cBhvr>
                                    </p:animEffect>
                                    <p:anim calcmode="lin" valueType="num">
                                      <p:cBhvr additive="base">
                                        <p:cTn id="143" dur="450" fill="hold"/>
                                        <p:tgtEl>
                                          <p:spTgt spid="35"/>
                                        </p:tgtEl>
                                        <p:attrNameLst>
                                          <p:attrName>ppt_w</p:attrName>
                                        </p:attrNameLst>
                                      </p:cBhvr>
                                      <p:tavLst>
                                        <p:tav tm="0">
                                          <p:val>
                                            <p:strVal val="#ppt_w*0.6"/>
                                          </p:val>
                                        </p:tav>
                                        <p:tav tm="100000">
                                          <p:val>
                                            <p:strVal val="#ppt_w"/>
                                          </p:val>
                                        </p:tav>
                                      </p:tavLst>
                                    </p:anim>
                                    <p:anim calcmode="lin" valueType="num">
                                      <p:cBhvr additive="base">
                                        <p:cTn id="144" dur="450" fill="hold"/>
                                        <p:tgtEl>
                                          <p:spTgt spid="35"/>
                                        </p:tgtEl>
                                        <p:attrNameLst>
                                          <p:attrName>ppt_h</p:attrName>
                                        </p:attrNameLst>
                                      </p:cBhvr>
                                      <p:tavLst>
                                        <p:tav tm="0">
                                          <p:val>
                                            <p:strVal val="#ppt_h*0.6"/>
                                          </p:val>
                                        </p:tav>
                                        <p:tav tm="100000">
                                          <p:val>
                                            <p:strVal val="#ppt_h"/>
                                          </p:val>
                                        </p:tav>
                                      </p:tavLst>
                                    </p:anim>
                                  </p:childTnLst>
                                </p:cTn>
                              </p:par>
                              <p:par>
                                <p:cTn id="145" presetID="10" presetClass="entr" presetSubtype="0" fill="hold" grpId="0" nodeType="with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450"/>
                                        <p:tgtEl>
                                          <p:spTgt spid="36"/>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37"/>
                                        </p:tgtEl>
                                        <p:attrNameLst>
                                          <p:attrName>style.visibility</p:attrName>
                                        </p:attrNameLst>
                                      </p:cBhvr>
                                      <p:to>
                                        <p:strVal val="visible"/>
                                      </p:to>
                                    </p:set>
                                    <p:animEffect transition="in" filter="fade">
                                      <p:cBhvr>
                                        <p:cTn id="150" dur="450"/>
                                        <p:tgtEl>
                                          <p:spTgt spid="37"/>
                                        </p:tgtEl>
                                      </p:cBhvr>
                                    </p:animEffect>
                                  </p:childTnLst>
                                </p:cTn>
                              </p:par>
                            </p:childTnLst>
                          </p:cTn>
                        </p:par>
                        <p:par>
                          <p:cTn id="181" fill="hold">
                            <p:stCondLst>
                              <p:cond delay="2887"/>
                            </p:stCondLst>
                            <p:childTnLst>
                              <p:par>
                                <p:cTn id="151" presetID="42" presetClass="entr" presetSubtype="0" fill="hold" grpId="0" nodeType="withEffect">
                                  <p:stCondLst>
                                    <p:cond delay="0"/>
                                  </p:stCondLst>
                                  <p:childTnLst>
                                    <p:set>
                                      <p:cBhvr>
                                        <p:cTn id="152" dur="1" fill="hold">
                                          <p:stCondLst>
                                            <p:cond delay="0"/>
                                          </p:stCondLst>
                                        </p:cTn>
                                        <p:tgtEl>
                                          <p:spTgt spid="38"/>
                                        </p:tgtEl>
                                        <p:attrNameLst>
                                          <p:attrName>style.visibility</p:attrName>
                                        </p:attrNameLst>
                                      </p:cBhvr>
                                      <p:to>
                                        <p:strVal val="visible"/>
                                      </p:to>
                                    </p:set>
                                    <p:animEffect transition="in" filter="fade">
                                      <p:cBhvr>
                                        <p:cTn id="153" dur="550"/>
                                        <p:tgtEl>
                                          <p:spTgt spid="38"/>
                                        </p:tgtEl>
                                      </p:cBhvr>
                                    </p:animEffect>
                                    <p:anim calcmode="lin" valueType="num">
                                      <p:cBhvr additive="base">
                                        <p:cTn id="154" dur="550" fill="hold"/>
                                        <p:tgtEl>
                                          <p:spTgt spid="38"/>
                                        </p:tgtEl>
                                        <p:attrNameLst>
                                          <p:attrName>ppt_x</p:attrName>
                                        </p:attrNameLst>
                                      </p:cBhvr>
                                      <p:tavLst>
                                        <p:tav tm="0">
                                          <p:val>
                                            <p:strVal val="#ppt_x"/>
                                          </p:val>
                                        </p:tav>
                                        <p:tav tm="100000">
                                          <p:val>
                                            <p:strVal val="#ppt_x"/>
                                          </p:val>
                                        </p:tav>
                                      </p:tavLst>
                                    </p:anim>
                                    <p:anim calcmode="lin" valueType="num">
                                      <p:cBhvr additive="base">
                                        <p:cTn id="155" dur="550" fill="hold"/>
                                        <p:tgtEl>
                                          <p:spTgt spid="38"/>
                                        </p:tgtEl>
                                        <p:attrNameLst>
                                          <p:attrName>ppt_y</p:attrName>
                                        </p:attrNameLst>
                                      </p:cBhvr>
                                      <p:tavLst>
                                        <p:tav tm="0">
                                          <p:val>
                                            <p:strVal val="#ppt_y+.06"/>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39"/>
                                        </p:tgtEl>
                                        <p:attrNameLst>
                                          <p:attrName>style.visibility</p:attrName>
                                        </p:attrNameLst>
                                      </p:cBhvr>
                                      <p:to>
                                        <p:strVal val="visible"/>
                                      </p:to>
                                    </p:set>
                                    <p:animEffect transition="in" filter="fade">
                                      <p:cBhvr>
                                        <p:cTn id="158" dur="550"/>
                                        <p:tgtEl>
                                          <p:spTgt spid="39"/>
                                        </p:tgtEl>
                                      </p:cBhvr>
                                    </p:animEffect>
                                    <p:anim calcmode="lin" valueType="num">
                                      <p:cBhvr additive="base">
                                        <p:cTn id="159" dur="550" fill="hold"/>
                                        <p:tgtEl>
                                          <p:spTgt spid="39"/>
                                        </p:tgtEl>
                                        <p:attrNameLst>
                                          <p:attrName>ppt_x</p:attrName>
                                        </p:attrNameLst>
                                      </p:cBhvr>
                                      <p:tavLst>
                                        <p:tav tm="0">
                                          <p:val>
                                            <p:strVal val="#ppt_x"/>
                                          </p:val>
                                        </p:tav>
                                        <p:tav tm="100000">
                                          <p:val>
                                            <p:strVal val="#ppt_x"/>
                                          </p:val>
                                        </p:tav>
                                      </p:tavLst>
                                    </p:anim>
                                    <p:anim calcmode="lin" valueType="num">
                                      <p:cBhvr additive="base">
                                        <p:cTn id="160" dur="550" fill="hold"/>
                                        <p:tgtEl>
                                          <p:spTgt spid="39"/>
                                        </p:tgtEl>
                                        <p:attrNameLst>
                                          <p:attrName>ppt_y</p:attrName>
                                        </p:attrNameLst>
                                      </p:cBhvr>
                                      <p:tavLst>
                                        <p:tav tm="0">
                                          <p:val>
                                            <p:strVal val="#ppt_y+.06"/>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40"/>
                                        </p:tgtEl>
                                        <p:attrNameLst>
                                          <p:attrName>style.visibility</p:attrName>
                                        </p:attrNameLst>
                                      </p:cBhvr>
                                      <p:to>
                                        <p:strVal val="visible"/>
                                      </p:to>
                                    </p:set>
                                    <p:animEffect transition="in" filter="fade">
                                      <p:cBhvr>
                                        <p:cTn id="163" dur="550"/>
                                        <p:tgtEl>
                                          <p:spTgt spid="40"/>
                                        </p:tgtEl>
                                      </p:cBhvr>
                                    </p:animEffect>
                                    <p:anim calcmode="lin" valueType="num">
                                      <p:cBhvr additive="base">
                                        <p:cTn id="164" dur="550" fill="hold"/>
                                        <p:tgtEl>
                                          <p:spTgt spid="40"/>
                                        </p:tgtEl>
                                        <p:attrNameLst>
                                          <p:attrName>ppt_x</p:attrName>
                                        </p:attrNameLst>
                                      </p:cBhvr>
                                      <p:tavLst>
                                        <p:tav tm="0">
                                          <p:val>
                                            <p:strVal val="#ppt_x"/>
                                          </p:val>
                                        </p:tav>
                                        <p:tav tm="100000">
                                          <p:val>
                                            <p:strVal val="#ppt_x"/>
                                          </p:val>
                                        </p:tav>
                                      </p:tavLst>
                                    </p:anim>
                                    <p:anim calcmode="lin" valueType="num">
                                      <p:cBhvr additive="base">
                                        <p:cTn id="165" dur="550" fill="hold"/>
                                        <p:tgtEl>
                                          <p:spTgt spid="40"/>
                                        </p:tgtEl>
                                        <p:attrNameLst>
                                          <p:attrName>ppt_y</p:attrName>
                                        </p:attrNameLst>
                                      </p:cBhvr>
                                      <p:tavLst>
                                        <p:tav tm="0">
                                          <p:val>
                                            <p:strVal val="#ppt_y+.06"/>
                                          </p:val>
                                        </p:tav>
                                        <p:tav tm="100000">
                                          <p:val>
                                            <p:strVal val="#ppt_y"/>
                                          </p:val>
                                        </p:tav>
                                      </p:tavLst>
                                    </p:anim>
                                  </p:childTnLst>
                                </p:cTn>
                              </p:par>
                              <p:par>
                                <p:cTn id="166" presetID="42" presetClass="entr" presetSubtype="0" fill="hold" grpId="0" nodeType="withEffect">
                                  <p:stCondLst>
                                    <p:cond delay="0"/>
                                  </p:stCondLst>
                                  <p:childTnLst>
                                    <p:set>
                                      <p:cBhvr>
                                        <p:cTn id="167" dur="1" fill="hold">
                                          <p:stCondLst>
                                            <p:cond delay="0"/>
                                          </p:stCondLst>
                                        </p:cTn>
                                        <p:tgtEl>
                                          <p:spTgt spid="41"/>
                                        </p:tgtEl>
                                        <p:attrNameLst>
                                          <p:attrName>style.visibility</p:attrName>
                                        </p:attrNameLst>
                                      </p:cBhvr>
                                      <p:to>
                                        <p:strVal val="visible"/>
                                      </p:to>
                                    </p:set>
                                    <p:animEffect transition="in" filter="fade">
                                      <p:cBhvr>
                                        <p:cTn id="168" dur="550"/>
                                        <p:tgtEl>
                                          <p:spTgt spid="41"/>
                                        </p:tgtEl>
                                      </p:cBhvr>
                                    </p:animEffect>
                                    <p:anim calcmode="lin" valueType="num">
                                      <p:cBhvr additive="base">
                                        <p:cTn id="169" dur="550" fill="hold"/>
                                        <p:tgtEl>
                                          <p:spTgt spid="41"/>
                                        </p:tgtEl>
                                        <p:attrNameLst>
                                          <p:attrName>ppt_x</p:attrName>
                                        </p:attrNameLst>
                                      </p:cBhvr>
                                      <p:tavLst>
                                        <p:tav tm="0">
                                          <p:val>
                                            <p:strVal val="#ppt_x"/>
                                          </p:val>
                                        </p:tav>
                                        <p:tav tm="100000">
                                          <p:val>
                                            <p:strVal val="#ppt_x"/>
                                          </p:val>
                                        </p:tav>
                                      </p:tavLst>
                                    </p:anim>
                                    <p:anim calcmode="lin" valueType="num">
                                      <p:cBhvr additive="base">
                                        <p:cTn id="170" dur="550" fill="hold"/>
                                        <p:tgtEl>
                                          <p:spTgt spid="4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39" grpId="0" animBg="1"/>
      <p:bldP spid="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FINDING 1 · AGE</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The oldest are turned away 17 times more often</a:t>
            </a:r>
            <a:endParaRPr lang="en-US" sz="3400" dirty="0"/>
          </a:p>
        </p:txBody>
      </p:sp>
      <p:sp>
        <p:nvSpPr>
          <p:cNvPr id="4" name="a01_fade_chartCard"/>
          <p:cNvSpPr/>
          <p:nvPr/>
        </p:nvSpPr>
        <p:spPr>
          <a:xfrm>
            <a:off x="548640" y="1645920"/>
            <a:ext cx="6766560" cy="4434840"/>
          </a:xfrm>
          <a:prstGeom prst="roundRect">
            <a:avLst>
              <a:gd name="adj" fmla="val 2474"/>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5" name="a01_fade_chartTitle"/>
          <p:cNvSpPr txBox="1"/>
          <p:nvPr/>
        </p:nvSpPr>
        <p:spPr>
          <a:xfrm>
            <a:off x="822960" y="1828800"/>
            <a:ext cx="6217920" cy="365760"/>
          </a:xfrm>
          <a:prstGeom prst="rect">
            <a:avLst/>
          </a:prstGeom>
          <a:noFill/>
          <a:ln/>
        </p:spPr>
        <p:txBody>
          <a:bodyPr wrap="square" lIns="0" tIns="0" rIns="0" bIns="0" rtlCol="0" anchor="t"/>
          <a:lstStyle/>
          <a:p>
            <a:pPr indent="0" marL="0">
              <a:buNone/>
            </a:pPr>
            <a:r>
              <a:rPr lang="en-US" sz="1500" b="1" dirty="0">
                <a:solidFill>
                  <a:schemeClr val="accent1"/>
                </a:solidFill>
              </a:rPr>
              <a:t>Share of genuine visits denied, by age group</a:t>
            </a:r>
            <a:endParaRPr lang="en-US" sz="1500" dirty="0"/>
          </a:p>
        </p:txBody>
      </p:sp>
      <p:graphicFrame>
        <p:nvGraphicFramePr>
          <p:cNvPr id="6" name="a02_wipe_chart" descr=""/>
          <p:cNvGraphicFramePr/>
          <p:nvPr/>
        </p:nvGraphicFramePr>
        <p:xfrm>
          <a:off x="731520" y="2240280"/>
          <a:ext cx="6400800" cy="3703320"/>
        </p:xfrm>
        <a:graphic xmlns:a="http://schemas.openxmlformats.org/drawingml/2006/main">
          <a:graphicData uri="http://schemas.openxmlformats.org/drawingml/2006/chart">
            <c:chart xmlns:c="http://schemas.openxmlformats.org/drawingml/2006/chart" r:id="rId1"/>
          </a:graphicData>
        </a:graphic>
      </p:graphicFrame>
      <p:sp>
        <p:nvSpPr>
          <p:cNvPr id="7" name="a03_zoom_big"/>
          <p:cNvSpPr txBox="1"/>
          <p:nvPr/>
        </p:nvSpPr>
        <p:spPr>
          <a:xfrm>
            <a:off x="7772400" y="1691640"/>
            <a:ext cx="3840480" cy="1051560"/>
          </a:xfrm>
          <a:prstGeom prst="rect">
            <a:avLst/>
          </a:prstGeom>
          <a:noFill/>
          <a:ln/>
        </p:spPr>
        <p:txBody>
          <a:bodyPr wrap="square" lIns="0" tIns="0" rIns="0" bIns="0" rtlCol="0" anchor="t"/>
          <a:lstStyle/>
          <a:p>
            <a:pPr indent="0" marL="0">
              <a:buNone/>
            </a:pPr>
            <a:r>
              <a:rPr lang="en-US" sz="7200" b="1" dirty="0">
                <a:solidFill>
                  <a:schemeClr val="accent3"/>
                </a:solidFill>
                <a:latin typeface="Cambria" pitchFamily="34" charset="0"/>
                <a:ea typeface="Cambria" pitchFamily="34" charset="-122"/>
                <a:cs typeface="Cambria" pitchFamily="34" charset="-120"/>
              </a:rPr>
              <a:t>21.7%</a:t>
            </a:r>
            <a:endParaRPr lang="en-US" sz="7200" dirty="0"/>
          </a:p>
        </p:txBody>
      </p:sp>
      <p:sp>
        <p:nvSpPr>
          <p:cNvPr id="8" name="a04_fade_bigText"/>
          <p:cNvSpPr txBox="1"/>
          <p:nvPr/>
        </p:nvSpPr>
        <p:spPr>
          <a:xfrm>
            <a:off x="7772400" y="2834640"/>
            <a:ext cx="3840480" cy="1005840"/>
          </a:xfrm>
          <a:prstGeom prst="rect">
            <a:avLst/>
          </a:prstGeom>
          <a:noFill/>
          <a:ln/>
        </p:spPr>
        <p:txBody>
          <a:bodyPr wrap="square" lIns="0" tIns="0" rIns="0" bIns="0" rtlCol="0" anchor="t"/>
          <a:lstStyle/>
          <a:p>
            <a:pPr indent="0" marL="0">
              <a:buNone/>
            </a:pPr>
            <a:r>
              <a:rPr lang="en-US" sz="1700" dirty="0">
                <a:solidFill>
                  <a:schemeClr val="tx1"/>
                </a:solidFill>
              </a:rPr>
              <a:t>of visits by people aged 75+ end with the service denied, against 1.3% for ages 18‑30.</a:t>
            </a:r>
            <a:endParaRPr lang="en-US" sz="1700" dirty="0"/>
          </a:p>
        </p:txBody>
      </p:sp>
      <p:sp>
        <p:nvSpPr>
          <p:cNvPr id="9" name="a05_rise_pill0"/>
          <p:cNvSpPr/>
          <p:nvPr/>
        </p:nvSpPr>
        <p:spPr>
          <a:xfrm>
            <a:off x="7772400" y="4023360"/>
            <a:ext cx="3840480" cy="548640"/>
          </a:xfrm>
          <a:prstGeom prst="roundRect">
            <a:avLst>
              <a:gd name="adj" fmla="val 16667"/>
            </a:avLst>
          </a:prstGeom>
          <a:solidFill>
            <a:schemeClr val="accent3">
              <a:alpha val="10000"/>
            </a:schemeClr>
          </a:solidFill>
          <a:ln/>
        </p:spPr>
      </p:sp>
      <p:sp>
        <p:nvSpPr>
          <p:cNvPr id="10" name="a05_rise_pillT0"/>
          <p:cNvSpPr txBox="1"/>
          <p:nvPr/>
        </p:nvSpPr>
        <p:spPr>
          <a:xfrm>
            <a:off x="8001000" y="4023360"/>
            <a:ext cx="3474720" cy="548640"/>
          </a:xfrm>
          <a:prstGeom prst="rect">
            <a:avLst/>
          </a:prstGeom>
          <a:noFill/>
          <a:ln/>
        </p:spPr>
        <p:txBody>
          <a:bodyPr wrap="square" lIns="0" tIns="0" rIns="0" bIns="0" rtlCol="0" anchor="ctr"/>
          <a:lstStyle/>
          <a:p>
            <a:pPr indent="0" marL="0">
              <a:buNone/>
            </a:pPr>
            <a:r>
              <a:rPr lang="en-US" sz="1700" b="1" dirty="0">
                <a:solidFill>
                  <a:srgbClr val="B71C1C"/>
                </a:solidFill>
              </a:rPr>
              <a:t>17.1×  </a:t>
            </a:r>
            <a:pPr indent="0" marL="0">
              <a:buNone/>
            </a:pPr>
            <a:r>
              <a:rPr lang="en-US" sz="1500" dirty="0">
                <a:solidFill>
                  <a:schemeClr val="tx1"/>
                </a:solidFill>
              </a:rPr>
              <a:t>the youngest group's rate</a:t>
            </a:r>
            <a:endParaRPr lang="en-US" sz="1700" dirty="0"/>
          </a:p>
        </p:txBody>
      </p:sp>
      <p:sp>
        <p:nvSpPr>
          <p:cNvPr id="11" name="a05_rise_pill1"/>
          <p:cNvSpPr/>
          <p:nvPr/>
        </p:nvSpPr>
        <p:spPr>
          <a:xfrm>
            <a:off x="7772400" y="4709160"/>
            <a:ext cx="3840480" cy="548640"/>
          </a:xfrm>
          <a:prstGeom prst="roundRect">
            <a:avLst>
              <a:gd name="adj" fmla="val 16667"/>
            </a:avLst>
          </a:prstGeom>
          <a:solidFill>
            <a:schemeClr val="accent3">
              <a:alpha val="10000"/>
            </a:schemeClr>
          </a:solidFill>
          <a:ln/>
        </p:spPr>
      </p:sp>
      <p:sp>
        <p:nvSpPr>
          <p:cNvPr id="12" name="a05_rise_pillT1"/>
          <p:cNvSpPr txBox="1"/>
          <p:nvPr/>
        </p:nvSpPr>
        <p:spPr>
          <a:xfrm>
            <a:off x="8001000" y="4709160"/>
            <a:ext cx="3474720" cy="548640"/>
          </a:xfrm>
          <a:prstGeom prst="rect">
            <a:avLst/>
          </a:prstGeom>
          <a:noFill/>
          <a:ln/>
        </p:spPr>
        <p:txBody>
          <a:bodyPr wrap="square" lIns="0" tIns="0" rIns="0" bIns="0" rtlCol="0" anchor="ctr"/>
          <a:lstStyle/>
          <a:p>
            <a:pPr indent="0" marL="0">
              <a:buNone/>
            </a:pPr>
            <a:r>
              <a:rPr lang="en-US" sz="1700" b="1" dirty="0">
                <a:solidFill>
                  <a:srgbClr val="B71C1C"/>
                </a:solidFill>
              </a:rPr>
              <a:t>p &lt; 0.001  </a:t>
            </a:r>
            <a:pPr indent="0" marL="0">
              <a:buNone/>
            </a:pPr>
            <a:r>
              <a:rPr lang="en-US" sz="1500" dirty="0">
                <a:solidFill>
                  <a:schemeClr val="tx1"/>
                </a:solidFill>
              </a:rPr>
              <a:t>chi-square test</a:t>
            </a:r>
            <a:endParaRPr lang="en-US" sz="1700" dirty="0"/>
          </a:p>
        </p:txBody>
      </p:sp>
      <p:sp>
        <p:nvSpPr>
          <p:cNvPr id="13" name="a05_rise_pill2"/>
          <p:cNvSpPr/>
          <p:nvPr/>
        </p:nvSpPr>
        <p:spPr>
          <a:xfrm>
            <a:off x="7772400" y="5394960"/>
            <a:ext cx="3840480" cy="548640"/>
          </a:xfrm>
          <a:prstGeom prst="roundRect">
            <a:avLst>
              <a:gd name="adj" fmla="val 16667"/>
            </a:avLst>
          </a:prstGeom>
          <a:solidFill>
            <a:schemeClr val="accent3">
              <a:alpha val="10000"/>
            </a:schemeClr>
          </a:solidFill>
          <a:ln/>
        </p:spPr>
      </p:sp>
      <p:sp>
        <p:nvSpPr>
          <p:cNvPr id="14" name="a05_rise_pillT2"/>
          <p:cNvSpPr txBox="1"/>
          <p:nvPr/>
        </p:nvSpPr>
        <p:spPr>
          <a:xfrm>
            <a:off x="8001000" y="5394960"/>
            <a:ext cx="3474720" cy="548640"/>
          </a:xfrm>
          <a:prstGeom prst="rect">
            <a:avLst/>
          </a:prstGeom>
          <a:noFill/>
          <a:ln/>
        </p:spPr>
        <p:txBody>
          <a:bodyPr wrap="square" lIns="0" tIns="0" rIns="0" bIns="0" rtlCol="0" anchor="ctr"/>
          <a:lstStyle/>
          <a:p>
            <a:pPr indent="0" marL="0">
              <a:buNone/>
            </a:pPr>
            <a:r>
              <a:rPr lang="en-US" sz="1700" b="1" dirty="0">
                <a:solidFill>
                  <a:srgbClr val="B71C1C"/>
                </a:solidFill>
              </a:rPr>
              <a:t>Fails  </a:t>
            </a:r>
            <a:pPr indent="0" marL="0">
              <a:buNone/>
            </a:pPr>
            <a:r>
              <a:rPr lang="en-US" sz="1500" dirty="0">
                <a:solidFill>
                  <a:schemeClr val="tx1"/>
                </a:solidFill>
              </a:rPr>
              <a:t>the four-fifths rule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5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childTnLst>
                          </p:cTn>
                        </p:par>
                        <p:par>
                          <p:cTn id="51" fill="hold">
                            <p:stCondLst>
                              <p:cond delay="247"/>
                            </p:stCondLst>
                            <p:childTnLst>
                              <p:par>
                                <p:cTn id="9" presetID="2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700"/>
                                        <p:tgtEl>
                                          <p:spTgt spid="6"/>
                                        </p:tgtEl>
                                      </p:cBhvr>
                                    </p:animEffect>
                                  </p:childTnLst>
                                </p:cTn>
                              </p:par>
                            </p:childTnLst>
                          </p:cTn>
                        </p:par>
                        <p:par>
                          <p:cTn id="52" fill="hold">
                            <p:stCondLst>
                              <p:cond delay="632"/>
                            </p:stCondLst>
                            <p:childTnLst>
                              <p:par>
                                <p:cTn id="12" presetID="53" presetClass="entr" presetSubtype="16"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 calcmode="lin" valueType="num">
                                      <p:cBhvr additive="base">
                                        <p:cTn id="15" dur="450" fill="hold"/>
                                        <p:tgtEl>
                                          <p:spTgt spid="7"/>
                                        </p:tgtEl>
                                        <p:attrNameLst>
                                          <p:attrName>ppt_w</p:attrName>
                                        </p:attrNameLst>
                                      </p:cBhvr>
                                      <p:tavLst>
                                        <p:tav tm="0">
                                          <p:val>
                                            <p:strVal val="#ppt_w*0.6"/>
                                          </p:val>
                                        </p:tav>
                                        <p:tav tm="100000">
                                          <p:val>
                                            <p:strVal val="#ppt_w"/>
                                          </p:val>
                                        </p:tav>
                                      </p:tavLst>
                                    </p:anim>
                                    <p:anim calcmode="lin" valueType="num">
                                      <p:cBhvr additive="base">
                                        <p:cTn id="16" dur="450" fill="hold"/>
                                        <p:tgtEl>
                                          <p:spTgt spid="7"/>
                                        </p:tgtEl>
                                        <p:attrNameLst>
                                          <p:attrName>ppt_h</p:attrName>
                                        </p:attrNameLst>
                                      </p:cBhvr>
                                      <p:tavLst>
                                        <p:tav tm="0">
                                          <p:val>
                                            <p:strVal val="#ppt_h*0.6"/>
                                          </p:val>
                                        </p:tav>
                                        <p:tav tm="100000">
                                          <p:val>
                                            <p:strVal val="#ppt_h"/>
                                          </p:val>
                                        </p:tav>
                                      </p:tavLst>
                                    </p:anim>
                                  </p:childTnLst>
                                </p:cTn>
                              </p:par>
                            </p:childTnLst>
                          </p:cTn>
                        </p:par>
                        <p:par>
                          <p:cTn id="53" fill="hold">
                            <p:stCondLst>
                              <p:cond delay="880"/>
                            </p:stCondLst>
                            <p:childTnLst>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par>
                          <p:cTn id="54" fill="hold">
                            <p:stCondLst>
                              <p:cond delay="1127"/>
                            </p:stCondLst>
                            <p:childTnLst>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p:tgtEl>
                                          <p:spTgt spid="9"/>
                                        </p:tgtEl>
                                      </p:cBhvr>
                                    </p:animEffect>
                                    <p:anim calcmode="lin" valueType="num">
                                      <p:cBhvr additive="base">
                                        <p:cTn id="23" dur="550" fill="hold"/>
                                        <p:tgtEl>
                                          <p:spTgt spid="9"/>
                                        </p:tgtEl>
                                        <p:attrNameLst>
                                          <p:attrName>ppt_x</p:attrName>
                                        </p:attrNameLst>
                                      </p:cBhvr>
                                      <p:tavLst>
                                        <p:tav tm="0">
                                          <p:val>
                                            <p:strVal val="#ppt_x"/>
                                          </p:val>
                                        </p:tav>
                                        <p:tav tm="100000">
                                          <p:val>
                                            <p:strVal val="#ppt_x"/>
                                          </p:val>
                                        </p:tav>
                                      </p:tavLst>
                                    </p:anim>
                                    <p:anim calcmode="lin" valueType="num">
                                      <p:cBhvr additive="base">
                                        <p:cTn id="24" dur="550" fill="hold"/>
                                        <p:tgtEl>
                                          <p:spTgt spid="9"/>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50"/>
                                        <p:tgtEl>
                                          <p:spTgt spid="10"/>
                                        </p:tgtEl>
                                      </p:cBhvr>
                                    </p:animEffect>
                                    <p:anim calcmode="lin" valueType="num">
                                      <p:cBhvr additive="base">
                                        <p:cTn id="28" dur="550" fill="hold"/>
                                        <p:tgtEl>
                                          <p:spTgt spid="10"/>
                                        </p:tgtEl>
                                        <p:attrNameLst>
                                          <p:attrName>ppt_x</p:attrName>
                                        </p:attrNameLst>
                                      </p:cBhvr>
                                      <p:tavLst>
                                        <p:tav tm="0">
                                          <p:val>
                                            <p:strVal val="#ppt_x"/>
                                          </p:val>
                                        </p:tav>
                                        <p:tav tm="100000">
                                          <p:val>
                                            <p:strVal val="#ppt_x"/>
                                          </p:val>
                                        </p:tav>
                                      </p:tavLst>
                                    </p:anim>
                                    <p:anim calcmode="lin" valueType="num">
                                      <p:cBhvr additive="base">
                                        <p:cTn id="29" dur="550" fill="hold"/>
                                        <p:tgtEl>
                                          <p:spTgt spid="10"/>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50"/>
                                        <p:tgtEl>
                                          <p:spTgt spid="11"/>
                                        </p:tgtEl>
                                      </p:cBhvr>
                                    </p:animEffect>
                                    <p:anim calcmode="lin" valueType="num">
                                      <p:cBhvr additive="base">
                                        <p:cTn id="33" dur="550" fill="hold"/>
                                        <p:tgtEl>
                                          <p:spTgt spid="11"/>
                                        </p:tgtEl>
                                        <p:attrNameLst>
                                          <p:attrName>ppt_x</p:attrName>
                                        </p:attrNameLst>
                                      </p:cBhvr>
                                      <p:tavLst>
                                        <p:tav tm="0">
                                          <p:val>
                                            <p:strVal val="#ppt_x"/>
                                          </p:val>
                                        </p:tav>
                                        <p:tav tm="100000">
                                          <p:val>
                                            <p:strVal val="#ppt_x"/>
                                          </p:val>
                                        </p:tav>
                                      </p:tavLst>
                                    </p:anim>
                                    <p:anim calcmode="lin" valueType="num">
                                      <p:cBhvr additive="base">
                                        <p:cTn id="34" dur="550" fill="hold"/>
                                        <p:tgtEl>
                                          <p:spTgt spid="11"/>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50"/>
                                        <p:tgtEl>
                                          <p:spTgt spid="12"/>
                                        </p:tgtEl>
                                      </p:cBhvr>
                                    </p:animEffect>
                                    <p:anim calcmode="lin" valueType="num">
                                      <p:cBhvr additive="base">
                                        <p:cTn id="38" dur="550" fill="hold"/>
                                        <p:tgtEl>
                                          <p:spTgt spid="12"/>
                                        </p:tgtEl>
                                        <p:attrNameLst>
                                          <p:attrName>ppt_x</p:attrName>
                                        </p:attrNameLst>
                                      </p:cBhvr>
                                      <p:tavLst>
                                        <p:tav tm="0">
                                          <p:val>
                                            <p:strVal val="#ppt_x"/>
                                          </p:val>
                                        </p:tav>
                                        <p:tav tm="100000">
                                          <p:val>
                                            <p:strVal val="#ppt_x"/>
                                          </p:val>
                                        </p:tav>
                                      </p:tavLst>
                                    </p:anim>
                                    <p:anim calcmode="lin" valueType="num">
                                      <p:cBhvr additive="base">
                                        <p:cTn id="39" dur="550" fill="hold"/>
                                        <p:tgtEl>
                                          <p:spTgt spid="12"/>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50"/>
                                        <p:tgtEl>
                                          <p:spTgt spid="13"/>
                                        </p:tgtEl>
                                      </p:cBhvr>
                                    </p:animEffect>
                                    <p:anim calcmode="lin" valueType="num">
                                      <p:cBhvr additive="base">
                                        <p:cTn id="43" dur="550" fill="hold"/>
                                        <p:tgtEl>
                                          <p:spTgt spid="13"/>
                                        </p:tgtEl>
                                        <p:attrNameLst>
                                          <p:attrName>ppt_x</p:attrName>
                                        </p:attrNameLst>
                                      </p:cBhvr>
                                      <p:tavLst>
                                        <p:tav tm="0">
                                          <p:val>
                                            <p:strVal val="#ppt_x"/>
                                          </p:val>
                                        </p:tav>
                                        <p:tav tm="100000">
                                          <p:val>
                                            <p:strVal val="#ppt_x"/>
                                          </p:val>
                                        </p:tav>
                                      </p:tavLst>
                                    </p:anim>
                                    <p:anim calcmode="lin" valueType="num">
                                      <p:cBhvr additive="base">
                                        <p:cTn id="44" dur="550" fill="hold"/>
                                        <p:tgtEl>
                                          <p:spTgt spid="13"/>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50"/>
                                        <p:tgtEl>
                                          <p:spTgt spid="14"/>
                                        </p:tgtEl>
                                      </p:cBhvr>
                                    </p:animEffect>
                                    <p:anim calcmode="lin" valueType="num">
                                      <p:cBhvr additive="base">
                                        <p:cTn id="48" dur="550" fill="hold"/>
                                        <p:tgtEl>
                                          <p:spTgt spid="14"/>
                                        </p:tgtEl>
                                        <p:attrNameLst>
                                          <p:attrName>ppt_x</p:attrName>
                                        </p:attrNameLst>
                                      </p:cBhvr>
                                      <p:tavLst>
                                        <p:tav tm="0">
                                          <p:val>
                                            <p:strVal val="#ppt_x"/>
                                          </p:val>
                                        </p:tav>
                                        <p:tav tm="100000">
                                          <p:val>
                                            <p:strVal val="#ppt_x"/>
                                          </p:val>
                                        </p:tav>
                                      </p:tavLst>
                                    </p:anim>
                                    <p:anim calcmode="lin" valueType="num">
                                      <p:cBhvr additive="base">
                                        <p:cTn id="49" dur="550" fill="hold"/>
                                        <p:tgtEl>
                                          <p:spTgt spid="1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AsOne/>
      </p:bldGraphic>
      <p:bldP spid="7" grpId="0" animBg="1"/>
      <p:bldP spid="8" grpId="0" animBg="1"/>
      <p:bldP spid="9" grpId="0" animBg="1"/>
      <p:bldP spid="10" grpId="0" animBg="1"/>
      <p:bldP spid="11" grpId="0" animBg="1"/>
      <p:bldP spid="12"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FINDING 2 · THE TRADE-OFF</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Strict on impostors, costly for genuine users</a:t>
            </a:r>
            <a:endParaRPr lang="en-US" sz="3400" dirty="0"/>
          </a:p>
        </p:txBody>
      </p:sp>
      <p:sp>
        <p:nvSpPr>
          <p:cNvPr id="4" name="a01_fade_frrCard"/>
          <p:cNvSpPr/>
          <p:nvPr/>
        </p:nvSpPr>
        <p:spPr>
          <a:xfrm>
            <a:off x="548640" y="1645920"/>
            <a:ext cx="6035040" cy="4434840"/>
          </a:xfrm>
          <a:prstGeom prst="roundRect">
            <a:avLst>
              <a:gd name="adj" fmla="val 2474"/>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5" name="a01_fade_frrHead"/>
          <p:cNvSpPr txBox="1"/>
          <p:nvPr/>
        </p:nvSpPr>
        <p:spPr>
          <a:xfrm>
            <a:off x="868680" y="1874520"/>
            <a:ext cx="5486400" cy="365760"/>
          </a:xfrm>
          <a:prstGeom prst="rect">
            <a:avLst/>
          </a:prstGeom>
          <a:noFill/>
          <a:ln/>
        </p:spPr>
        <p:txBody>
          <a:bodyPr wrap="square" lIns="0" tIns="0" rIns="0" bIns="0" rtlCol="0" anchor="t"/>
          <a:lstStyle/>
          <a:p>
            <a:pPr indent="0" marL="0">
              <a:buNone/>
            </a:pPr>
            <a:r>
              <a:rPr lang="en-US" sz="1600" b="1" dirty="0">
                <a:solidFill>
                  <a:schemeClr val="accent1"/>
                </a:solidFill>
              </a:rPr>
              <a:t>About 1 in 4 genuine attempts is rejected</a:t>
            </a:r>
            <a:endParaRPr lang="en-US" sz="1600" dirty="0"/>
          </a:p>
        </p:txBody>
      </p:sp>
      <p:sp>
        <p:nvSpPr>
          <p:cNvPr id="6" name="a03_fade_dot0"/>
          <p:cNvSpPr/>
          <p:nvPr/>
        </p:nvSpPr>
        <p:spPr>
          <a:xfrm>
            <a:off x="868680" y="2423160"/>
            <a:ext cx="155448" cy="155448"/>
          </a:xfrm>
          <a:prstGeom prst="ellipse">
            <a:avLst/>
          </a:prstGeom>
          <a:solidFill>
            <a:schemeClr val="accent3"/>
          </a:solidFill>
          <a:ln/>
        </p:spPr>
      </p:sp>
      <p:sp>
        <p:nvSpPr>
          <p:cNvPr id="7" name="a03_fade_dot1"/>
          <p:cNvSpPr/>
          <p:nvPr/>
        </p:nvSpPr>
        <p:spPr>
          <a:xfrm>
            <a:off x="1083564" y="2423160"/>
            <a:ext cx="155448" cy="155448"/>
          </a:xfrm>
          <a:prstGeom prst="ellipse">
            <a:avLst/>
          </a:prstGeom>
          <a:solidFill>
            <a:schemeClr val="accent3"/>
          </a:solidFill>
          <a:ln/>
        </p:spPr>
      </p:sp>
      <p:sp>
        <p:nvSpPr>
          <p:cNvPr id="8" name="a03_fade_dot2"/>
          <p:cNvSpPr/>
          <p:nvPr/>
        </p:nvSpPr>
        <p:spPr>
          <a:xfrm>
            <a:off x="1298448" y="2423160"/>
            <a:ext cx="155448" cy="155448"/>
          </a:xfrm>
          <a:prstGeom prst="ellipse">
            <a:avLst/>
          </a:prstGeom>
          <a:solidFill>
            <a:schemeClr val="accent3"/>
          </a:solidFill>
          <a:ln/>
        </p:spPr>
      </p:sp>
      <p:sp>
        <p:nvSpPr>
          <p:cNvPr id="9" name="a03_fade_dot3"/>
          <p:cNvSpPr/>
          <p:nvPr/>
        </p:nvSpPr>
        <p:spPr>
          <a:xfrm>
            <a:off x="1513332" y="2423160"/>
            <a:ext cx="155448" cy="155448"/>
          </a:xfrm>
          <a:prstGeom prst="ellipse">
            <a:avLst/>
          </a:prstGeom>
          <a:solidFill>
            <a:schemeClr val="accent3"/>
          </a:solidFill>
          <a:ln/>
        </p:spPr>
      </p:sp>
      <p:sp>
        <p:nvSpPr>
          <p:cNvPr id="10" name="a03_fade_dot4"/>
          <p:cNvSpPr/>
          <p:nvPr/>
        </p:nvSpPr>
        <p:spPr>
          <a:xfrm>
            <a:off x="1728216" y="2423160"/>
            <a:ext cx="155448" cy="155448"/>
          </a:xfrm>
          <a:prstGeom prst="ellipse">
            <a:avLst/>
          </a:prstGeom>
          <a:solidFill>
            <a:schemeClr val="accent3"/>
          </a:solidFill>
          <a:ln/>
        </p:spPr>
      </p:sp>
      <p:sp>
        <p:nvSpPr>
          <p:cNvPr id="11" name="a03_fade_dot5"/>
          <p:cNvSpPr/>
          <p:nvPr/>
        </p:nvSpPr>
        <p:spPr>
          <a:xfrm>
            <a:off x="1943100" y="2423160"/>
            <a:ext cx="155448" cy="155448"/>
          </a:xfrm>
          <a:prstGeom prst="ellipse">
            <a:avLst/>
          </a:prstGeom>
          <a:solidFill>
            <a:schemeClr val="accent3"/>
          </a:solidFill>
          <a:ln/>
        </p:spPr>
      </p:sp>
      <p:sp>
        <p:nvSpPr>
          <p:cNvPr id="12" name="a03_fade_dot6"/>
          <p:cNvSpPr/>
          <p:nvPr/>
        </p:nvSpPr>
        <p:spPr>
          <a:xfrm>
            <a:off x="2157984" y="2423160"/>
            <a:ext cx="155448" cy="155448"/>
          </a:xfrm>
          <a:prstGeom prst="ellipse">
            <a:avLst/>
          </a:prstGeom>
          <a:solidFill>
            <a:schemeClr val="accent3"/>
          </a:solidFill>
          <a:ln/>
        </p:spPr>
      </p:sp>
      <p:sp>
        <p:nvSpPr>
          <p:cNvPr id="13" name="a03_fade_dot7"/>
          <p:cNvSpPr/>
          <p:nvPr/>
        </p:nvSpPr>
        <p:spPr>
          <a:xfrm>
            <a:off x="2372868" y="2423160"/>
            <a:ext cx="155448" cy="155448"/>
          </a:xfrm>
          <a:prstGeom prst="ellipse">
            <a:avLst/>
          </a:prstGeom>
          <a:solidFill>
            <a:schemeClr val="accent3"/>
          </a:solidFill>
          <a:ln/>
        </p:spPr>
      </p:sp>
      <p:sp>
        <p:nvSpPr>
          <p:cNvPr id="14" name="a03_fade_dot8"/>
          <p:cNvSpPr/>
          <p:nvPr/>
        </p:nvSpPr>
        <p:spPr>
          <a:xfrm>
            <a:off x="2587752" y="2423160"/>
            <a:ext cx="155448" cy="155448"/>
          </a:xfrm>
          <a:prstGeom prst="ellipse">
            <a:avLst/>
          </a:prstGeom>
          <a:solidFill>
            <a:schemeClr val="accent3"/>
          </a:solidFill>
          <a:ln/>
        </p:spPr>
      </p:sp>
      <p:sp>
        <p:nvSpPr>
          <p:cNvPr id="15" name="a03_fade_dot9"/>
          <p:cNvSpPr/>
          <p:nvPr/>
        </p:nvSpPr>
        <p:spPr>
          <a:xfrm>
            <a:off x="2802636" y="2423160"/>
            <a:ext cx="155448" cy="155448"/>
          </a:xfrm>
          <a:prstGeom prst="ellipse">
            <a:avLst/>
          </a:prstGeom>
          <a:solidFill>
            <a:schemeClr val="accent3"/>
          </a:solidFill>
          <a:ln/>
        </p:spPr>
      </p:sp>
      <p:sp>
        <p:nvSpPr>
          <p:cNvPr id="16" name="a03_fade_dot10"/>
          <p:cNvSpPr/>
          <p:nvPr/>
        </p:nvSpPr>
        <p:spPr>
          <a:xfrm>
            <a:off x="3017520" y="2423160"/>
            <a:ext cx="155448" cy="155448"/>
          </a:xfrm>
          <a:prstGeom prst="ellipse">
            <a:avLst/>
          </a:prstGeom>
          <a:solidFill>
            <a:schemeClr val="accent3"/>
          </a:solidFill>
          <a:ln/>
        </p:spPr>
      </p:sp>
      <p:sp>
        <p:nvSpPr>
          <p:cNvPr id="17" name="a03_fade_dot11"/>
          <p:cNvSpPr/>
          <p:nvPr/>
        </p:nvSpPr>
        <p:spPr>
          <a:xfrm>
            <a:off x="3232404" y="2423160"/>
            <a:ext cx="155448" cy="155448"/>
          </a:xfrm>
          <a:prstGeom prst="ellipse">
            <a:avLst/>
          </a:prstGeom>
          <a:solidFill>
            <a:schemeClr val="accent3"/>
          </a:solidFill>
          <a:ln/>
        </p:spPr>
      </p:sp>
      <p:sp>
        <p:nvSpPr>
          <p:cNvPr id="18" name="a03_fade_dot12"/>
          <p:cNvSpPr/>
          <p:nvPr/>
        </p:nvSpPr>
        <p:spPr>
          <a:xfrm>
            <a:off x="3447288" y="2423160"/>
            <a:ext cx="155448" cy="155448"/>
          </a:xfrm>
          <a:prstGeom prst="ellipse">
            <a:avLst/>
          </a:prstGeom>
          <a:solidFill>
            <a:schemeClr val="accent3"/>
          </a:solidFill>
          <a:ln/>
        </p:spPr>
      </p:sp>
      <p:sp>
        <p:nvSpPr>
          <p:cNvPr id="19" name="a03_fade_dot13"/>
          <p:cNvSpPr/>
          <p:nvPr/>
        </p:nvSpPr>
        <p:spPr>
          <a:xfrm>
            <a:off x="3662172" y="2423160"/>
            <a:ext cx="155448" cy="155448"/>
          </a:xfrm>
          <a:prstGeom prst="ellipse">
            <a:avLst/>
          </a:prstGeom>
          <a:solidFill>
            <a:schemeClr val="accent3"/>
          </a:solidFill>
          <a:ln/>
        </p:spPr>
      </p:sp>
      <p:sp>
        <p:nvSpPr>
          <p:cNvPr id="20" name="a03_fade_dot14"/>
          <p:cNvSpPr/>
          <p:nvPr/>
        </p:nvSpPr>
        <p:spPr>
          <a:xfrm>
            <a:off x="3877056" y="2423160"/>
            <a:ext cx="155448" cy="155448"/>
          </a:xfrm>
          <a:prstGeom prst="ellipse">
            <a:avLst/>
          </a:prstGeom>
          <a:solidFill>
            <a:schemeClr val="accent3"/>
          </a:solidFill>
          <a:ln/>
        </p:spPr>
      </p:sp>
      <p:sp>
        <p:nvSpPr>
          <p:cNvPr id="21" name="a03_fade_dot15"/>
          <p:cNvSpPr/>
          <p:nvPr/>
        </p:nvSpPr>
        <p:spPr>
          <a:xfrm>
            <a:off x="4091940" y="2423160"/>
            <a:ext cx="155448" cy="155448"/>
          </a:xfrm>
          <a:prstGeom prst="ellipse">
            <a:avLst/>
          </a:prstGeom>
          <a:solidFill>
            <a:schemeClr val="accent3"/>
          </a:solidFill>
          <a:ln/>
        </p:spPr>
      </p:sp>
      <p:sp>
        <p:nvSpPr>
          <p:cNvPr id="22" name="a03_fade_dot16"/>
          <p:cNvSpPr/>
          <p:nvPr/>
        </p:nvSpPr>
        <p:spPr>
          <a:xfrm>
            <a:off x="4306824" y="2423160"/>
            <a:ext cx="155448" cy="155448"/>
          </a:xfrm>
          <a:prstGeom prst="ellipse">
            <a:avLst/>
          </a:prstGeom>
          <a:solidFill>
            <a:schemeClr val="accent3"/>
          </a:solidFill>
          <a:ln/>
        </p:spPr>
      </p:sp>
      <p:sp>
        <p:nvSpPr>
          <p:cNvPr id="23" name="a03_fade_dot17"/>
          <p:cNvSpPr/>
          <p:nvPr/>
        </p:nvSpPr>
        <p:spPr>
          <a:xfrm>
            <a:off x="4521708" y="2423160"/>
            <a:ext cx="155448" cy="155448"/>
          </a:xfrm>
          <a:prstGeom prst="ellipse">
            <a:avLst/>
          </a:prstGeom>
          <a:solidFill>
            <a:schemeClr val="accent3"/>
          </a:solidFill>
          <a:ln/>
        </p:spPr>
      </p:sp>
      <p:sp>
        <p:nvSpPr>
          <p:cNvPr id="24" name="a03_fade_dot18"/>
          <p:cNvSpPr/>
          <p:nvPr/>
        </p:nvSpPr>
        <p:spPr>
          <a:xfrm>
            <a:off x="4736592" y="2423160"/>
            <a:ext cx="155448" cy="155448"/>
          </a:xfrm>
          <a:prstGeom prst="ellipse">
            <a:avLst/>
          </a:prstGeom>
          <a:solidFill>
            <a:schemeClr val="accent3"/>
          </a:solidFill>
          <a:ln/>
        </p:spPr>
      </p:sp>
      <p:sp>
        <p:nvSpPr>
          <p:cNvPr id="25" name="a03_fade_dot19"/>
          <p:cNvSpPr/>
          <p:nvPr/>
        </p:nvSpPr>
        <p:spPr>
          <a:xfrm>
            <a:off x="4951476" y="2423160"/>
            <a:ext cx="155448" cy="155448"/>
          </a:xfrm>
          <a:prstGeom prst="ellipse">
            <a:avLst/>
          </a:prstGeom>
          <a:solidFill>
            <a:schemeClr val="accent3"/>
          </a:solidFill>
          <a:ln/>
        </p:spPr>
      </p:sp>
      <p:sp>
        <p:nvSpPr>
          <p:cNvPr id="26" name="a03_fade_dot20"/>
          <p:cNvSpPr/>
          <p:nvPr/>
        </p:nvSpPr>
        <p:spPr>
          <a:xfrm>
            <a:off x="5166360" y="2423160"/>
            <a:ext cx="155448" cy="155448"/>
          </a:xfrm>
          <a:prstGeom prst="ellipse">
            <a:avLst/>
          </a:prstGeom>
          <a:solidFill>
            <a:schemeClr val="accent3"/>
          </a:solidFill>
          <a:ln/>
        </p:spPr>
      </p:sp>
      <p:sp>
        <p:nvSpPr>
          <p:cNvPr id="27" name="a03_fade_dot21"/>
          <p:cNvSpPr/>
          <p:nvPr/>
        </p:nvSpPr>
        <p:spPr>
          <a:xfrm>
            <a:off x="5381244" y="2423160"/>
            <a:ext cx="155448" cy="155448"/>
          </a:xfrm>
          <a:prstGeom prst="ellipse">
            <a:avLst/>
          </a:prstGeom>
          <a:solidFill>
            <a:schemeClr val="accent3"/>
          </a:solidFill>
          <a:ln/>
        </p:spPr>
      </p:sp>
      <p:sp>
        <p:nvSpPr>
          <p:cNvPr id="28" name="a03_fade_dot22"/>
          <p:cNvSpPr/>
          <p:nvPr/>
        </p:nvSpPr>
        <p:spPr>
          <a:xfrm>
            <a:off x="5596128" y="2423160"/>
            <a:ext cx="155448" cy="155448"/>
          </a:xfrm>
          <a:prstGeom prst="ellipse">
            <a:avLst/>
          </a:prstGeom>
          <a:solidFill>
            <a:schemeClr val="accent3"/>
          </a:solidFill>
          <a:ln/>
        </p:spPr>
      </p:sp>
      <p:sp>
        <p:nvSpPr>
          <p:cNvPr id="29" name="a03_fade_dot23"/>
          <p:cNvSpPr/>
          <p:nvPr/>
        </p:nvSpPr>
        <p:spPr>
          <a:xfrm>
            <a:off x="5811012" y="2423160"/>
            <a:ext cx="155448" cy="155448"/>
          </a:xfrm>
          <a:prstGeom prst="ellipse">
            <a:avLst/>
          </a:prstGeom>
          <a:solidFill>
            <a:schemeClr val="accent3"/>
          </a:solidFill>
          <a:ln/>
        </p:spPr>
      </p:sp>
      <p:sp>
        <p:nvSpPr>
          <p:cNvPr id="30" name="a02_fade_dot24"/>
          <p:cNvSpPr/>
          <p:nvPr/>
        </p:nvSpPr>
        <p:spPr>
          <a:xfrm>
            <a:off x="6025896" y="2423160"/>
            <a:ext cx="155448" cy="155448"/>
          </a:xfrm>
          <a:prstGeom prst="ellipse">
            <a:avLst/>
          </a:prstGeom>
          <a:solidFill>
            <a:schemeClr val="accent6"/>
          </a:solidFill>
          <a:ln/>
        </p:spPr>
      </p:sp>
      <p:sp>
        <p:nvSpPr>
          <p:cNvPr id="31" name="a02_fade_dot25"/>
          <p:cNvSpPr/>
          <p:nvPr/>
        </p:nvSpPr>
        <p:spPr>
          <a:xfrm>
            <a:off x="868680" y="2715768"/>
            <a:ext cx="155448" cy="155448"/>
          </a:xfrm>
          <a:prstGeom prst="ellipse">
            <a:avLst/>
          </a:prstGeom>
          <a:solidFill>
            <a:schemeClr val="accent6"/>
          </a:solidFill>
          <a:ln/>
        </p:spPr>
      </p:sp>
      <p:sp>
        <p:nvSpPr>
          <p:cNvPr id="32" name="a02_fade_dot26"/>
          <p:cNvSpPr/>
          <p:nvPr/>
        </p:nvSpPr>
        <p:spPr>
          <a:xfrm>
            <a:off x="1083564" y="2715768"/>
            <a:ext cx="155448" cy="155448"/>
          </a:xfrm>
          <a:prstGeom prst="ellipse">
            <a:avLst/>
          </a:prstGeom>
          <a:solidFill>
            <a:schemeClr val="accent6"/>
          </a:solidFill>
          <a:ln/>
        </p:spPr>
      </p:sp>
      <p:sp>
        <p:nvSpPr>
          <p:cNvPr id="33" name="a02_fade_dot27"/>
          <p:cNvSpPr/>
          <p:nvPr/>
        </p:nvSpPr>
        <p:spPr>
          <a:xfrm>
            <a:off x="1298448" y="2715768"/>
            <a:ext cx="155448" cy="155448"/>
          </a:xfrm>
          <a:prstGeom prst="ellipse">
            <a:avLst/>
          </a:prstGeom>
          <a:solidFill>
            <a:schemeClr val="accent6"/>
          </a:solidFill>
          <a:ln/>
        </p:spPr>
      </p:sp>
      <p:sp>
        <p:nvSpPr>
          <p:cNvPr id="34" name="a02_fade_dot28"/>
          <p:cNvSpPr/>
          <p:nvPr/>
        </p:nvSpPr>
        <p:spPr>
          <a:xfrm>
            <a:off x="1513332" y="2715768"/>
            <a:ext cx="155448" cy="155448"/>
          </a:xfrm>
          <a:prstGeom prst="ellipse">
            <a:avLst/>
          </a:prstGeom>
          <a:solidFill>
            <a:schemeClr val="accent6"/>
          </a:solidFill>
          <a:ln/>
        </p:spPr>
      </p:sp>
      <p:sp>
        <p:nvSpPr>
          <p:cNvPr id="35" name="a02_fade_dot29"/>
          <p:cNvSpPr/>
          <p:nvPr/>
        </p:nvSpPr>
        <p:spPr>
          <a:xfrm>
            <a:off x="1728216" y="2715768"/>
            <a:ext cx="155448" cy="155448"/>
          </a:xfrm>
          <a:prstGeom prst="ellipse">
            <a:avLst/>
          </a:prstGeom>
          <a:solidFill>
            <a:schemeClr val="accent6"/>
          </a:solidFill>
          <a:ln/>
        </p:spPr>
      </p:sp>
      <p:sp>
        <p:nvSpPr>
          <p:cNvPr id="36" name="a02_fade_dot30"/>
          <p:cNvSpPr/>
          <p:nvPr/>
        </p:nvSpPr>
        <p:spPr>
          <a:xfrm>
            <a:off x="1943100" y="2715768"/>
            <a:ext cx="155448" cy="155448"/>
          </a:xfrm>
          <a:prstGeom prst="ellipse">
            <a:avLst/>
          </a:prstGeom>
          <a:solidFill>
            <a:schemeClr val="accent6"/>
          </a:solidFill>
          <a:ln/>
        </p:spPr>
      </p:sp>
      <p:sp>
        <p:nvSpPr>
          <p:cNvPr id="37" name="a02_fade_dot31"/>
          <p:cNvSpPr/>
          <p:nvPr/>
        </p:nvSpPr>
        <p:spPr>
          <a:xfrm>
            <a:off x="2157984" y="2715768"/>
            <a:ext cx="155448" cy="155448"/>
          </a:xfrm>
          <a:prstGeom prst="ellipse">
            <a:avLst/>
          </a:prstGeom>
          <a:solidFill>
            <a:schemeClr val="accent6"/>
          </a:solidFill>
          <a:ln/>
        </p:spPr>
      </p:sp>
      <p:sp>
        <p:nvSpPr>
          <p:cNvPr id="38" name="a02_fade_dot32"/>
          <p:cNvSpPr/>
          <p:nvPr/>
        </p:nvSpPr>
        <p:spPr>
          <a:xfrm>
            <a:off x="2372868" y="2715768"/>
            <a:ext cx="155448" cy="155448"/>
          </a:xfrm>
          <a:prstGeom prst="ellipse">
            <a:avLst/>
          </a:prstGeom>
          <a:solidFill>
            <a:schemeClr val="accent6"/>
          </a:solidFill>
          <a:ln/>
        </p:spPr>
      </p:sp>
      <p:sp>
        <p:nvSpPr>
          <p:cNvPr id="39" name="a02_fade_dot33"/>
          <p:cNvSpPr/>
          <p:nvPr/>
        </p:nvSpPr>
        <p:spPr>
          <a:xfrm>
            <a:off x="2587752" y="2715768"/>
            <a:ext cx="155448" cy="155448"/>
          </a:xfrm>
          <a:prstGeom prst="ellipse">
            <a:avLst/>
          </a:prstGeom>
          <a:solidFill>
            <a:schemeClr val="accent6"/>
          </a:solidFill>
          <a:ln/>
        </p:spPr>
      </p:sp>
      <p:sp>
        <p:nvSpPr>
          <p:cNvPr id="40" name="a02_fade_dot34"/>
          <p:cNvSpPr/>
          <p:nvPr/>
        </p:nvSpPr>
        <p:spPr>
          <a:xfrm>
            <a:off x="2802636" y="2715768"/>
            <a:ext cx="155448" cy="155448"/>
          </a:xfrm>
          <a:prstGeom prst="ellipse">
            <a:avLst/>
          </a:prstGeom>
          <a:solidFill>
            <a:schemeClr val="accent6"/>
          </a:solidFill>
          <a:ln/>
        </p:spPr>
      </p:sp>
      <p:sp>
        <p:nvSpPr>
          <p:cNvPr id="41" name="a02_fade_dot35"/>
          <p:cNvSpPr/>
          <p:nvPr/>
        </p:nvSpPr>
        <p:spPr>
          <a:xfrm>
            <a:off x="3017520" y="2715768"/>
            <a:ext cx="155448" cy="155448"/>
          </a:xfrm>
          <a:prstGeom prst="ellipse">
            <a:avLst/>
          </a:prstGeom>
          <a:solidFill>
            <a:schemeClr val="accent6"/>
          </a:solidFill>
          <a:ln/>
        </p:spPr>
      </p:sp>
      <p:sp>
        <p:nvSpPr>
          <p:cNvPr id="42" name="a02_fade_dot36"/>
          <p:cNvSpPr/>
          <p:nvPr/>
        </p:nvSpPr>
        <p:spPr>
          <a:xfrm>
            <a:off x="3232404" y="2715768"/>
            <a:ext cx="155448" cy="155448"/>
          </a:xfrm>
          <a:prstGeom prst="ellipse">
            <a:avLst/>
          </a:prstGeom>
          <a:solidFill>
            <a:schemeClr val="accent6"/>
          </a:solidFill>
          <a:ln/>
        </p:spPr>
      </p:sp>
      <p:sp>
        <p:nvSpPr>
          <p:cNvPr id="43" name="a02_fade_dot37"/>
          <p:cNvSpPr/>
          <p:nvPr/>
        </p:nvSpPr>
        <p:spPr>
          <a:xfrm>
            <a:off x="3447288" y="2715768"/>
            <a:ext cx="155448" cy="155448"/>
          </a:xfrm>
          <a:prstGeom prst="ellipse">
            <a:avLst/>
          </a:prstGeom>
          <a:solidFill>
            <a:schemeClr val="accent6"/>
          </a:solidFill>
          <a:ln/>
        </p:spPr>
      </p:sp>
      <p:sp>
        <p:nvSpPr>
          <p:cNvPr id="44" name="a02_fade_dot38"/>
          <p:cNvSpPr/>
          <p:nvPr/>
        </p:nvSpPr>
        <p:spPr>
          <a:xfrm>
            <a:off x="3662172" y="2715768"/>
            <a:ext cx="155448" cy="155448"/>
          </a:xfrm>
          <a:prstGeom prst="ellipse">
            <a:avLst/>
          </a:prstGeom>
          <a:solidFill>
            <a:schemeClr val="accent6"/>
          </a:solidFill>
          <a:ln/>
        </p:spPr>
      </p:sp>
      <p:sp>
        <p:nvSpPr>
          <p:cNvPr id="45" name="a02_fade_dot39"/>
          <p:cNvSpPr/>
          <p:nvPr/>
        </p:nvSpPr>
        <p:spPr>
          <a:xfrm>
            <a:off x="3877056" y="2715768"/>
            <a:ext cx="155448" cy="155448"/>
          </a:xfrm>
          <a:prstGeom prst="ellipse">
            <a:avLst/>
          </a:prstGeom>
          <a:solidFill>
            <a:schemeClr val="accent6"/>
          </a:solidFill>
          <a:ln/>
        </p:spPr>
      </p:sp>
      <p:sp>
        <p:nvSpPr>
          <p:cNvPr id="46" name="a02_fade_dot40"/>
          <p:cNvSpPr/>
          <p:nvPr/>
        </p:nvSpPr>
        <p:spPr>
          <a:xfrm>
            <a:off x="4091940" y="2715768"/>
            <a:ext cx="155448" cy="155448"/>
          </a:xfrm>
          <a:prstGeom prst="ellipse">
            <a:avLst/>
          </a:prstGeom>
          <a:solidFill>
            <a:schemeClr val="accent6"/>
          </a:solidFill>
          <a:ln/>
        </p:spPr>
      </p:sp>
      <p:sp>
        <p:nvSpPr>
          <p:cNvPr id="47" name="a02_fade_dot41"/>
          <p:cNvSpPr/>
          <p:nvPr/>
        </p:nvSpPr>
        <p:spPr>
          <a:xfrm>
            <a:off x="4306824" y="2715768"/>
            <a:ext cx="155448" cy="155448"/>
          </a:xfrm>
          <a:prstGeom prst="ellipse">
            <a:avLst/>
          </a:prstGeom>
          <a:solidFill>
            <a:schemeClr val="accent6"/>
          </a:solidFill>
          <a:ln/>
        </p:spPr>
      </p:sp>
      <p:sp>
        <p:nvSpPr>
          <p:cNvPr id="48" name="a02_fade_dot42"/>
          <p:cNvSpPr/>
          <p:nvPr/>
        </p:nvSpPr>
        <p:spPr>
          <a:xfrm>
            <a:off x="4521708" y="2715768"/>
            <a:ext cx="155448" cy="155448"/>
          </a:xfrm>
          <a:prstGeom prst="ellipse">
            <a:avLst/>
          </a:prstGeom>
          <a:solidFill>
            <a:schemeClr val="accent6"/>
          </a:solidFill>
          <a:ln/>
        </p:spPr>
      </p:sp>
      <p:sp>
        <p:nvSpPr>
          <p:cNvPr id="49" name="a02_fade_dot43"/>
          <p:cNvSpPr/>
          <p:nvPr/>
        </p:nvSpPr>
        <p:spPr>
          <a:xfrm>
            <a:off x="4736592" y="2715768"/>
            <a:ext cx="155448" cy="155448"/>
          </a:xfrm>
          <a:prstGeom prst="ellipse">
            <a:avLst/>
          </a:prstGeom>
          <a:solidFill>
            <a:schemeClr val="accent6"/>
          </a:solidFill>
          <a:ln/>
        </p:spPr>
      </p:sp>
      <p:sp>
        <p:nvSpPr>
          <p:cNvPr id="50" name="a02_fade_dot44"/>
          <p:cNvSpPr/>
          <p:nvPr/>
        </p:nvSpPr>
        <p:spPr>
          <a:xfrm>
            <a:off x="4951476" y="2715768"/>
            <a:ext cx="155448" cy="155448"/>
          </a:xfrm>
          <a:prstGeom prst="ellipse">
            <a:avLst/>
          </a:prstGeom>
          <a:solidFill>
            <a:schemeClr val="accent6"/>
          </a:solidFill>
          <a:ln/>
        </p:spPr>
      </p:sp>
      <p:sp>
        <p:nvSpPr>
          <p:cNvPr id="51" name="a02_fade_dot45"/>
          <p:cNvSpPr/>
          <p:nvPr/>
        </p:nvSpPr>
        <p:spPr>
          <a:xfrm>
            <a:off x="5166360" y="2715768"/>
            <a:ext cx="155448" cy="155448"/>
          </a:xfrm>
          <a:prstGeom prst="ellipse">
            <a:avLst/>
          </a:prstGeom>
          <a:solidFill>
            <a:schemeClr val="accent6"/>
          </a:solidFill>
          <a:ln/>
        </p:spPr>
      </p:sp>
      <p:sp>
        <p:nvSpPr>
          <p:cNvPr id="52" name="a02_fade_dot46"/>
          <p:cNvSpPr/>
          <p:nvPr/>
        </p:nvSpPr>
        <p:spPr>
          <a:xfrm>
            <a:off x="5381244" y="2715768"/>
            <a:ext cx="155448" cy="155448"/>
          </a:xfrm>
          <a:prstGeom prst="ellipse">
            <a:avLst/>
          </a:prstGeom>
          <a:solidFill>
            <a:schemeClr val="accent6"/>
          </a:solidFill>
          <a:ln/>
        </p:spPr>
      </p:sp>
      <p:sp>
        <p:nvSpPr>
          <p:cNvPr id="53" name="a02_fade_dot47"/>
          <p:cNvSpPr/>
          <p:nvPr/>
        </p:nvSpPr>
        <p:spPr>
          <a:xfrm>
            <a:off x="5596128" y="2715768"/>
            <a:ext cx="155448" cy="155448"/>
          </a:xfrm>
          <a:prstGeom prst="ellipse">
            <a:avLst/>
          </a:prstGeom>
          <a:solidFill>
            <a:schemeClr val="accent6"/>
          </a:solidFill>
          <a:ln/>
        </p:spPr>
      </p:sp>
      <p:sp>
        <p:nvSpPr>
          <p:cNvPr id="54" name="a02_fade_dot48"/>
          <p:cNvSpPr/>
          <p:nvPr/>
        </p:nvSpPr>
        <p:spPr>
          <a:xfrm>
            <a:off x="5811012" y="2715768"/>
            <a:ext cx="155448" cy="155448"/>
          </a:xfrm>
          <a:prstGeom prst="ellipse">
            <a:avLst/>
          </a:prstGeom>
          <a:solidFill>
            <a:schemeClr val="accent6"/>
          </a:solidFill>
          <a:ln/>
        </p:spPr>
      </p:sp>
      <p:sp>
        <p:nvSpPr>
          <p:cNvPr id="55" name="a02_fade_dot49"/>
          <p:cNvSpPr/>
          <p:nvPr/>
        </p:nvSpPr>
        <p:spPr>
          <a:xfrm>
            <a:off x="6025896" y="2715768"/>
            <a:ext cx="155448" cy="155448"/>
          </a:xfrm>
          <a:prstGeom prst="ellipse">
            <a:avLst/>
          </a:prstGeom>
          <a:solidFill>
            <a:schemeClr val="accent6"/>
          </a:solidFill>
          <a:ln/>
        </p:spPr>
      </p:sp>
      <p:sp>
        <p:nvSpPr>
          <p:cNvPr id="56" name="a02_fade_dot50"/>
          <p:cNvSpPr/>
          <p:nvPr/>
        </p:nvSpPr>
        <p:spPr>
          <a:xfrm>
            <a:off x="868680" y="3008376"/>
            <a:ext cx="155448" cy="155448"/>
          </a:xfrm>
          <a:prstGeom prst="ellipse">
            <a:avLst/>
          </a:prstGeom>
          <a:solidFill>
            <a:schemeClr val="accent6"/>
          </a:solidFill>
          <a:ln/>
        </p:spPr>
      </p:sp>
      <p:sp>
        <p:nvSpPr>
          <p:cNvPr id="57" name="a02_fade_dot51"/>
          <p:cNvSpPr/>
          <p:nvPr/>
        </p:nvSpPr>
        <p:spPr>
          <a:xfrm>
            <a:off x="1083564" y="3008376"/>
            <a:ext cx="155448" cy="155448"/>
          </a:xfrm>
          <a:prstGeom prst="ellipse">
            <a:avLst/>
          </a:prstGeom>
          <a:solidFill>
            <a:schemeClr val="accent6"/>
          </a:solidFill>
          <a:ln/>
        </p:spPr>
      </p:sp>
      <p:sp>
        <p:nvSpPr>
          <p:cNvPr id="58" name="a02_fade_dot52"/>
          <p:cNvSpPr/>
          <p:nvPr/>
        </p:nvSpPr>
        <p:spPr>
          <a:xfrm>
            <a:off x="1298448" y="3008376"/>
            <a:ext cx="155448" cy="155448"/>
          </a:xfrm>
          <a:prstGeom prst="ellipse">
            <a:avLst/>
          </a:prstGeom>
          <a:solidFill>
            <a:schemeClr val="accent6"/>
          </a:solidFill>
          <a:ln/>
        </p:spPr>
      </p:sp>
      <p:sp>
        <p:nvSpPr>
          <p:cNvPr id="59" name="a02_fade_dot53"/>
          <p:cNvSpPr/>
          <p:nvPr/>
        </p:nvSpPr>
        <p:spPr>
          <a:xfrm>
            <a:off x="1513332" y="3008376"/>
            <a:ext cx="155448" cy="155448"/>
          </a:xfrm>
          <a:prstGeom prst="ellipse">
            <a:avLst/>
          </a:prstGeom>
          <a:solidFill>
            <a:schemeClr val="accent6"/>
          </a:solidFill>
          <a:ln/>
        </p:spPr>
      </p:sp>
      <p:sp>
        <p:nvSpPr>
          <p:cNvPr id="60" name="a02_fade_dot54"/>
          <p:cNvSpPr/>
          <p:nvPr/>
        </p:nvSpPr>
        <p:spPr>
          <a:xfrm>
            <a:off x="1728216" y="3008376"/>
            <a:ext cx="155448" cy="155448"/>
          </a:xfrm>
          <a:prstGeom prst="ellipse">
            <a:avLst/>
          </a:prstGeom>
          <a:solidFill>
            <a:schemeClr val="accent6"/>
          </a:solidFill>
          <a:ln/>
        </p:spPr>
      </p:sp>
      <p:sp>
        <p:nvSpPr>
          <p:cNvPr id="61" name="a02_fade_dot55"/>
          <p:cNvSpPr/>
          <p:nvPr/>
        </p:nvSpPr>
        <p:spPr>
          <a:xfrm>
            <a:off x="1943100" y="3008376"/>
            <a:ext cx="155448" cy="155448"/>
          </a:xfrm>
          <a:prstGeom prst="ellipse">
            <a:avLst/>
          </a:prstGeom>
          <a:solidFill>
            <a:schemeClr val="accent6"/>
          </a:solidFill>
          <a:ln/>
        </p:spPr>
      </p:sp>
      <p:sp>
        <p:nvSpPr>
          <p:cNvPr id="62" name="a02_fade_dot56"/>
          <p:cNvSpPr/>
          <p:nvPr/>
        </p:nvSpPr>
        <p:spPr>
          <a:xfrm>
            <a:off x="2157984" y="3008376"/>
            <a:ext cx="155448" cy="155448"/>
          </a:xfrm>
          <a:prstGeom prst="ellipse">
            <a:avLst/>
          </a:prstGeom>
          <a:solidFill>
            <a:schemeClr val="accent6"/>
          </a:solidFill>
          <a:ln/>
        </p:spPr>
      </p:sp>
      <p:sp>
        <p:nvSpPr>
          <p:cNvPr id="63" name="a02_fade_dot57"/>
          <p:cNvSpPr/>
          <p:nvPr/>
        </p:nvSpPr>
        <p:spPr>
          <a:xfrm>
            <a:off x="2372868" y="3008376"/>
            <a:ext cx="155448" cy="155448"/>
          </a:xfrm>
          <a:prstGeom prst="ellipse">
            <a:avLst/>
          </a:prstGeom>
          <a:solidFill>
            <a:schemeClr val="accent6"/>
          </a:solidFill>
          <a:ln/>
        </p:spPr>
      </p:sp>
      <p:sp>
        <p:nvSpPr>
          <p:cNvPr id="64" name="a02_fade_dot58"/>
          <p:cNvSpPr/>
          <p:nvPr/>
        </p:nvSpPr>
        <p:spPr>
          <a:xfrm>
            <a:off x="2587752" y="3008376"/>
            <a:ext cx="155448" cy="155448"/>
          </a:xfrm>
          <a:prstGeom prst="ellipse">
            <a:avLst/>
          </a:prstGeom>
          <a:solidFill>
            <a:schemeClr val="accent6"/>
          </a:solidFill>
          <a:ln/>
        </p:spPr>
      </p:sp>
      <p:sp>
        <p:nvSpPr>
          <p:cNvPr id="65" name="a02_fade_dot59"/>
          <p:cNvSpPr/>
          <p:nvPr/>
        </p:nvSpPr>
        <p:spPr>
          <a:xfrm>
            <a:off x="2802636" y="3008376"/>
            <a:ext cx="155448" cy="155448"/>
          </a:xfrm>
          <a:prstGeom prst="ellipse">
            <a:avLst/>
          </a:prstGeom>
          <a:solidFill>
            <a:schemeClr val="accent6"/>
          </a:solidFill>
          <a:ln/>
        </p:spPr>
      </p:sp>
      <p:sp>
        <p:nvSpPr>
          <p:cNvPr id="66" name="a02_fade_dot60"/>
          <p:cNvSpPr/>
          <p:nvPr/>
        </p:nvSpPr>
        <p:spPr>
          <a:xfrm>
            <a:off x="3017520" y="3008376"/>
            <a:ext cx="155448" cy="155448"/>
          </a:xfrm>
          <a:prstGeom prst="ellipse">
            <a:avLst/>
          </a:prstGeom>
          <a:solidFill>
            <a:schemeClr val="accent6"/>
          </a:solidFill>
          <a:ln/>
        </p:spPr>
      </p:sp>
      <p:sp>
        <p:nvSpPr>
          <p:cNvPr id="67" name="a02_fade_dot61"/>
          <p:cNvSpPr/>
          <p:nvPr/>
        </p:nvSpPr>
        <p:spPr>
          <a:xfrm>
            <a:off x="3232404" y="3008376"/>
            <a:ext cx="155448" cy="155448"/>
          </a:xfrm>
          <a:prstGeom prst="ellipse">
            <a:avLst/>
          </a:prstGeom>
          <a:solidFill>
            <a:schemeClr val="accent6"/>
          </a:solidFill>
          <a:ln/>
        </p:spPr>
      </p:sp>
      <p:sp>
        <p:nvSpPr>
          <p:cNvPr id="68" name="a02_fade_dot62"/>
          <p:cNvSpPr/>
          <p:nvPr/>
        </p:nvSpPr>
        <p:spPr>
          <a:xfrm>
            <a:off x="3447288" y="3008376"/>
            <a:ext cx="155448" cy="155448"/>
          </a:xfrm>
          <a:prstGeom prst="ellipse">
            <a:avLst/>
          </a:prstGeom>
          <a:solidFill>
            <a:schemeClr val="accent6"/>
          </a:solidFill>
          <a:ln/>
        </p:spPr>
      </p:sp>
      <p:sp>
        <p:nvSpPr>
          <p:cNvPr id="69" name="a02_fade_dot63"/>
          <p:cNvSpPr/>
          <p:nvPr/>
        </p:nvSpPr>
        <p:spPr>
          <a:xfrm>
            <a:off x="3662172" y="3008376"/>
            <a:ext cx="155448" cy="155448"/>
          </a:xfrm>
          <a:prstGeom prst="ellipse">
            <a:avLst/>
          </a:prstGeom>
          <a:solidFill>
            <a:schemeClr val="accent6"/>
          </a:solidFill>
          <a:ln/>
        </p:spPr>
      </p:sp>
      <p:sp>
        <p:nvSpPr>
          <p:cNvPr id="70" name="a02_fade_dot64"/>
          <p:cNvSpPr/>
          <p:nvPr/>
        </p:nvSpPr>
        <p:spPr>
          <a:xfrm>
            <a:off x="3877056" y="3008376"/>
            <a:ext cx="155448" cy="155448"/>
          </a:xfrm>
          <a:prstGeom prst="ellipse">
            <a:avLst/>
          </a:prstGeom>
          <a:solidFill>
            <a:schemeClr val="accent6"/>
          </a:solidFill>
          <a:ln/>
        </p:spPr>
      </p:sp>
      <p:sp>
        <p:nvSpPr>
          <p:cNvPr id="71" name="a02_fade_dot65"/>
          <p:cNvSpPr/>
          <p:nvPr/>
        </p:nvSpPr>
        <p:spPr>
          <a:xfrm>
            <a:off x="4091940" y="3008376"/>
            <a:ext cx="155448" cy="155448"/>
          </a:xfrm>
          <a:prstGeom prst="ellipse">
            <a:avLst/>
          </a:prstGeom>
          <a:solidFill>
            <a:schemeClr val="accent6"/>
          </a:solidFill>
          <a:ln/>
        </p:spPr>
      </p:sp>
      <p:sp>
        <p:nvSpPr>
          <p:cNvPr id="72" name="a02_fade_dot66"/>
          <p:cNvSpPr/>
          <p:nvPr/>
        </p:nvSpPr>
        <p:spPr>
          <a:xfrm>
            <a:off x="4306824" y="3008376"/>
            <a:ext cx="155448" cy="155448"/>
          </a:xfrm>
          <a:prstGeom prst="ellipse">
            <a:avLst/>
          </a:prstGeom>
          <a:solidFill>
            <a:schemeClr val="accent6"/>
          </a:solidFill>
          <a:ln/>
        </p:spPr>
      </p:sp>
      <p:sp>
        <p:nvSpPr>
          <p:cNvPr id="73" name="a02_fade_dot67"/>
          <p:cNvSpPr/>
          <p:nvPr/>
        </p:nvSpPr>
        <p:spPr>
          <a:xfrm>
            <a:off x="4521708" y="3008376"/>
            <a:ext cx="155448" cy="155448"/>
          </a:xfrm>
          <a:prstGeom prst="ellipse">
            <a:avLst/>
          </a:prstGeom>
          <a:solidFill>
            <a:schemeClr val="accent6"/>
          </a:solidFill>
          <a:ln/>
        </p:spPr>
      </p:sp>
      <p:sp>
        <p:nvSpPr>
          <p:cNvPr id="74" name="a02_fade_dot68"/>
          <p:cNvSpPr/>
          <p:nvPr/>
        </p:nvSpPr>
        <p:spPr>
          <a:xfrm>
            <a:off x="4736592" y="3008376"/>
            <a:ext cx="155448" cy="155448"/>
          </a:xfrm>
          <a:prstGeom prst="ellipse">
            <a:avLst/>
          </a:prstGeom>
          <a:solidFill>
            <a:schemeClr val="accent6"/>
          </a:solidFill>
          <a:ln/>
        </p:spPr>
      </p:sp>
      <p:sp>
        <p:nvSpPr>
          <p:cNvPr id="75" name="a02_fade_dot69"/>
          <p:cNvSpPr/>
          <p:nvPr/>
        </p:nvSpPr>
        <p:spPr>
          <a:xfrm>
            <a:off x="4951476" y="3008376"/>
            <a:ext cx="155448" cy="155448"/>
          </a:xfrm>
          <a:prstGeom prst="ellipse">
            <a:avLst/>
          </a:prstGeom>
          <a:solidFill>
            <a:schemeClr val="accent6"/>
          </a:solidFill>
          <a:ln/>
        </p:spPr>
      </p:sp>
      <p:sp>
        <p:nvSpPr>
          <p:cNvPr id="76" name="a02_fade_dot70"/>
          <p:cNvSpPr/>
          <p:nvPr/>
        </p:nvSpPr>
        <p:spPr>
          <a:xfrm>
            <a:off x="5166360" y="3008376"/>
            <a:ext cx="155448" cy="155448"/>
          </a:xfrm>
          <a:prstGeom prst="ellipse">
            <a:avLst/>
          </a:prstGeom>
          <a:solidFill>
            <a:schemeClr val="accent6"/>
          </a:solidFill>
          <a:ln/>
        </p:spPr>
      </p:sp>
      <p:sp>
        <p:nvSpPr>
          <p:cNvPr id="77" name="a02_fade_dot71"/>
          <p:cNvSpPr/>
          <p:nvPr/>
        </p:nvSpPr>
        <p:spPr>
          <a:xfrm>
            <a:off x="5381244" y="3008376"/>
            <a:ext cx="155448" cy="155448"/>
          </a:xfrm>
          <a:prstGeom prst="ellipse">
            <a:avLst/>
          </a:prstGeom>
          <a:solidFill>
            <a:schemeClr val="accent6"/>
          </a:solidFill>
          <a:ln/>
        </p:spPr>
      </p:sp>
      <p:sp>
        <p:nvSpPr>
          <p:cNvPr id="78" name="a02_fade_dot72"/>
          <p:cNvSpPr/>
          <p:nvPr/>
        </p:nvSpPr>
        <p:spPr>
          <a:xfrm>
            <a:off x="5596128" y="3008376"/>
            <a:ext cx="155448" cy="155448"/>
          </a:xfrm>
          <a:prstGeom prst="ellipse">
            <a:avLst/>
          </a:prstGeom>
          <a:solidFill>
            <a:schemeClr val="accent6"/>
          </a:solidFill>
          <a:ln/>
        </p:spPr>
      </p:sp>
      <p:sp>
        <p:nvSpPr>
          <p:cNvPr id="79" name="a02_fade_dot73"/>
          <p:cNvSpPr/>
          <p:nvPr/>
        </p:nvSpPr>
        <p:spPr>
          <a:xfrm>
            <a:off x="5811012" y="3008376"/>
            <a:ext cx="155448" cy="155448"/>
          </a:xfrm>
          <a:prstGeom prst="ellipse">
            <a:avLst/>
          </a:prstGeom>
          <a:solidFill>
            <a:schemeClr val="accent6"/>
          </a:solidFill>
          <a:ln/>
        </p:spPr>
      </p:sp>
      <p:sp>
        <p:nvSpPr>
          <p:cNvPr id="80" name="a02_fade_dot74"/>
          <p:cNvSpPr/>
          <p:nvPr/>
        </p:nvSpPr>
        <p:spPr>
          <a:xfrm>
            <a:off x="6025896" y="3008376"/>
            <a:ext cx="155448" cy="155448"/>
          </a:xfrm>
          <a:prstGeom prst="ellipse">
            <a:avLst/>
          </a:prstGeom>
          <a:solidFill>
            <a:schemeClr val="accent6"/>
          </a:solidFill>
          <a:ln/>
        </p:spPr>
      </p:sp>
      <p:sp>
        <p:nvSpPr>
          <p:cNvPr id="81" name="a02_fade_dot75"/>
          <p:cNvSpPr/>
          <p:nvPr/>
        </p:nvSpPr>
        <p:spPr>
          <a:xfrm>
            <a:off x="868680" y="3300984"/>
            <a:ext cx="155448" cy="155448"/>
          </a:xfrm>
          <a:prstGeom prst="ellipse">
            <a:avLst/>
          </a:prstGeom>
          <a:solidFill>
            <a:schemeClr val="accent6"/>
          </a:solidFill>
          <a:ln/>
        </p:spPr>
      </p:sp>
      <p:sp>
        <p:nvSpPr>
          <p:cNvPr id="82" name="a02_fade_dot76"/>
          <p:cNvSpPr/>
          <p:nvPr/>
        </p:nvSpPr>
        <p:spPr>
          <a:xfrm>
            <a:off x="1083564" y="3300984"/>
            <a:ext cx="155448" cy="155448"/>
          </a:xfrm>
          <a:prstGeom prst="ellipse">
            <a:avLst/>
          </a:prstGeom>
          <a:solidFill>
            <a:schemeClr val="accent6"/>
          </a:solidFill>
          <a:ln/>
        </p:spPr>
      </p:sp>
      <p:sp>
        <p:nvSpPr>
          <p:cNvPr id="83" name="a02_fade_dot77"/>
          <p:cNvSpPr/>
          <p:nvPr/>
        </p:nvSpPr>
        <p:spPr>
          <a:xfrm>
            <a:off x="1298448" y="3300984"/>
            <a:ext cx="155448" cy="155448"/>
          </a:xfrm>
          <a:prstGeom prst="ellipse">
            <a:avLst/>
          </a:prstGeom>
          <a:solidFill>
            <a:schemeClr val="accent6"/>
          </a:solidFill>
          <a:ln/>
        </p:spPr>
      </p:sp>
      <p:sp>
        <p:nvSpPr>
          <p:cNvPr id="84" name="a02_fade_dot78"/>
          <p:cNvSpPr/>
          <p:nvPr/>
        </p:nvSpPr>
        <p:spPr>
          <a:xfrm>
            <a:off x="1513332" y="3300984"/>
            <a:ext cx="155448" cy="155448"/>
          </a:xfrm>
          <a:prstGeom prst="ellipse">
            <a:avLst/>
          </a:prstGeom>
          <a:solidFill>
            <a:schemeClr val="accent6"/>
          </a:solidFill>
          <a:ln/>
        </p:spPr>
      </p:sp>
      <p:sp>
        <p:nvSpPr>
          <p:cNvPr id="85" name="a02_fade_dot79"/>
          <p:cNvSpPr/>
          <p:nvPr/>
        </p:nvSpPr>
        <p:spPr>
          <a:xfrm>
            <a:off x="1728216" y="3300984"/>
            <a:ext cx="155448" cy="155448"/>
          </a:xfrm>
          <a:prstGeom prst="ellipse">
            <a:avLst/>
          </a:prstGeom>
          <a:solidFill>
            <a:schemeClr val="accent6"/>
          </a:solidFill>
          <a:ln/>
        </p:spPr>
      </p:sp>
      <p:sp>
        <p:nvSpPr>
          <p:cNvPr id="86" name="a02_fade_dot80"/>
          <p:cNvSpPr/>
          <p:nvPr/>
        </p:nvSpPr>
        <p:spPr>
          <a:xfrm>
            <a:off x="1943100" y="3300984"/>
            <a:ext cx="155448" cy="155448"/>
          </a:xfrm>
          <a:prstGeom prst="ellipse">
            <a:avLst/>
          </a:prstGeom>
          <a:solidFill>
            <a:schemeClr val="accent6"/>
          </a:solidFill>
          <a:ln/>
        </p:spPr>
      </p:sp>
      <p:sp>
        <p:nvSpPr>
          <p:cNvPr id="87" name="a02_fade_dot81"/>
          <p:cNvSpPr/>
          <p:nvPr/>
        </p:nvSpPr>
        <p:spPr>
          <a:xfrm>
            <a:off x="2157984" y="3300984"/>
            <a:ext cx="155448" cy="155448"/>
          </a:xfrm>
          <a:prstGeom prst="ellipse">
            <a:avLst/>
          </a:prstGeom>
          <a:solidFill>
            <a:schemeClr val="accent6"/>
          </a:solidFill>
          <a:ln/>
        </p:spPr>
      </p:sp>
      <p:sp>
        <p:nvSpPr>
          <p:cNvPr id="88" name="a02_fade_dot82"/>
          <p:cNvSpPr/>
          <p:nvPr/>
        </p:nvSpPr>
        <p:spPr>
          <a:xfrm>
            <a:off x="2372868" y="3300984"/>
            <a:ext cx="155448" cy="155448"/>
          </a:xfrm>
          <a:prstGeom prst="ellipse">
            <a:avLst/>
          </a:prstGeom>
          <a:solidFill>
            <a:schemeClr val="accent6"/>
          </a:solidFill>
          <a:ln/>
        </p:spPr>
      </p:sp>
      <p:sp>
        <p:nvSpPr>
          <p:cNvPr id="89" name="a02_fade_dot83"/>
          <p:cNvSpPr/>
          <p:nvPr/>
        </p:nvSpPr>
        <p:spPr>
          <a:xfrm>
            <a:off x="2587752" y="3300984"/>
            <a:ext cx="155448" cy="155448"/>
          </a:xfrm>
          <a:prstGeom prst="ellipse">
            <a:avLst/>
          </a:prstGeom>
          <a:solidFill>
            <a:schemeClr val="accent6"/>
          </a:solidFill>
          <a:ln/>
        </p:spPr>
      </p:sp>
      <p:sp>
        <p:nvSpPr>
          <p:cNvPr id="90" name="a02_fade_dot84"/>
          <p:cNvSpPr/>
          <p:nvPr/>
        </p:nvSpPr>
        <p:spPr>
          <a:xfrm>
            <a:off x="2802636" y="3300984"/>
            <a:ext cx="155448" cy="155448"/>
          </a:xfrm>
          <a:prstGeom prst="ellipse">
            <a:avLst/>
          </a:prstGeom>
          <a:solidFill>
            <a:schemeClr val="accent6"/>
          </a:solidFill>
          <a:ln/>
        </p:spPr>
      </p:sp>
      <p:sp>
        <p:nvSpPr>
          <p:cNvPr id="91" name="a02_fade_dot85"/>
          <p:cNvSpPr/>
          <p:nvPr/>
        </p:nvSpPr>
        <p:spPr>
          <a:xfrm>
            <a:off x="3017520" y="3300984"/>
            <a:ext cx="155448" cy="155448"/>
          </a:xfrm>
          <a:prstGeom prst="ellipse">
            <a:avLst/>
          </a:prstGeom>
          <a:solidFill>
            <a:schemeClr val="accent6"/>
          </a:solidFill>
          <a:ln/>
        </p:spPr>
      </p:sp>
      <p:sp>
        <p:nvSpPr>
          <p:cNvPr id="92" name="a02_fade_dot86"/>
          <p:cNvSpPr/>
          <p:nvPr/>
        </p:nvSpPr>
        <p:spPr>
          <a:xfrm>
            <a:off x="3232404" y="3300984"/>
            <a:ext cx="155448" cy="155448"/>
          </a:xfrm>
          <a:prstGeom prst="ellipse">
            <a:avLst/>
          </a:prstGeom>
          <a:solidFill>
            <a:schemeClr val="accent6"/>
          </a:solidFill>
          <a:ln/>
        </p:spPr>
      </p:sp>
      <p:sp>
        <p:nvSpPr>
          <p:cNvPr id="93" name="a02_fade_dot87"/>
          <p:cNvSpPr/>
          <p:nvPr/>
        </p:nvSpPr>
        <p:spPr>
          <a:xfrm>
            <a:off x="3447288" y="3300984"/>
            <a:ext cx="155448" cy="155448"/>
          </a:xfrm>
          <a:prstGeom prst="ellipse">
            <a:avLst/>
          </a:prstGeom>
          <a:solidFill>
            <a:schemeClr val="accent6"/>
          </a:solidFill>
          <a:ln/>
        </p:spPr>
      </p:sp>
      <p:sp>
        <p:nvSpPr>
          <p:cNvPr id="94" name="a02_fade_dot88"/>
          <p:cNvSpPr/>
          <p:nvPr/>
        </p:nvSpPr>
        <p:spPr>
          <a:xfrm>
            <a:off x="3662172" y="3300984"/>
            <a:ext cx="155448" cy="155448"/>
          </a:xfrm>
          <a:prstGeom prst="ellipse">
            <a:avLst/>
          </a:prstGeom>
          <a:solidFill>
            <a:schemeClr val="accent6"/>
          </a:solidFill>
          <a:ln/>
        </p:spPr>
      </p:sp>
      <p:sp>
        <p:nvSpPr>
          <p:cNvPr id="95" name="a02_fade_dot89"/>
          <p:cNvSpPr/>
          <p:nvPr/>
        </p:nvSpPr>
        <p:spPr>
          <a:xfrm>
            <a:off x="3877056" y="3300984"/>
            <a:ext cx="155448" cy="155448"/>
          </a:xfrm>
          <a:prstGeom prst="ellipse">
            <a:avLst/>
          </a:prstGeom>
          <a:solidFill>
            <a:schemeClr val="accent6"/>
          </a:solidFill>
          <a:ln/>
        </p:spPr>
      </p:sp>
      <p:sp>
        <p:nvSpPr>
          <p:cNvPr id="96" name="a02_fade_dot90"/>
          <p:cNvSpPr/>
          <p:nvPr/>
        </p:nvSpPr>
        <p:spPr>
          <a:xfrm>
            <a:off x="4091940" y="3300984"/>
            <a:ext cx="155448" cy="155448"/>
          </a:xfrm>
          <a:prstGeom prst="ellipse">
            <a:avLst/>
          </a:prstGeom>
          <a:solidFill>
            <a:schemeClr val="accent6"/>
          </a:solidFill>
          <a:ln/>
        </p:spPr>
      </p:sp>
      <p:sp>
        <p:nvSpPr>
          <p:cNvPr id="97" name="a02_fade_dot91"/>
          <p:cNvSpPr/>
          <p:nvPr/>
        </p:nvSpPr>
        <p:spPr>
          <a:xfrm>
            <a:off x="4306824" y="3300984"/>
            <a:ext cx="155448" cy="155448"/>
          </a:xfrm>
          <a:prstGeom prst="ellipse">
            <a:avLst/>
          </a:prstGeom>
          <a:solidFill>
            <a:schemeClr val="accent6"/>
          </a:solidFill>
          <a:ln/>
        </p:spPr>
      </p:sp>
      <p:sp>
        <p:nvSpPr>
          <p:cNvPr id="98" name="a02_fade_dot92"/>
          <p:cNvSpPr/>
          <p:nvPr/>
        </p:nvSpPr>
        <p:spPr>
          <a:xfrm>
            <a:off x="4521708" y="3300984"/>
            <a:ext cx="155448" cy="155448"/>
          </a:xfrm>
          <a:prstGeom prst="ellipse">
            <a:avLst/>
          </a:prstGeom>
          <a:solidFill>
            <a:schemeClr val="accent6"/>
          </a:solidFill>
          <a:ln/>
        </p:spPr>
      </p:sp>
      <p:sp>
        <p:nvSpPr>
          <p:cNvPr id="99" name="a02_fade_dot93"/>
          <p:cNvSpPr/>
          <p:nvPr/>
        </p:nvSpPr>
        <p:spPr>
          <a:xfrm>
            <a:off x="4736592" y="3300984"/>
            <a:ext cx="155448" cy="155448"/>
          </a:xfrm>
          <a:prstGeom prst="ellipse">
            <a:avLst/>
          </a:prstGeom>
          <a:solidFill>
            <a:schemeClr val="accent6"/>
          </a:solidFill>
          <a:ln/>
        </p:spPr>
      </p:sp>
      <p:sp>
        <p:nvSpPr>
          <p:cNvPr id="100" name="a02_fade_dot94"/>
          <p:cNvSpPr/>
          <p:nvPr/>
        </p:nvSpPr>
        <p:spPr>
          <a:xfrm>
            <a:off x="4951476" y="3300984"/>
            <a:ext cx="155448" cy="155448"/>
          </a:xfrm>
          <a:prstGeom prst="ellipse">
            <a:avLst/>
          </a:prstGeom>
          <a:solidFill>
            <a:schemeClr val="accent6"/>
          </a:solidFill>
          <a:ln/>
        </p:spPr>
      </p:sp>
      <p:sp>
        <p:nvSpPr>
          <p:cNvPr id="101" name="a02_fade_dot95"/>
          <p:cNvSpPr/>
          <p:nvPr/>
        </p:nvSpPr>
        <p:spPr>
          <a:xfrm>
            <a:off x="5166360" y="3300984"/>
            <a:ext cx="155448" cy="155448"/>
          </a:xfrm>
          <a:prstGeom prst="ellipse">
            <a:avLst/>
          </a:prstGeom>
          <a:solidFill>
            <a:schemeClr val="accent6"/>
          </a:solidFill>
          <a:ln/>
        </p:spPr>
      </p:sp>
      <p:sp>
        <p:nvSpPr>
          <p:cNvPr id="102" name="a02_fade_dot96"/>
          <p:cNvSpPr/>
          <p:nvPr/>
        </p:nvSpPr>
        <p:spPr>
          <a:xfrm>
            <a:off x="5381244" y="3300984"/>
            <a:ext cx="155448" cy="155448"/>
          </a:xfrm>
          <a:prstGeom prst="ellipse">
            <a:avLst/>
          </a:prstGeom>
          <a:solidFill>
            <a:schemeClr val="accent6"/>
          </a:solidFill>
          <a:ln/>
        </p:spPr>
      </p:sp>
      <p:sp>
        <p:nvSpPr>
          <p:cNvPr id="103" name="a02_fade_dot97"/>
          <p:cNvSpPr/>
          <p:nvPr/>
        </p:nvSpPr>
        <p:spPr>
          <a:xfrm>
            <a:off x="5596128" y="3300984"/>
            <a:ext cx="155448" cy="155448"/>
          </a:xfrm>
          <a:prstGeom prst="ellipse">
            <a:avLst/>
          </a:prstGeom>
          <a:solidFill>
            <a:schemeClr val="accent6"/>
          </a:solidFill>
          <a:ln/>
        </p:spPr>
      </p:sp>
      <p:sp>
        <p:nvSpPr>
          <p:cNvPr id="104" name="a02_fade_dot98"/>
          <p:cNvSpPr/>
          <p:nvPr/>
        </p:nvSpPr>
        <p:spPr>
          <a:xfrm>
            <a:off x="5811012" y="3300984"/>
            <a:ext cx="155448" cy="155448"/>
          </a:xfrm>
          <a:prstGeom prst="ellipse">
            <a:avLst/>
          </a:prstGeom>
          <a:solidFill>
            <a:schemeClr val="accent6"/>
          </a:solidFill>
          <a:ln/>
        </p:spPr>
      </p:sp>
      <p:sp>
        <p:nvSpPr>
          <p:cNvPr id="105" name="a02_fade_dot99"/>
          <p:cNvSpPr/>
          <p:nvPr/>
        </p:nvSpPr>
        <p:spPr>
          <a:xfrm>
            <a:off x="6025896" y="3300984"/>
            <a:ext cx="155448" cy="155448"/>
          </a:xfrm>
          <a:prstGeom prst="ellipse">
            <a:avLst/>
          </a:prstGeom>
          <a:solidFill>
            <a:schemeClr val="accent6"/>
          </a:solidFill>
          <a:ln/>
        </p:spPr>
      </p:sp>
      <p:sp>
        <p:nvSpPr>
          <p:cNvPr id="106" name="a04_zoom_frr"/>
          <p:cNvSpPr txBox="1"/>
          <p:nvPr/>
        </p:nvSpPr>
        <p:spPr>
          <a:xfrm>
            <a:off x="868680" y="3794760"/>
            <a:ext cx="2926080" cy="914400"/>
          </a:xfrm>
          <a:prstGeom prst="rect">
            <a:avLst/>
          </a:prstGeom>
          <a:noFill/>
          <a:ln/>
        </p:spPr>
        <p:txBody>
          <a:bodyPr wrap="square" lIns="0" tIns="0" rIns="0" bIns="0" rtlCol="0" anchor="t"/>
          <a:lstStyle/>
          <a:p>
            <a:pPr indent="0" marL="0">
              <a:buNone/>
            </a:pPr>
            <a:r>
              <a:rPr lang="en-US" sz="6000" b="1" dirty="0">
                <a:solidFill>
                  <a:schemeClr val="accent3"/>
                </a:solidFill>
                <a:latin typeface="Cambria" pitchFamily="34" charset="0"/>
                <a:ea typeface="Cambria" pitchFamily="34" charset="-122"/>
                <a:cs typeface="Cambria" pitchFamily="34" charset="-120"/>
              </a:rPr>
              <a:t>24.3%</a:t>
            </a:r>
            <a:endParaRPr lang="en-US" sz="6000" dirty="0"/>
          </a:p>
        </p:txBody>
      </p:sp>
      <p:sp>
        <p:nvSpPr>
          <p:cNvPr id="107" name="a04_zoom_frrText"/>
          <p:cNvSpPr txBox="1"/>
          <p:nvPr/>
        </p:nvSpPr>
        <p:spPr>
          <a:xfrm>
            <a:off x="868680" y="4754880"/>
            <a:ext cx="5394960" cy="685800"/>
          </a:xfrm>
          <a:prstGeom prst="rect">
            <a:avLst/>
          </a:prstGeom>
          <a:noFill/>
          <a:ln/>
        </p:spPr>
        <p:txBody>
          <a:bodyPr wrap="square" lIns="0" tIns="0" rIns="0" bIns="0" rtlCol="0" anchor="t"/>
          <a:lstStyle/>
          <a:p>
            <a:pPr indent="0" marL="0">
              <a:buNone/>
            </a:pPr>
            <a:r>
              <a:rPr lang="en-US" sz="1500" dirty="0">
                <a:solidFill>
                  <a:schemeClr val="tx1"/>
                </a:solidFill>
              </a:rPr>
              <a:t>False rejection rate: genuine attempts the system wrongly refused.</a:t>
            </a:r>
            <a:endParaRPr lang="en-US" sz="1500" dirty="0"/>
          </a:p>
        </p:txBody>
      </p:sp>
      <p:sp>
        <p:nvSpPr>
          <p:cNvPr id="108" name="a05_rise_farCard"/>
          <p:cNvSpPr/>
          <p:nvPr/>
        </p:nvSpPr>
        <p:spPr>
          <a:xfrm>
            <a:off x="6858000" y="1645920"/>
            <a:ext cx="4754880" cy="2103120"/>
          </a:xfrm>
          <a:prstGeom prst="roundRect">
            <a:avLst>
              <a:gd name="adj" fmla="val 5217"/>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09" name="a05_rise_far"/>
          <p:cNvSpPr txBox="1"/>
          <p:nvPr/>
        </p:nvSpPr>
        <p:spPr>
          <a:xfrm>
            <a:off x="7178040" y="1828800"/>
            <a:ext cx="2286000" cy="914400"/>
          </a:xfrm>
          <a:prstGeom prst="rect">
            <a:avLst/>
          </a:prstGeom>
          <a:noFill/>
          <a:ln/>
        </p:spPr>
        <p:txBody>
          <a:bodyPr wrap="square" lIns="0" tIns="0" rIns="0" bIns="0" rtlCol="0" anchor="t"/>
          <a:lstStyle/>
          <a:p>
            <a:pPr indent="0" marL="0">
              <a:buNone/>
            </a:pPr>
            <a:r>
              <a:rPr lang="en-US" sz="6000" b="1" dirty="0">
                <a:solidFill>
                  <a:schemeClr val="accent4"/>
                </a:solidFill>
                <a:latin typeface="Cambria" pitchFamily="34" charset="0"/>
                <a:ea typeface="Cambria" pitchFamily="34" charset="-122"/>
                <a:cs typeface="Cambria" pitchFamily="34" charset="-120"/>
              </a:rPr>
              <a:t>0.6%</a:t>
            </a:r>
            <a:endParaRPr lang="en-US" sz="6000" dirty="0"/>
          </a:p>
        </p:txBody>
      </p:sp>
      <p:sp>
        <p:nvSpPr>
          <p:cNvPr id="110" name="a05_rise_farText"/>
          <p:cNvSpPr txBox="1"/>
          <p:nvPr/>
        </p:nvSpPr>
        <p:spPr>
          <a:xfrm>
            <a:off x="7178040" y="2788920"/>
            <a:ext cx="4206240" cy="731520"/>
          </a:xfrm>
          <a:prstGeom prst="rect">
            <a:avLst/>
          </a:prstGeom>
          <a:noFill/>
          <a:ln/>
        </p:spPr>
        <p:txBody>
          <a:bodyPr wrap="square" lIns="0" tIns="0" rIns="0" bIns="0" rtlCol="0" anchor="t"/>
          <a:lstStyle/>
          <a:p>
            <a:pPr indent="0" marL="0">
              <a:buNone/>
            </a:pPr>
            <a:r>
              <a:rPr lang="en-US" sz="1500" dirty="0">
                <a:solidFill>
                  <a:schemeClr val="tx1"/>
                </a:solidFill>
              </a:rPr>
              <a:t>False acceptance rate: impostor attempts the system wrongly let through.</a:t>
            </a:r>
            <a:endParaRPr lang="en-US" sz="1500" dirty="0"/>
          </a:p>
        </p:txBody>
      </p:sp>
      <p:sp>
        <p:nvSpPr>
          <p:cNvPr id="111" name="a06_rise_peopleCard"/>
          <p:cNvSpPr/>
          <p:nvPr/>
        </p:nvSpPr>
        <p:spPr>
          <a:xfrm>
            <a:off x="6858000" y="3977640"/>
            <a:ext cx="4754880" cy="2103120"/>
          </a:xfrm>
          <a:prstGeom prst="roundRect">
            <a:avLst>
              <a:gd name="adj" fmla="val 5217"/>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12" name="a06_rise_people"/>
          <p:cNvSpPr txBox="1"/>
          <p:nvPr/>
        </p:nvSpPr>
        <p:spPr>
          <a:xfrm>
            <a:off x="7178040" y="4160520"/>
            <a:ext cx="228600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159</a:t>
            </a:r>
            <a:endParaRPr lang="en-US" sz="6000" dirty="0"/>
          </a:p>
        </p:txBody>
      </p:sp>
      <p:sp>
        <p:nvSpPr>
          <p:cNvPr id="113" name="a06_rise_peopleText"/>
          <p:cNvSpPr txBox="1"/>
          <p:nvPr/>
        </p:nvSpPr>
        <p:spPr>
          <a:xfrm>
            <a:off x="7178040" y="5120640"/>
            <a:ext cx="4206240" cy="731520"/>
          </a:xfrm>
          <a:prstGeom prst="rect">
            <a:avLst/>
          </a:prstGeom>
          <a:noFill/>
          <a:ln/>
        </p:spPr>
        <p:txBody>
          <a:bodyPr wrap="square" lIns="0" tIns="0" rIns="0" bIns="0" rtlCol="0" anchor="t"/>
          <a:lstStyle/>
          <a:p>
            <a:pPr indent="0" marL="0">
              <a:buNone/>
            </a:pPr>
            <a:r>
              <a:rPr lang="en-US" sz="1500" dirty="0">
                <a:solidFill>
                  <a:schemeClr val="tx1"/>
                </a:solidFill>
              </a:rPr>
              <a:t>of 2,000 genuine beneficiaries were turned away on at least one visit.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55" fill="hold">
                      <p:stCondLst>
                        <p:cond delay="indefinite"/>
                        <p:cond evt="onBegin" delay="0">
                          <p:tn val="2"/>
                        </p:cond>
                      </p:stCondLst>
                      <p:childTnLst>
                        <p:par>
                          <p:cTn id="34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childTnLst>
                          </p:cTn>
                        </p:par>
                        <p:par>
                          <p:cTn id="350" fill="hold">
                            <p:stCondLst>
                              <p:cond delay="247"/>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4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4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4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4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4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4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4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50"/>
                                        <p:tgtEl>
                                          <p:spTgt spid="3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450"/>
                                        <p:tgtEl>
                                          <p:spTgt spid="3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450"/>
                                        <p:tgtEl>
                                          <p:spTgt spid="3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450"/>
                                        <p:tgtEl>
                                          <p:spTgt spid="4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450"/>
                                        <p:tgtEl>
                                          <p:spTgt spid="4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450"/>
                                        <p:tgtEl>
                                          <p:spTgt spid="4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450"/>
                                        <p:tgtEl>
                                          <p:spTgt spid="4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fade">
                                      <p:cBhvr>
                                        <p:cTn id="53" dur="450"/>
                                        <p:tgtEl>
                                          <p:spTgt spid="4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fade">
                                      <p:cBhvr>
                                        <p:cTn id="56" dur="450"/>
                                        <p:tgtEl>
                                          <p:spTgt spid="4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fade">
                                      <p:cBhvr>
                                        <p:cTn id="59" dur="450"/>
                                        <p:tgtEl>
                                          <p:spTgt spid="4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fade">
                                      <p:cBhvr>
                                        <p:cTn id="62" dur="450"/>
                                        <p:tgtEl>
                                          <p:spTgt spid="4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8"/>
                                        </p:tgtEl>
                                        <p:attrNameLst>
                                          <p:attrName>style.visibility</p:attrName>
                                        </p:attrNameLst>
                                      </p:cBhvr>
                                      <p:to>
                                        <p:strVal val="visible"/>
                                      </p:to>
                                    </p:set>
                                    <p:animEffect transition="in" filter="fade">
                                      <p:cBhvr>
                                        <p:cTn id="65" dur="450"/>
                                        <p:tgtEl>
                                          <p:spTgt spid="4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fade">
                                      <p:cBhvr>
                                        <p:cTn id="68" dur="450"/>
                                        <p:tgtEl>
                                          <p:spTgt spid="4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0"/>
                                        </p:tgtEl>
                                        <p:attrNameLst>
                                          <p:attrName>style.visibility</p:attrName>
                                        </p:attrNameLst>
                                      </p:cBhvr>
                                      <p:to>
                                        <p:strVal val="visible"/>
                                      </p:to>
                                    </p:set>
                                    <p:animEffect transition="in" filter="fade">
                                      <p:cBhvr>
                                        <p:cTn id="71" dur="450"/>
                                        <p:tgtEl>
                                          <p:spTgt spid="5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1"/>
                                        </p:tgtEl>
                                        <p:attrNameLst>
                                          <p:attrName>style.visibility</p:attrName>
                                        </p:attrNameLst>
                                      </p:cBhvr>
                                      <p:to>
                                        <p:strVal val="visible"/>
                                      </p:to>
                                    </p:set>
                                    <p:animEffect transition="in" filter="fade">
                                      <p:cBhvr>
                                        <p:cTn id="74" dur="450"/>
                                        <p:tgtEl>
                                          <p:spTgt spid="5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450"/>
                                        <p:tgtEl>
                                          <p:spTgt spid="5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3"/>
                                        </p:tgtEl>
                                        <p:attrNameLst>
                                          <p:attrName>style.visibility</p:attrName>
                                        </p:attrNameLst>
                                      </p:cBhvr>
                                      <p:to>
                                        <p:strVal val="visible"/>
                                      </p:to>
                                    </p:set>
                                    <p:animEffect transition="in" filter="fade">
                                      <p:cBhvr>
                                        <p:cTn id="80" dur="450"/>
                                        <p:tgtEl>
                                          <p:spTgt spid="5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4"/>
                                        </p:tgtEl>
                                        <p:attrNameLst>
                                          <p:attrName>style.visibility</p:attrName>
                                        </p:attrNameLst>
                                      </p:cBhvr>
                                      <p:to>
                                        <p:strVal val="visible"/>
                                      </p:to>
                                    </p:set>
                                    <p:animEffect transition="in" filter="fade">
                                      <p:cBhvr>
                                        <p:cTn id="83" dur="450"/>
                                        <p:tgtEl>
                                          <p:spTgt spid="5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5"/>
                                        </p:tgtEl>
                                        <p:attrNameLst>
                                          <p:attrName>style.visibility</p:attrName>
                                        </p:attrNameLst>
                                      </p:cBhvr>
                                      <p:to>
                                        <p:strVal val="visible"/>
                                      </p:to>
                                    </p:set>
                                    <p:animEffect transition="in" filter="fade">
                                      <p:cBhvr>
                                        <p:cTn id="86" dur="450"/>
                                        <p:tgtEl>
                                          <p:spTgt spid="5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6"/>
                                        </p:tgtEl>
                                        <p:attrNameLst>
                                          <p:attrName>style.visibility</p:attrName>
                                        </p:attrNameLst>
                                      </p:cBhvr>
                                      <p:to>
                                        <p:strVal val="visible"/>
                                      </p:to>
                                    </p:set>
                                    <p:animEffect transition="in" filter="fade">
                                      <p:cBhvr>
                                        <p:cTn id="89" dur="450"/>
                                        <p:tgtEl>
                                          <p:spTgt spid="5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7"/>
                                        </p:tgtEl>
                                        <p:attrNameLst>
                                          <p:attrName>style.visibility</p:attrName>
                                        </p:attrNameLst>
                                      </p:cBhvr>
                                      <p:to>
                                        <p:strVal val="visible"/>
                                      </p:to>
                                    </p:set>
                                    <p:animEffect transition="in" filter="fade">
                                      <p:cBhvr>
                                        <p:cTn id="92" dur="450"/>
                                        <p:tgtEl>
                                          <p:spTgt spid="5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8"/>
                                        </p:tgtEl>
                                        <p:attrNameLst>
                                          <p:attrName>style.visibility</p:attrName>
                                        </p:attrNameLst>
                                      </p:cBhvr>
                                      <p:to>
                                        <p:strVal val="visible"/>
                                      </p:to>
                                    </p:set>
                                    <p:animEffect transition="in" filter="fade">
                                      <p:cBhvr>
                                        <p:cTn id="95" dur="450"/>
                                        <p:tgtEl>
                                          <p:spTgt spid="5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9"/>
                                        </p:tgtEl>
                                        <p:attrNameLst>
                                          <p:attrName>style.visibility</p:attrName>
                                        </p:attrNameLst>
                                      </p:cBhvr>
                                      <p:to>
                                        <p:strVal val="visible"/>
                                      </p:to>
                                    </p:set>
                                    <p:animEffect transition="in" filter="fade">
                                      <p:cBhvr>
                                        <p:cTn id="98" dur="450"/>
                                        <p:tgtEl>
                                          <p:spTgt spid="5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0"/>
                                        </p:tgtEl>
                                        <p:attrNameLst>
                                          <p:attrName>style.visibility</p:attrName>
                                        </p:attrNameLst>
                                      </p:cBhvr>
                                      <p:to>
                                        <p:strVal val="visible"/>
                                      </p:to>
                                    </p:set>
                                    <p:animEffect transition="in" filter="fade">
                                      <p:cBhvr>
                                        <p:cTn id="101" dur="450"/>
                                        <p:tgtEl>
                                          <p:spTgt spid="6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61"/>
                                        </p:tgtEl>
                                        <p:attrNameLst>
                                          <p:attrName>style.visibility</p:attrName>
                                        </p:attrNameLst>
                                      </p:cBhvr>
                                      <p:to>
                                        <p:strVal val="visible"/>
                                      </p:to>
                                    </p:set>
                                    <p:animEffect transition="in" filter="fade">
                                      <p:cBhvr>
                                        <p:cTn id="104" dur="450"/>
                                        <p:tgtEl>
                                          <p:spTgt spid="6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2"/>
                                        </p:tgtEl>
                                        <p:attrNameLst>
                                          <p:attrName>style.visibility</p:attrName>
                                        </p:attrNameLst>
                                      </p:cBhvr>
                                      <p:to>
                                        <p:strVal val="visible"/>
                                      </p:to>
                                    </p:set>
                                    <p:animEffect transition="in" filter="fade">
                                      <p:cBhvr>
                                        <p:cTn id="107" dur="450"/>
                                        <p:tgtEl>
                                          <p:spTgt spid="6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63"/>
                                        </p:tgtEl>
                                        <p:attrNameLst>
                                          <p:attrName>style.visibility</p:attrName>
                                        </p:attrNameLst>
                                      </p:cBhvr>
                                      <p:to>
                                        <p:strVal val="visible"/>
                                      </p:to>
                                    </p:set>
                                    <p:animEffect transition="in" filter="fade">
                                      <p:cBhvr>
                                        <p:cTn id="110" dur="450"/>
                                        <p:tgtEl>
                                          <p:spTgt spid="6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64"/>
                                        </p:tgtEl>
                                        <p:attrNameLst>
                                          <p:attrName>style.visibility</p:attrName>
                                        </p:attrNameLst>
                                      </p:cBhvr>
                                      <p:to>
                                        <p:strVal val="visible"/>
                                      </p:to>
                                    </p:set>
                                    <p:animEffect transition="in" filter="fade">
                                      <p:cBhvr>
                                        <p:cTn id="113" dur="450"/>
                                        <p:tgtEl>
                                          <p:spTgt spid="6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5"/>
                                        </p:tgtEl>
                                        <p:attrNameLst>
                                          <p:attrName>style.visibility</p:attrName>
                                        </p:attrNameLst>
                                      </p:cBhvr>
                                      <p:to>
                                        <p:strVal val="visible"/>
                                      </p:to>
                                    </p:set>
                                    <p:animEffect transition="in" filter="fade">
                                      <p:cBhvr>
                                        <p:cTn id="116" dur="450"/>
                                        <p:tgtEl>
                                          <p:spTgt spid="65"/>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66"/>
                                        </p:tgtEl>
                                        <p:attrNameLst>
                                          <p:attrName>style.visibility</p:attrName>
                                        </p:attrNameLst>
                                      </p:cBhvr>
                                      <p:to>
                                        <p:strVal val="visible"/>
                                      </p:to>
                                    </p:set>
                                    <p:animEffect transition="in" filter="fade">
                                      <p:cBhvr>
                                        <p:cTn id="119" dur="450"/>
                                        <p:tgtEl>
                                          <p:spTgt spid="6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67"/>
                                        </p:tgtEl>
                                        <p:attrNameLst>
                                          <p:attrName>style.visibility</p:attrName>
                                        </p:attrNameLst>
                                      </p:cBhvr>
                                      <p:to>
                                        <p:strVal val="visible"/>
                                      </p:to>
                                    </p:set>
                                    <p:animEffect transition="in" filter="fade">
                                      <p:cBhvr>
                                        <p:cTn id="122" dur="450"/>
                                        <p:tgtEl>
                                          <p:spTgt spid="6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68"/>
                                        </p:tgtEl>
                                        <p:attrNameLst>
                                          <p:attrName>style.visibility</p:attrName>
                                        </p:attrNameLst>
                                      </p:cBhvr>
                                      <p:to>
                                        <p:strVal val="visible"/>
                                      </p:to>
                                    </p:set>
                                    <p:animEffect transition="in" filter="fade">
                                      <p:cBhvr>
                                        <p:cTn id="125" dur="450"/>
                                        <p:tgtEl>
                                          <p:spTgt spid="68"/>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69"/>
                                        </p:tgtEl>
                                        <p:attrNameLst>
                                          <p:attrName>style.visibility</p:attrName>
                                        </p:attrNameLst>
                                      </p:cBhvr>
                                      <p:to>
                                        <p:strVal val="visible"/>
                                      </p:to>
                                    </p:set>
                                    <p:animEffect transition="in" filter="fade">
                                      <p:cBhvr>
                                        <p:cTn id="128" dur="450"/>
                                        <p:tgtEl>
                                          <p:spTgt spid="69"/>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70"/>
                                        </p:tgtEl>
                                        <p:attrNameLst>
                                          <p:attrName>style.visibility</p:attrName>
                                        </p:attrNameLst>
                                      </p:cBhvr>
                                      <p:to>
                                        <p:strVal val="visible"/>
                                      </p:to>
                                    </p:set>
                                    <p:animEffect transition="in" filter="fade">
                                      <p:cBhvr>
                                        <p:cTn id="131" dur="450"/>
                                        <p:tgtEl>
                                          <p:spTgt spid="70"/>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71"/>
                                        </p:tgtEl>
                                        <p:attrNameLst>
                                          <p:attrName>style.visibility</p:attrName>
                                        </p:attrNameLst>
                                      </p:cBhvr>
                                      <p:to>
                                        <p:strVal val="visible"/>
                                      </p:to>
                                    </p:set>
                                    <p:animEffect transition="in" filter="fade">
                                      <p:cBhvr>
                                        <p:cTn id="134" dur="450"/>
                                        <p:tgtEl>
                                          <p:spTgt spid="71"/>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72"/>
                                        </p:tgtEl>
                                        <p:attrNameLst>
                                          <p:attrName>style.visibility</p:attrName>
                                        </p:attrNameLst>
                                      </p:cBhvr>
                                      <p:to>
                                        <p:strVal val="visible"/>
                                      </p:to>
                                    </p:set>
                                    <p:animEffect transition="in" filter="fade">
                                      <p:cBhvr>
                                        <p:cTn id="137" dur="450"/>
                                        <p:tgtEl>
                                          <p:spTgt spid="72"/>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73"/>
                                        </p:tgtEl>
                                        <p:attrNameLst>
                                          <p:attrName>style.visibility</p:attrName>
                                        </p:attrNameLst>
                                      </p:cBhvr>
                                      <p:to>
                                        <p:strVal val="visible"/>
                                      </p:to>
                                    </p:set>
                                    <p:animEffect transition="in" filter="fade">
                                      <p:cBhvr>
                                        <p:cTn id="140" dur="450"/>
                                        <p:tgtEl>
                                          <p:spTgt spid="73"/>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74"/>
                                        </p:tgtEl>
                                        <p:attrNameLst>
                                          <p:attrName>style.visibility</p:attrName>
                                        </p:attrNameLst>
                                      </p:cBhvr>
                                      <p:to>
                                        <p:strVal val="visible"/>
                                      </p:to>
                                    </p:set>
                                    <p:animEffect transition="in" filter="fade">
                                      <p:cBhvr>
                                        <p:cTn id="143" dur="450"/>
                                        <p:tgtEl>
                                          <p:spTgt spid="74"/>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75"/>
                                        </p:tgtEl>
                                        <p:attrNameLst>
                                          <p:attrName>style.visibility</p:attrName>
                                        </p:attrNameLst>
                                      </p:cBhvr>
                                      <p:to>
                                        <p:strVal val="visible"/>
                                      </p:to>
                                    </p:set>
                                    <p:animEffect transition="in" filter="fade">
                                      <p:cBhvr>
                                        <p:cTn id="146" dur="450"/>
                                        <p:tgtEl>
                                          <p:spTgt spid="75"/>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76"/>
                                        </p:tgtEl>
                                        <p:attrNameLst>
                                          <p:attrName>style.visibility</p:attrName>
                                        </p:attrNameLst>
                                      </p:cBhvr>
                                      <p:to>
                                        <p:strVal val="visible"/>
                                      </p:to>
                                    </p:set>
                                    <p:animEffect transition="in" filter="fade">
                                      <p:cBhvr>
                                        <p:cTn id="149" dur="450"/>
                                        <p:tgtEl>
                                          <p:spTgt spid="76"/>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77"/>
                                        </p:tgtEl>
                                        <p:attrNameLst>
                                          <p:attrName>style.visibility</p:attrName>
                                        </p:attrNameLst>
                                      </p:cBhvr>
                                      <p:to>
                                        <p:strVal val="visible"/>
                                      </p:to>
                                    </p:set>
                                    <p:animEffect transition="in" filter="fade">
                                      <p:cBhvr>
                                        <p:cTn id="152" dur="450"/>
                                        <p:tgtEl>
                                          <p:spTgt spid="77"/>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78"/>
                                        </p:tgtEl>
                                        <p:attrNameLst>
                                          <p:attrName>style.visibility</p:attrName>
                                        </p:attrNameLst>
                                      </p:cBhvr>
                                      <p:to>
                                        <p:strVal val="visible"/>
                                      </p:to>
                                    </p:set>
                                    <p:animEffect transition="in" filter="fade">
                                      <p:cBhvr>
                                        <p:cTn id="155" dur="450"/>
                                        <p:tgtEl>
                                          <p:spTgt spid="78"/>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79"/>
                                        </p:tgtEl>
                                        <p:attrNameLst>
                                          <p:attrName>style.visibility</p:attrName>
                                        </p:attrNameLst>
                                      </p:cBhvr>
                                      <p:to>
                                        <p:strVal val="visible"/>
                                      </p:to>
                                    </p:set>
                                    <p:animEffect transition="in" filter="fade">
                                      <p:cBhvr>
                                        <p:cTn id="158" dur="450"/>
                                        <p:tgtEl>
                                          <p:spTgt spid="79"/>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80"/>
                                        </p:tgtEl>
                                        <p:attrNameLst>
                                          <p:attrName>style.visibility</p:attrName>
                                        </p:attrNameLst>
                                      </p:cBhvr>
                                      <p:to>
                                        <p:strVal val="visible"/>
                                      </p:to>
                                    </p:set>
                                    <p:animEffect transition="in" filter="fade">
                                      <p:cBhvr>
                                        <p:cTn id="161" dur="450"/>
                                        <p:tgtEl>
                                          <p:spTgt spid="80"/>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81"/>
                                        </p:tgtEl>
                                        <p:attrNameLst>
                                          <p:attrName>style.visibility</p:attrName>
                                        </p:attrNameLst>
                                      </p:cBhvr>
                                      <p:to>
                                        <p:strVal val="visible"/>
                                      </p:to>
                                    </p:set>
                                    <p:animEffect transition="in" filter="fade">
                                      <p:cBhvr>
                                        <p:cTn id="164" dur="450"/>
                                        <p:tgtEl>
                                          <p:spTgt spid="81"/>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82"/>
                                        </p:tgtEl>
                                        <p:attrNameLst>
                                          <p:attrName>style.visibility</p:attrName>
                                        </p:attrNameLst>
                                      </p:cBhvr>
                                      <p:to>
                                        <p:strVal val="visible"/>
                                      </p:to>
                                    </p:set>
                                    <p:animEffect transition="in" filter="fade">
                                      <p:cBhvr>
                                        <p:cTn id="167" dur="450"/>
                                        <p:tgtEl>
                                          <p:spTgt spid="82"/>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83"/>
                                        </p:tgtEl>
                                        <p:attrNameLst>
                                          <p:attrName>style.visibility</p:attrName>
                                        </p:attrNameLst>
                                      </p:cBhvr>
                                      <p:to>
                                        <p:strVal val="visible"/>
                                      </p:to>
                                    </p:set>
                                    <p:animEffect transition="in" filter="fade">
                                      <p:cBhvr>
                                        <p:cTn id="170" dur="450"/>
                                        <p:tgtEl>
                                          <p:spTgt spid="83"/>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84"/>
                                        </p:tgtEl>
                                        <p:attrNameLst>
                                          <p:attrName>style.visibility</p:attrName>
                                        </p:attrNameLst>
                                      </p:cBhvr>
                                      <p:to>
                                        <p:strVal val="visible"/>
                                      </p:to>
                                    </p:set>
                                    <p:animEffect transition="in" filter="fade">
                                      <p:cBhvr>
                                        <p:cTn id="173" dur="450"/>
                                        <p:tgtEl>
                                          <p:spTgt spid="84"/>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85"/>
                                        </p:tgtEl>
                                        <p:attrNameLst>
                                          <p:attrName>style.visibility</p:attrName>
                                        </p:attrNameLst>
                                      </p:cBhvr>
                                      <p:to>
                                        <p:strVal val="visible"/>
                                      </p:to>
                                    </p:set>
                                    <p:animEffect transition="in" filter="fade">
                                      <p:cBhvr>
                                        <p:cTn id="176" dur="450"/>
                                        <p:tgtEl>
                                          <p:spTgt spid="85"/>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86"/>
                                        </p:tgtEl>
                                        <p:attrNameLst>
                                          <p:attrName>style.visibility</p:attrName>
                                        </p:attrNameLst>
                                      </p:cBhvr>
                                      <p:to>
                                        <p:strVal val="visible"/>
                                      </p:to>
                                    </p:set>
                                    <p:animEffect transition="in" filter="fade">
                                      <p:cBhvr>
                                        <p:cTn id="179" dur="450"/>
                                        <p:tgtEl>
                                          <p:spTgt spid="86"/>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87"/>
                                        </p:tgtEl>
                                        <p:attrNameLst>
                                          <p:attrName>style.visibility</p:attrName>
                                        </p:attrNameLst>
                                      </p:cBhvr>
                                      <p:to>
                                        <p:strVal val="visible"/>
                                      </p:to>
                                    </p:set>
                                    <p:animEffect transition="in" filter="fade">
                                      <p:cBhvr>
                                        <p:cTn id="182" dur="450"/>
                                        <p:tgtEl>
                                          <p:spTgt spid="87"/>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88"/>
                                        </p:tgtEl>
                                        <p:attrNameLst>
                                          <p:attrName>style.visibility</p:attrName>
                                        </p:attrNameLst>
                                      </p:cBhvr>
                                      <p:to>
                                        <p:strVal val="visible"/>
                                      </p:to>
                                    </p:set>
                                    <p:animEffect transition="in" filter="fade">
                                      <p:cBhvr>
                                        <p:cTn id="185" dur="450"/>
                                        <p:tgtEl>
                                          <p:spTgt spid="88"/>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89"/>
                                        </p:tgtEl>
                                        <p:attrNameLst>
                                          <p:attrName>style.visibility</p:attrName>
                                        </p:attrNameLst>
                                      </p:cBhvr>
                                      <p:to>
                                        <p:strVal val="visible"/>
                                      </p:to>
                                    </p:set>
                                    <p:animEffect transition="in" filter="fade">
                                      <p:cBhvr>
                                        <p:cTn id="188" dur="450"/>
                                        <p:tgtEl>
                                          <p:spTgt spid="89"/>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90"/>
                                        </p:tgtEl>
                                        <p:attrNameLst>
                                          <p:attrName>style.visibility</p:attrName>
                                        </p:attrNameLst>
                                      </p:cBhvr>
                                      <p:to>
                                        <p:strVal val="visible"/>
                                      </p:to>
                                    </p:set>
                                    <p:animEffect transition="in" filter="fade">
                                      <p:cBhvr>
                                        <p:cTn id="191" dur="450"/>
                                        <p:tgtEl>
                                          <p:spTgt spid="90"/>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91"/>
                                        </p:tgtEl>
                                        <p:attrNameLst>
                                          <p:attrName>style.visibility</p:attrName>
                                        </p:attrNameLst>
                                      </p:cBhvr>
                                      <p:to>
                                        <p:strVal val="visible"/>
                                      </p:to>
                                    </p:set>
                                    <p:animEffect transition="in" filter="fade">
                                      <p:cBhvr>
                                        <p:cTn id="194" dur="450"/>
                                        <p:tgtEl>
                                          <p:spTgt spid="91"/>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92"/>
                                        </p:tgtEl>
                                        <p:attrNameLst>
                                          <p:attrName>style.visibility</p:attrName>
                                        </p:attrNameLst>
                                      </p:cBhvr>
                                      <p:to>
                                        <p:strVal val="visible"/>
                                      </p:to>
                                    </p:set>
                                    <p:animEffect transition="in" filter="fade">
                                      <p:cBhvr>
                                        <p:cTn id="197" dur="450"/>
                                        <p:tgtEl>
                                          <p:spTgt spid="92"/>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93"/>
                                        </p:tgtEl>
                                        <p:attrNameLst>
                                          <p:attrName>style.visibility</p:attrName>
                                        </p:attrNameLst>
                                      </p:cBhvr>
                                      <p:to>
                                        <p:strVal val="visible"/>
                                      </p:to>
                                    </p:set>
                                    <p:animEffect transition="in" filter="fade">
                                      <p:cBhvr>
                                        <p:cTn id="200" dur="450"/>
                                        <p:tgtEl>
                                          <p:spTgt spid="93"/>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94"/>
                                        </p:tgtEl>
                                        <p:attrNameLst>
                                          <p:attrName>style.visibility</p:attrName>
                                        </p:attrNameLst>
                                      </p:cBhvr>
                                      <p:to>
                                        <p:strVal val="visible"/>
                                      </p:to>
                                    </p:set>
                                    <p:animEffect transition="in" filter="fade">
                                      <p:cBhvr>
                                        <p:cTn id="203" dur="450"/>
                                        <p:tgtEl>
                                          <p:spTgt spid="94"/>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95"/>
                                        </p:tgtEl>
                                        <p:attrNameLst>
                                          <p:attrName>style.visibility</p:attrName>
                                        </p:attrNameLst>
                                      </p:cBhvr>
                                      <p:to>
                                        <p:strVal val="visible"/>
                                      </p:to>
                                    </p:set>
                                    <p:animEffect transition="in" filter="fade">
                                      <p:cBhvr>
                                        <p:cTn id="206" dur="450"/>
                                        <p:tgtEl>
                                          <p:spTgt spid="95"/>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96"/>
                                        </p:tgtEl>
                                        <p:attrNameLst>
                                          <p:attrName>style.visibility</p:attrName>
                                        </p:attrNameLst>
                                      </p:cBhvr>
                                      <p:to>
                                        <p:strVal val="visible"/>
                                      </p:to>
                                    </p:set>
                                    <p:animEffect transition="in" filter="fade">
                                      <p:cBhvr>
                                        <p:cTn id="209" dur="450"/>
                                        <p:tgtEl>
                                          <p:spTgt spid="9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97"/>
                                        </p:tgtEl>
                                        <p:attrNameLst>
                                          <p:attrName>style.visibility</p:attrName>
                                        </p:attrNameLst>
                                      </p:cBhvr>
                                      <p:to>
                                        <p:strVal val="visible"/>
                                      </p:to>
                                    </p:set>
                                    <p:animEffect transition="in" filter="fade">
                                      <p:cBhvr>
                                        <p:cTn id="212" dur="450"/>
                                        <p:tgtEl>
                                          <p:spTgt spid="97"/>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98"/>
                                        </p:tgtEl>
                                        <p:attrNameLst>
                                          <p:attrName>style.visibility</p:attrName>
                                        </p:attrNameLst>
                                      </p:cBhvr>
                                      <p:to>
                                        <p:strVal val="visible"/>
                                      </p:to>
                                    </p:set>
                                    <p:animEffect transition="in" filter="fade">
                                      <p:cBhvr>
                                        <p:cTn id="215" dur="450"/>
                                        <p:tgtEl>
                                          <p:spTgt spid="98"/>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99"/>
                                        </p:tgtEl>
                                        <p:attrNameLst>
                                          <p:attrName>style.visibility</p:attrName>
                                        </p:attrNameLst>
                                      </p:cBhvr>
                                      <p:to>
                                        <p:strVal val="visible"/>
                                      </p:to>
                                    </p:set>
                                    <p:animEffect transition="in" filter="fade">
                                      <p:cBhvr>
                                        <p:cTn id="218" dur="450"/>
                                        <p:tgtEl>
                                          <p:spTgt spid="99"/>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100"/>
                                        </p:tgtEl>
                                        <p:attrNameLst>
                                          <p:attrName>style.visibility</p:attrName>
                                        </p:attrNameLst>
                                      </p:cBhvr>
                                      <p:to>
                                        <p:strVal val="visible"/>
                                      </p:to>
                                    </p:set>
                                    <p:animEffect transition="in" filter="fade">
                                      <p:cBhvr>
                                        <p:cTn id="221" dur="450"/>
                                        <p:tgtEl>
                                          <p:spTgt spid="100"/>
                                        </p:tgtEl>
                                      </p:cBhvr>
                                    </p:animEffect>
                                  </p:childTnLst>
                                </p:cTn>
                              </p:par>
                              <p:par>
                                <p:cTn id="222" presetID="10" presetClass="entr" presetSubtype="0" fill="hold" grpId="0" nodeType="withEffect">
                                  <p:stCondLst>
                                    <p:cond delay="0"/>
                                  </p:stCondLst>
                                  <p:childTnLst>
                                    <p:set>
                                      <p:cBhvr>
                                        <p:cTn id="223" dur="1" fill="hold">
                                          <p:stCondLst>
                                            <p:cond delay="0"/>
                                          </p:stCondLst>
                                        </p:cTn>
                                        <p:tgtEl>
                                          <p:spTgt spid="101"/>
                                        </p:tgtEl>
                                        <p:attrNameLst>
                                          <p:attrName>style.visibility</p:attrName>
                                        </p:attrNameLst>
                                      </p:cBhvr>
                                      <p:to>
                                        <p:strVal val="visible"/>
                                      </p:to>
                                    </p:set>
                                    <p:animEffect transition="in" filter="fade">
                                      <p:cBhvr>
                                        <p:cTn id="224" dur="450"/>
                                        <p:tgtEl>
                                          <p:spTgt spid="101"/>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102"/>
                                        </p:tgtEl>
                                        <p:attrNameLst>
                                          <p:attrName>style.visibility</p:attrName>
                                        </p:attrNameLst>
                                      </p:cBhvr>
                                      <p:to>
                                        <p:strVal val="visible"/>
                                      </p:to>
                                    </p:set>
                                    <p:animEffect transition="in" filter="fade">
                                      <p:cBhvr>
                                        <p:cTn id="227" dur="450"/>
                                        <p:tgtEl>
                                          <p:spTgt spid="102"/>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103"/>
                                        </p:tgtEl>
                                        <p:attrNameLst>
                                          <p:attrName>style.visibility</p:attrName>
                                        </p:attrNameLst>
                                      </p:cBhvr>
                                      <p:to>
                                        <p:strVal val="visible"/>
                                      </p:to>
                                    </p:set>
                                    <p:animEffect transition="in" filter="fade">
                                      <p:cBhvr>
                                        <p:cTn id="230" dur="450"/>
                                        <p:tgtEl>
                                          <p:spTgt spid="103"/>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104"/>
                                        </p:tgtEl>
                                        <p:attrNameLst>
                                          <p:attrName>style.visibility</p:attrName>
                                        </p:attrNameLst>
                                      </p:cBhvr>
                                      <p:to>
                                        <p:strVal val="visible"/>
                                      </p:to>
                                    </p:set>
                                    <p:animEffect transition="in" filter="fade">
                                      <p:cBhvr>
                                        <p:cTn id="233" dur="450"/>
                                        <p:tgtEl>
                                          <p:spTgt spid="104"/>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105"/>
                                        </p:tgtEl>
                                        <p:attrNameLst>
                                          <p:attrName>style.visibility</p:attrName>
                                        </p:attrNameLst>
                                      </p:cBhvr>
                                      <p:to>
                                        <p:strVal val="visible"/>
                                      </p:to>
                                    </p:set>
                                    <p:animEffect transition="in" filter="fade">
                                      <p:cBhvr>
                                        <p:cTn id="236" dur="450"/>
                                        <p:tgtEl>
                                          <p:spTgt spid="105"/>
                                        </p:tgtEl>
                                      </p:cBhvr>
                                    </p:animEffect>
                                  </p:childTnLst>
                                </p:cTn>
                              </p:par>
                            </p:childTnLst>
                          </p:cTn>
                        </p:par>
                        <p:par>
                          <p:cTn id="351" fill="hold">
                            <p:stCondLst>
                              <p:cond delay="495"/>
                            </p:stCondLst>
                            <p:childTnLst>
                              <p:par>
                                <p:cTn id="237" presetID="10" presetClass="entr" presetSubtype="0" fill="hold" grpId="0" nodeType="withEffect">
                                  <p:stCondLst>
                                    <p:cond delay="0"/>
                                  </p:stCondLst>
                                  <p:childTnLst>
                                    <p:set>
                                      <p:cBhvr>
                                        <p:cTn id="238" dur="1" fill="hold">
                                          <p:stCondLst>
                                            <p:cond delay="0"/>
                                          </p:stCondLst>
                                        </p:cTn>
                                        <p:tgtEl>
                                          <p:spTgt spid="6"/>
                                        </p:tgtEl>
                                        <p:attrNameLst>
                                          <p:attrName>style.visibility</p:attrName>
                                        </p:attrNameLst>
                                      </p:cBhvr>
                                      <p:to>
                                        <p:strVal val="visible"/>
                                      </p:to>
                                    </p:set>
                                    <p:animEffect transition="in" filter="fade">
                                      <p:cBhvr>
                                        <p:cTn id="239" dur="450"/>
                                        <p:tgtEl>
                                          <p:spTgt spid="6"/>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7"/>
                                        </p:tgtEl>
                                        <p:attrNameLst>
                                          <p:attrName>style.visibility</p:attrName>
                                        </p:attrNameLst>
                                      </p:cBhvr>
                                      <p:to>
                                        <p:strVal val="visible"/>
                                      </p:to>
                                    </p:set>
                                    <p:animEffect transition="in" filter="fade">
                                      <p:cBhvr>
                                        <p:cTn id="242" dur="450"/>
                                        <p:tgtEl>
                                          <p:spTgt spid="7"/>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
                                        </p:tgtEl>
                                        <p:attrNameLst>
                                          <p:attrName>style.visibility</p:attrName>
                                        </p:attrNameLst>
                                      </p:cBhvr>
                                      <p:to>
                                        <p:strVal val="visible"/>
                                      </p:to>
                                    </p:set>
                                    <p:animEffect transition="in" filter="fade">
                                      <p:cBhvr>
                                        <p:cTn id="245" dur="450"/>
                                        <p:tgtEl>
                                          <p:spTgt spid="8"/>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9"/>
                                        </p:tgtEl>
                                        <p:attrNameLst>
                                          <p:attrName>style.visibility</p:attrName>
                                        </p:attrNameLst>
                                      </p:cBhvr>
                                      <p:to>
                                        <p:strVal val="visible"/>
                                      </p:to>
                                    </p:set>
                                    <p:animEffect transition="in" filter="fade">
                                      <p:cBhvr>
                                        <p:cTn id="248" dur="450"/>
                                        <p:tgtEl>
                                          <p:spTgt spid="9"/>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10"/>
                                        </p:tgtEl>
                                        <p:attrNameLst>
                                          <p:attrName>style.visibility</p:attrName>
                                        </p:attrNameLst>
                                      </p:cBhvr>
                                      <p:to>
                                        <p:strVal val="visible"/>
                                      </p:to>
                                    </p:set>
                                    <p:animEffect transition="in" filter="fade">
                                      <p:cBhvr>
                                        <p:cTn id="251" dur="450"/>
                                        <p:tgtEl>
                                          <p:spTgt spid="10"/>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11"/>
                                        </p:tgtEl>
                                        <p:attrNameLst>
                                          <p:attrName>style.visibility</p:attrName>
                                        </p:attrNameLst>
                                      </p:cBhvr>
                                      <p:to>
                                        <p:strVal val="visible"/>
                                      </p:to>
                                    </p:set>
                                    <p:animEffect transition="in" filter="fade">
                                      <p:cBhvr>
                                        <p:cTn id="254" dur="450"/>
                                        <p:tgtEl>
                                          <p:spTgt spid="11"/>
                                        </p:tgtEl>
                                      </p:cBhvr>
                                    </p:animEffect>
                                  </p:childTnLst>
                                </p:cTn>
                              </p:par>
                              <p:par>
                                <p:cTn id="255" presetID="10" presetClass="entr" presetSubtype="0" fill="hold" grpId="0" nodeType="withEffect">
                                  <p:stCondLst>
                                    <p:cond delay="0"/>
                                  </p:stCondLst>
                                  <p:childTnLst>
                                    <p:set>
                                      <p:cBhvr>
                                        <p:cTn id="256" dur="1" fill="hold">
                                          <p:stCondLst>
                                            <p:cond delay="0"/>
                                          </p:stCondLst>
                                        </p:cTn>
                                        <p:tgtEl>
                                          <p:spTgt spid="12"/>
                                        </p:tgtEl>
                                        <p:attrNameLst>
                                          <p:attrName>style.visibility</p:attrName>
                                        </p:attrNameLst>
                                      </p:cBhvr>
                                      <p:to>
                                        <p:strVal val="visible"/>
                                      </p:to>
                                    </p:set>
                                    <p:animEffect transition="in" filter="fade">
                                      <p:cBhvr>
                                        <p:cTn id="257" dur="450"/>
                                        <p:tgtEl>
                                          <p:spTgt spid="12"/>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13"/>
                                        </p:tgtEl>
                                        <p:attrNameLst>
                                          <p:attrName>style.visibility</p:attrName>
                                        </p:attrNameLst>
                                      </p:cBhvr>
                                      <p:to>
                                        <p:strVal val="visible"/>
                                      </p:to>
                                    </p:set>
                                    <p:animEffect transition="in" filter="fade">
                                      <p:cBhvr>
                                        <p:cTn id="260" dur="450"/>
                                        <p:tgtEl>
                                          <p:spTgt spid="13"/>
                                        </p:tgtEl>
                                      </p:cBhvr>
                                    </p:animEffect>
                                  </p:childTnLst>
                                </p:cTn>
                              </p:par>
                              <p:par>
                                <p:cTn id="261" presetID="10" presetClass="entr" presetSubtype="0" fill="hold" grpId="0" nodeType="withEffect">
                                  <p:stCondLst>
                                    <p:cond delay="0"/>
                                  </p:stCondLst>
                                  <p:childTnLst>
                                    <p:set>
                                      <p:cBhvr>
                                        <p:cTn id="262" dur="1" fill="hold">
                                          <p:stCondLst>
                                            <p:cond delay="0"/>
                                          </p:stCondLst>
                                        </p:cTn>
                                        <p:tgtEl>
                                          <p:spTgt spid="14"/>
                                        </p:tgtEl>
                                        <p:attrNameLst>
                                          <p:attrName>style.visibility</p:attrName>
                                        </p:attrNameLst>
                                      </p:cBhvr>
                                      <p:to>
                                        <p:strVal val="visible"/>
                                      </p:to>
                                    </p:set>
                                    <p:animEffect transition="in" filter="fade">
                                      <p:cBhvr>
                                        <p:cTn id="263" dur="450"/>
                                        <p:tgtEl>
                                          <p:spTgt spid="14"/>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15"/>
                                        </p:tgtEl>
                                        <p:attrNameLst>
                                          <p:attrName>style.visibility</p:attrName>
                                        </p:attrNameLst>
                                      </p:cBhvr>
                                      <p:to>
                                        <p:strVal val="visible"/>
                                      </p:to>
                                    </p:set>
                                    <p:animEffect transition="in" filter="fade">
                                      <p:cBhvr>
                                        <p:cTn id="266" dur="450"/>
                                        <p:tgtEl>
                                          <p:spTgt spid="15"/>
                                        </p:tgtEl>
                                      </p:cBhvr>
                                    </p:animEffect>
                                  </p:childTnLst>
                                </p:cTn>
                              </p:par>
                              <p:par>
                                <p:cTn id="267" presetID="10" presetClass="entr" presetSubtype="0" fill="hold" grpId="0" nodeType="withEffect">
                                  <p:stCondLst>
                                    <p:cond delay="0"/>
                                  </p:stCondLst>
                                  <p:childTnLst>
                                    <p:set>
                                      <p:cBhvr>
                                        <p:cTn id="268" dur="1" fill="hold">
                                          <p:stCondLst>
                                            <p:cond delay="0"/>
                                          </p:stCondLst>
                                        </p:cTn>
                                        <p:tgtEl>
                                          <p:spTgt spid="16"/>
                                        </p:tgtEl>
                                        <p:attrNameLst>
                                          <p:attrName>style.visibility</p:attrName>
                                        </p:attrNameLst>
                                      </p:cBhvr>
                                      <p:to>
                                        <p:strVal val="visible"/>
                                      </p:to>
                                    </p:set>
                                    <p:animEffect transition="in" filter="fade">
                                      <p:cBhvr>
                                        <p:cTn id="269" dur="450"/>
                                        <p:tgtEl>
                                          <p:spTgt spid="16"/>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17"/>
                                        </p:tgtEl>
                                        <p:attrNameLst>
                                          <p:attrName>style.visibility</p:attrName>
                                        </p:attrNameLst>
                                      </p:cBhvr>
                                      <p:to>
                                        <p:strVal val="visible"/>
                                      </p:to>
                                    </p:set>
                                    <p:animEffect transition="in" filter="fade">
                                      <p:cBhvr>
                                        <p:cTn id="272" dur="450"/>
                                        <p:tgtEl>
                                          <p:spTgt spid="17"/>
                                        </p:tgtEl>
                                      </p:cBhvr>
                                    </p:animEffect>
                                  </p:childTnLst>
                                </p:cTn>
                              </p:par>
                              <p:par>
                                <p:cTn id="273" presetID="10" presetClass="entr" presetSubtype="0" fill="hold" grpId="0" nodeType="withEffect">
                                  <p:stCondLst>
                                    <p:cond delay="0"/>
                                  </p:stCondLst>
                                  <p:childTnLst>
                                    <p:set>
                                      <p:cBhvr>
                                        <p:cTn id="274" dur="1" fill="hold">
                                          <p:stCondLst>
                                            <p:cond delay="0"/>
                                          </p:stCondLst>
                                        </p:cTn>
                                        <p:tgtEl>
                                          <p:spTgt spid="18"/>
                                        </p:tgtEl>
                                        <p:attrNameLst>
                                          <p:attrName>style.visibility</p:attrName>
                                        </p:attrNameLst>
                                      </p:cBhvr>
                                      <p:to>
                                        <p:strVal val="visible"/>
                                      </p:to>
                                    </p:set>
                                    <p:animEffect transition="in" filter="fade">
                                      <p:cBhvr>
                                        <p:cTn id="275" dur="450"/>
                                        <p:tgtEl>
                                          <p:spTgt spid="18"/>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19"/>
                                        </p:tgtEl>
                                        <p:attrNameLst>
                                          <p:attrName>style.visibility</p:attrName>
                                        </p:attrNameLst>
                                      </p:cBhvr>
                                      <p:to>
                                        <p:strVal val="visible"/>
                                      </p:to>
                                    </p:set>
                                    <p:animEffect transition="in" filter="fade">
                                      <p:cBhvr>
                                        <p:cTn id="278" dur="450"/>
                                        <p:tgtEl>
                                          <p:spTgt spid="19"/>
                                        </p:tgtEl>
                                      </p:cBhvr>
                                    </p:animEffect>
                                  </p:childTnLst>
                                </p:cTn>
                              </p:par>
                              <p:par>
                                <p:cTn id="279" presetID="10" presetClass="entr" presetSubtype="0" fill="hold" grpId="0" nodeType="withEffect">
                                  <p:stCondLst>
                                    <p:cond delay="0"/>
                                  </p:stCondLst>
                                  <p:childTnLst>
                                    <p:set>
                                      <p:cBhvr>
                                        <p:cTn id="280" dur="1" fill="hold">
                                          <p:stCondLst>
                                            <p:cond delay="0"/>
                                          </p:stCondLst>
                                        </p:cTn>
                                        <p:tgtEl>
                                          <p:spTgt spid="20"/>
                                        </p:tgtEl>
                                        <p:attrNameLst>
                                          <p:attrName>style.visibility</p:attrName>
                                        </p:attrNameLst>
                                      </p:cBhvr>
                                      <p:to>
                                        <p:strVal val="visible"/>
                                      </p:to>
                                    </p:set>
                                    <p:animEffect transition="in" filter="fade">
                                      <p:cBhvr>
                                        <p:cTn id="281" dur="450"/>
                                        <p:tgtEl>
                                          <p:spTgt spid="20"/>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21"/>
                                        </p:tgtEl>
                                        <p:attrNameLst>
                                          <p:attrName>style.visibility</p:attrName>
                                        </p:attrNameLst>
                                      </p:cBhvr>
                                      <p:to>
                                        <p:strVal val="visible"/>
                                      </p:to>
                                    </p:set>
                                    <p:animEffect transition="in" filter="fade">
                                      <p:cBhvr>
                                        <p:cTn id="284" dur="450"/>
                                        <p:tgtEl>
                                          <p:spTgt spid="21"/>
                                        </p:tgtEl>
                                      </p:cBhvr>
                                    </p:animEffect>
                                  </p:childTnLst>
                                </p:cTn>
                              </p:par>
                              <p:par>
                                <p:cTn id="285" presetID="10" presetClass="entr" presetSubtype="0" fill="hold" grpId="0" nodeType="withEffect">
                                  <p:stCondLst>
                                    <p:cond delay="0"/>
                                  </p:stCondLst>
                                  <p:childTnLst>
                                    <p:set>
                                      <p:cBhvr>
                                        <p:cTn id="286" dur="1" fill="hold">
                                          <p:stCondLst>
                                            <p:cond delay="0"/>
                                          </p:stCondLst>
                                        </p:cTn>
                                        <p:tgtEl>
                                          <p:spTgt spid="22"/>
                                        </p:tgtEl>
                                        <p:attrNameLst>
                                          <p:attrName>style.visibility</p:attrName>
                                        </p:attrNameLst>
                                      </p:cBhvr>
                                      <p:to>
                                        <p:strVal val="visible"/>
                                      </p:to>
                                    </p:set>
                                    <p:animEffect transition="in" filter="fade">
                                      <p:cBhvr>
                                        <p:cTn id="287" dur="450"/>
                                        <p:tgtEl>
                                          <p:spTgt spid="22"/>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23"/>
                                        </p:tgtEl>
                                        <p:attrNameLst>
                                          <p:attrName>style.visibility</p:attrName>
                                        </p:attrNameLst>
                                      </p:cBhvr>
                                      <p:to>
                                        <p:strVal val="visible"/>
                                      </p:to>
                                    </p:set>
                                    <p:animEffect transition="in" filter="fade">
                                      <p:cBhvr>
                                        <p:cTn id="290" dur="450"/>
                                        <p:tgtEl>
                                          <p:spTgt spid="23"/>
                                        </p:tgtEl>
                                      </p:cBhvr>
                                    </p:animEffect>
                                  </p:childTnLst>
                                </p:cTn>
                              </p:par>
                              <p:par>
                                <p:cTn id="291" presetID="10" presetClass="entr" presetSubtype="0" fill="hold" grpId="0" nodeType="withEffect">
                                  <p:stCondLst>
                                    <p:cond delay="0"/>
                                  </p:stCondLst>
                                  <p:childTnLst>
                                    <p:set>
                                      <p:cBhvr>
                                        <p:cTn id="292" dur="1" fill="hold">
                                          <p:stCondLst>
                                            <p:cond delay="0"/>
                                          </p:stCondLst>
                                        </p:cTn>
                                        <p:tgtEl>
                                          <p:spTgt spid="24"/>
                                        </p:tgtEl>
                                        <p:attrNameLst>
                                          <p:attrName>style.visibility</p:attrName>
                                        </p:attrNameLst>
                                      </p:cBhvr>
                                      <p:to>
                                        <p:strVal val="visible"/>
                                      </p:to>
                                    </p:set>
                                    <p:animEffect transition="in" filter="fade">
                                      <p:cBhvr>
                                        <p:cTn id="293" dur="450"/>
                                        <p:tgtEl>
                                          <p:spTgt spid="24"/>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25"/>
                                        </p:tgtEl>
                                        <p:attrNameLst>
                                          <p:attrName>style.visibility</p:attrName>
                                        </p:attrNameLst>
                                      </p:cBhvr>
                                      <p:to>
                                        <p:strVal val="visible"/>
                                      </p:to>
                                    </p:set>
                                    <p:animEffect transition="in" filter="fade">
                                      <p:cBhvr>
                                        <p:cTn id="296" dur="450"/>
                                        <p:tgtEl>
                                          <p:spTgt spid="25"/>
                                        </p:tgtEl>
                                      </p:cBhvr>
                                    </p:animEffect>
                                  </p:childTnLst>
                                </p:cTn>
                              </p:par>
                              <p:par>
                                <p:cTn id="297" presetID="10" presetClass="entr" presetSubtype="0" fill="hold" grpId="0" nodeType="withEffect">
                                  <p:stCondLst>
                                    <p:cond delay="0"/>
                                  </p:stCondLst>
                                  <p:childTnLst>
                                    <p:set>
                                      <p:cBhvr>
                                        <p:cTn id="298" dur="1" fill="hold">
                                          <p:stCondLst>
                                            <p:cond delay="0"/>
                                          </p:stCondLst>
                                        </p:cTn>
                                        <p:tgtEl>
                                          <p:spTgt spid="26"/>
                                        </p:tgtEl>
                                        <p:attrNameLst>
                                          <p:attrName>style.visibility</p:attrName>
                                        </p:attrNameLst>
                                      </p:cBhvr>
                                      <p:to>
                                        <p:strVal val="visible"/>
                                      </p:to>
                                    </p:set>
                                    <p:animEffect transition="in" filter="fade">
                                      <p:cBhvr>
                                        <p:cTn id="299" dur="450"/>
                                        <p:tgtEl>
                                          <p:spTgt spid="26"/>
                                        </p:tgtEl>
                                      </p:cBhvr>
                                    </p:animEffect>
                                  </p:childTnLst>
                                </p:cTn>
                              </p:par>
                              <p:par>
                                <p:cTn id="300" presetID="10" presetClass="entr" presetSubtype="0" fill="hold" grpId="0" nodeType="withEffect">
                                  <p:stCondLst>
                                    <p:cond delay="0"/>
                                  </p:stCondLst>
                                  <p:childTnLst>
                                    <p:set>
                                      <p:cBhvr>
                                        <p:cTn id="301" dur="1" fill="hold">
                                          <p:stCondLst>
                                            <p:cond delay="0"/>
                                          </p:stCondLst>
                                        </p:cTn>
                                        <p:tgtEl>
                                          <p:spTgt spid="27"/>
                                        </p:tgtEl>
                                        <p:attrNameLst>
                                          <p:attrName>style.visibility</p:attrName>
                                        </p:attrNameLst>
                                      </p:cBhvr>
                                      <p:to>
                                        <p:strVal val="visible"/>
                                      </p:to>
                                    </p:set>
                                    <p:animEffect transition="in" filter="fade">
                                      <p:cBhvr>
                                        <p:cTn id="302" dur="450"/>
                                        <p:tgtEl>
                                          <p:spTgt spid="27"/>
                                        </p:tgtEl>
                                      </p:cBhvr>
                                    </p:animEffect>
                                  </p:childTnLst>
                                </p:cTn>
                              </p:par>
                              <p:par>
                                <p:cTn id="303" presetID="10" presetClass="entr" presetSubtype="0" fill="hold" grpId="0" nodeType="withEffect">
                                  <p:stCondLst>
                                    <p:cond delay="0"/>
                                  </p:stCondLst>
                                  <p:childTnLst>
                                    <p:set>
                                      <p:cBhvr>
                                        <p:cTn id="304" dur="1" fill="hold">
                                          <p:stCondLst>
                                            <p:cond delay="0"/>
                                          </p:stCondLst>
                                        </p:cTn>
                                        <p:tgtEl>
                                          <p:spTgt spid="28"/>
                                        </p:tgtEl>
                                        <p:attrNameLst>
                                          <p:attrName>style.visibility</p:attrName>
                                        </p:attrNameLst>
                                      </p:cBhvr>
                                      <p:to>
                                        <p:strVal val="visible"/>
                                      </p:to>
                                    </p:set>
                                    <p:animEffect transition="in" filter="fade">
                                      <p:cBhvr>
                                        <p:cTn id="305" dur="450"/>
                                        <p:tgtEl>
                                          <p:spTgt spid="28"/>
                                        </p:tgtEl>
                                      </p:cBhvr>
                                    </p:animEffect>
                                  </p:childTnLst>
                                </p:cTn>
                              </p:par>
                              <p:par>
                                <p:cTn id="306" presetID="10" presetClass="entr" presetSubtype="0" fill="hold" grpId="0" nodeType="withEffect">
                                  <p:stCondLst>
                                    <p:cond delay="0"/>
                                  </p:stCondLst>
                                  <p:childTnLst>
                                    <p:set>
                                      <p:cBhvr>
                                        <p:cTn id="307" dur="1" fill="hold">
                                          <p:stCondLst>
                                            <p:cond delay="0"/>
                                          </p:stCondLst>
                                        </p:cTn>
                                        <p:tgtEl>
                                          <p:spTgt spid="29"/>
                                        </p:tgtEl>
                                        <p:attrNameLst>
                                          <p:attrName>style.visibility</p:attrName>
                                        </p:attrNameLst>
                                      </p:cBhvr>
                                      <p:to>
                                        <p:strVal val="visible"/>
                                      </p:to>
                                    </p:set>
                                    <p:animEffect transition="in" filter="fade">
                                      <p:cBhvr>
                                        <p:cTn id="308" dur="450"/>
                                        <p:tgtEl>
                                          <p:spTgt spid="29"/>
                                        </p:tgtEl>
                                      </p:cBhvr>
                                    </p:animEffect>
                                  </p:childTnLst>
                                </p:cTn>
                              </p:par>
                            </p:childTnLst>
                          </p:cTn>
                        </p:par>
                        <p:par>
                          <p:cTn id="352" fill="hold">
                            <p:stCondLst>
                              <p:cond delay="742"/>
                            </p:stCondLst>
                            <p:childTnLst>
                              <p:par>
                                <p:cTn id="309" presetID="53" presetClass="entr" presetSubtype="16" fill="hold" grpId="0" nodeType="withEffect">
                                  <p:stCondLst>
                                    <p:cond delay="0"/>
                                  </p:stCondLst>
                                  <p:childTnLst>
                                    <p:set>
                                      <p:cBhvr>
                                        <p:cTn id="310" dur="1" fill="hold">
                                          <p:stCondLst>
                                            <p:cond delay="0"/>
                                          </p:stCondLst>
                                        </p:cTn>
                                        <p:tgtEl>
                                          <p:spTgt spid="106"/>
                                        </p:tgtEl>
                                        <p:attrNameLst>
                                          <p:attrName>style.visibility</p:attrName>
                                        </p:attrNameLst>
                                      </p:cBhvr>
                                      <p:to>
                                        <p:strVal val="visible"/>
                                      </p:to>
                                    </p:set>
                                    <p:animEffect transition="in" filter="fade">
                                      <p:cBhvr>
                                        <p:cTn id="311" dur="450"/>
                                        <p:tgtEl>
                                          <p:spTgt spid="106"/>
                                        </p:tgtEl>
                                      </p:cBhvr>
                                    </p:animEffect>
                                    <p:anim calcmode="lin" valueType="num">
                                      <p:cBhvr additive="base">
                                        <p:cTn id="312" dur="450" fill="hold"/>
                                        <p:tgtEl>
                                          <p:spTgt spid="106"/>
                                        </p:tgtEl>
                                        <p:attrNameLst>
                                          <p:attrName>ppt_w</p:attrName>
                                        </p:attrNameLst>
                                      </p:cBhvr>
                                      <p:tavLst>
                                        <p:tav tm="0">
                                          <p:val>
                                            <p:strVal val="#ppt_w*0.6"/>
                                          </p:val>
                                        </p:tav>
                                        <p:tav tm="100000">
                                          <p:val>
                                            <p:strVal val="#ppt_w"/>
                                          </p:val>
                                        </p:tav>
                                      </p:tavLst>
                                    </p:anim>
                                    <p:anim calcmode="lin" valueType="num">
                                      <p:cBhvr additive="base">
                                        <p:cTn id="313" dur="450" fill="hold"/>
                                        <p:tgtEl>
                                          <p:spTgt spid="106"/>
                                        </p:tgtEl>
                                        <p:attrNameLst>
                                          <p:attrName>ppt_h</p:attrName>
                                        </p:attrNameLst>
                                      </p:cBhvr>
                                      <p:tavLst>
                                        <p:tav tm="0">
                                          <p:val>
                                            <p:strVal val="#ppt_h*0.6"/>
                                          </p:val>
                                        </p:tav>
                                        <p:tav tm="100000">
                                          <p:val>
                                            <p:strVal val="#ppt_h"/>
                                          </p:val>
                                        </p:tav>
                                      </p:tavLst>
                                    </p:anim>
                                  </p:childTnLst>
                                </p:cTn>
                              </p:par>
                              <p:par>
                                <p:cTn id="314" presetID="53" presetClass="entr" presetSubtype="16" fill="hold" grpId="0" nodeType="withEffect">
                                  <p:stCondLst>
                                    <p:cond delay="0"/>
                                  </p:stCondLst>
                                  <p:childTnLst>
                                    <p:set>
                                      <p:cBhvr>
                                        <p:cTn id="315" dur="1" fill="hold">
                                          <p:stCondLst>
                                            <p:cond delay="0"/>
                                          </p:stCondLst>
                                        </p:cTn>
                                        <p:tgtEl>
                                          <p:spTgt spid="107"/>
                                        </p:tgtEl>
                                        <p:attrNameLst>
                                          <p:attrName>style.visibility</p:attrName>
                                        </p:attrNameLst>
                                      </p:cBhvr>
                                      <p:to>
                                        <p:strVal val="visible"/>
                                      </p:to>
                                    </p:set>
                                    <p:animEffect transition="in" filter="fade">
                                      <p:cBhvr>
                                        <p:cTn id="316" dur="450"/>
                                        <p:tgtEl>
                                          <p:spTgt spid="107"/>
                                        </p:tgtEl>
                                      </p:cBhvr>
                                    </p:animEffect>
                                    <p:anim calcmode="lin" valueType="num">
                                      <p:cBhvr additive="base">
                                        <p:cTn id="317" dur="450" fill="hold"/>
                                        <p:tgtEl>
                                          <p:spTgt spid="107"/>
                                        </p:tgtEl>
                                        <p:attrNameLst>
                                          <p:attrName>ppt_w</p:attrName>
                                        </p:attrNameLst>
                                      </p:cBhvr>
                                      <p:tavLst>
                                        <p:tav tm="0">
                                          <p:val>
                                            <p:strVal val="#ppt_w*0.6"/>
                                          </p:val>
                                        </p:tav>
                                        <p:tav tm="100000">
                                          <p:val>
                                            <p:strVal val="#ppt_w"/>
                                          </p:val>
                                        </p:tav>
                                      </p:tavLst>
                                    </p:anim>
                                    <p:anim calcmode="lin" valueType="num">
                                      <p:cBhvr additive="base">
                                        <p:cTn id="318" dur="450" fill="hold"/>
                                        <p:tgtEl>
                                          <p:spTgt spid="107"/>
                                        </p:tgtEl>
                                        <p:attrNameLst>
                                          <p:attrName>ppt_h</p:attrName>
                                        </p:attrNameLst>
                                      </p:cBhvr>
                                      <p:tavLst>
                                        <p:tav tm="0">
                                          <p:val>
                                            <p:strVal val="#ppt_h*0.6"/>
                                          </p:val>
                                        </p:tav>
                                        <p:tav tm="100000">
                                          <p:val>
                                            <p:strVal val="#ppt_h"/>
                                          </p:val>
                                        </p:tav>
                                      </p:tavLst>
                                    </p:anim>
                                  </p:childTnLst>
                                </p:cTn>
                              </p:par>
                            </p:childTnLst>
                          </p:cTn>
                        </p:par>
                        <p:par>
                          <p:cTn id="353" fill="hold">
                            <p:stCondLst>
                              <p:cond delay="990"/>
                            </p:stCondLst>
                            <p:childTnLst>
                              <p:par>
                                <p:cTn id="319" presetID="42" presetClass="entr" presetSubtype="0" fill="hold" grpId="0" nodeType="withEffect">
                                  <p:stCondLst>
                                    <p:cond delay="0"/>
                                  </p:stCondLst>
                                  <p:childTnLst>
                                    <p:set>
                                      <p:cBhvr>
                                        <p:cTn id="320" dur="1" fill="hold">
                                          <p:stCondLst>
                                            <p:cond delay="0"/>
                                          </p:stCondLst>
                                        </p:cTn>
                                        <p:tgtEl>
                                          <p:spTgt spid="108"/>
                                        </p:tgtEl>
                                        <p:attrNameLst>
                                          <p:attrName>style.visibility</p:attrName>
                                        </p:attrNameLst>
                                      </p:cBhvr>
                                      <p:to>
                                        <p:strVal val="visible"/>
                                      </p:to>
                                    </p:set>
                                    <p:animEffect transition="in" filter="fade">
                                      <p:cBhvr>
                                        <p:cTn id="321" dur="550"/>
                                        <p:tgtEl>
                                          <p:spTgt spid="108"/>
                                        </p:tgtEl>
                                      </p:cBhvr>
                                    </p:animEffect>
                                    <p:anim calcmode="lin" valueType="num">
                                      <p:cBhvr additive="base">
                                        <p:cTn id="322" dur="550" fill="hold"/>
                                        <p:tgtEl>
                                          <p:spTgt spid="108"/>
                                        </p:tgtEl>
                                        <p:attrNameLst>
                                          <p:attrName>ppt_x</p:attrName>
                                        </p:attrNameLst>
                                      </p:cBhvr>
                                      <p:tavLst>
                                        <p:tav tm="0">
                                          <p:val>
                                            <p:strVal val="#ppt_x"/>
                                          </p:val>
                                        </p:tav>
                                        <p:tav tm="100000">
                                          <p:val>
                                            <p:strVal val="#ppt_x"/>
                                          </p:val>
                                        </p:tav>
                                      </p:tavLst>
                                    </p:anim>
                                    <p:anim calcmode="lin" valueType="num">
                                      <p:cBhvr additive="base">
                                        <p:cTn id="323" dur="550" fill="hold"/>
                                        <p:tgtEl>
                                          <p:spTgt spid="108"/>
                                        </p:tgtEl>
                                        <p:attrNameLst>
                                          <p:attrName>ppt_y</p:attrName>
                                        </p:attrNameLst>
                                      </p:cBhvr>
                                      <p:tavLst>
                                        <p:tav tm="0">
                                          <p:val>
                                            <p:strVal val="#ppt_y+.06"/>
                                          </p:val>
                                        </p:tav>
                                        <p:tav tm="100000">
                                          <p:val>
                                            <p:strVal val="#ppt_y"/>
                                          </p:val>
                                        </p:tav>
                                      </p:tavLst>
                                    </p:anim>
                                  </p:childTnLst>
                                </p:cTn>
                              </p:par>
                              <p:par>
                                <p:cTn id="324" presetID="42" presetClass="entr" presetSubtype="0" fill="hold" grpId="0" nodeType="withEffect">
                                  <p:stCondLst>
                                    <p:cond delay="0"/>
                                  </p:stCondLst>
                                  <p:childTnLst>
                                    <p:set>
                                      <p:cBhvr>
                                        <p:cTn id="325" dur="1" fill="hold">
                                          <p:stCondLst>
                                            <p:cond delay="0"/>
                                          </p:stCondLst>
                                        </p:cTn>
                                        <p:tgtEl>
                                          <p:spTgt spid="109"/>
                                        </p:tgtEl>
                                        <p:attrNameLst>
                                          <p:attrName>style.visibility</p:attrName>
                                        </p:attrNameLst>
                                      </p:cBhvr>
                                      <p:to>
                                        <p:strVal val="visible"/>
                                      </p:to>
                                    </p:set>
                                    <p:animEffect transition="in" filter="fade">
                                      <p:cBhvr>
                                        <p:cTn id="326" dur="550"/>
                                        <p:tgtEl>
                                          <p:spTgt spid="109"/>
                                        </p:tgtEl>
                                      </p:cBhvr>
                                    </p:animEffect>
                                    <p:anim calcmode="lin" valueType="num">
                                      <p:cBhvr additive="base">
                                        <p:cTn id="327" dur="550" fill="hold"/>
                                        <p:tgtEl>
                                          <p:spTgt spid="109"/>
                                        </p:tgtEl>
                                        <p:attrNameLst>
                                          <p:attrName>ppt_x</p:attrName>
                                        </p:attrNameLst>
                                      </p:cBhvr>
                                      <p:tavLst>
                                        <p:tav tm="0">
                                          <p:val>
                                            <p:strVal val="#ppt_x"/>
                                          </p:val>
                                        </p:tav>
                                        <p:tav tm="100000">
                                          <p:val>
                                            <p:strVal val="#ppt_x"/>
                                          </p:val>
                                        </p:tav>
                                      </p:tavLst>
                                    </p:anim>
                                    <p:anim calcmode="lin" valueType="num">
                                      <p:cBhvr additive="base">
                                        <p:cTn id="328" dur="550" fill="hold"/>
                                        <p:tgtEl>
                                          <p:spTgt spid="109"/>
                                        </p:tgtEl>
                                        <p:attrNameLst>
                                          <p:attrName>ppt_y</p:attrName>
                                        </p:attrNameLst>
                                      </p:cBhvr>
                                      <p:tavLst>
                                        <p:tav tm="0">
                                          <p:val>
                                            <p:strVal val="#ppt_y+.06"/>
                                          </p:val>
                                        </p:tav>
                                        <p:tav tm="100000">
                                          <p:val>
                                            <p:strVal val="#ppt_y"/>
                                          </p:val>
                                        </p:tav>
                                      </p:tavLst>
                                    </p:anim>
                                  </p:childTnLst>
                                </p:cTn>
                              </p:par>
                              <p:par>
                                <p:cTn id="329" presetID="42" presetClass="entr" presetSubtype="0" fill="hold" grpId="0" nodeType="withEffect">
                                  <p:stCondLst>
                                    <p:cond delay="0"/>
                                  </p:stCondLst>
                                  <p:childTnLst>
                                    <p:set>
                                      <p:cBhvr>
                                        <p:cTn id="330" dur="1" fill="hold">
                                          <p:stCondLst>
                                            <p:cond delay="0"/>
                                          </p:stCondLst>
                                        </p:cTn>
                                        <p:tgtEl>
                                          <p:spTgt spid="110"/>
                                        </p:tgtEl>
                                        <p:attrNameLst>
                                          <p:attrName>style.visibility</p:attrName>
                                        </p:attrNameLst>
                                      </p:cBhvr>
                                      <p:to>
                                        <p:strVal val="visible"/>
                                      </p:to>
                                    </p:set>
                                    <p:animEffect transition="in" filter="fade">
                                      <p:cBhvr>
                                        <p:cTn id="331" dur="550"/>
                                        <p:tgtEl>
                                          <p:spTgt spid="110"/>
                                        </p:tgtEl>
                                      </p:cBhvr>
                                    </p:animEffect>
                                    <p:anim calcmode="lin" valueType="num">
                                      <p:cBhvr additive="base">
                                        <p:cTn id="332" dur="550" fill="hold"/>
                                        <p:tgtEl>
                                          <p:spTgt spid="110"/>
                                        </p:tgtEl>
                                        <p:attrNameLst>
                                          <p:attrName>ppt_x</p:attrName>
                                        </p:attrNameLst>
                                      </p:cBhvr>
                                      <p:tavLst>
                                        <p:tav tm="0">
                                          <p:val>
                                            <p:strVal val="#ppt_x"/>
                                          </p:val>
                                        </p:tav>
                                        <p:tav tm="100000">
                                          <p:val>
                                            <p:strVal val="#ppt_x"/>
                                          </p:val>
                                        </p:tav>
                                      </p:tavLst>
                                    </p:anim>
                                    <p:anim calcmode="lin" valueType="num">
                                      <p:cBhvr additive="base">
                                        <p:cTn id="333" dur="550" fill="hold"/>
                                        <p:tgtEl>
                                          <p:spTgt spid="110"/>
                                        </p:tgtEl>
                                        <p:attrNameLst>
                                          <p:attrName>ppt_y</p:attrName>
                                        </p:attrNameLst>
                                      </p:cBhvr>
                                      <p:tavLst>
                                        <p:tav tm="0">
                                          <p:val>
                                            <p:strVal val="#ppt_y+.06"/>
                                          </p:val>
                                        </p:tav>
                                        <p:tav tm="100000">
                                          <p:val>
                                            <p:strVal val="#ppt_y"/>
                                          </p:val>
                                        </p:tav>
                                      </p:tavLst>
                                    </p:anim>
                                  </p:childTnLst>
                                </p:cTn>
                              </p:par>
                            </p:childTnLst>
                          </p:cTn>
                        </p:par>
                        <p:par>
                          <p:cTn id="354" fill="hold">
                            <p:stCondLst>
                              <p:cond delay="1292"/>
                            </p:stCondLst>
                            <p:childTnLst>
                              <p:par>
                                <p:cTn id="334" presetID="42" presetClass="entr" presetSubtype="0" fill="hold" grpId="0" nodeType="withEffect">
                                  <p:stCondLst>
                                    <p:cond delay="0"/>
                                  </p:stCondLst>
                                  <p:childTnLst>
                                    <p:set>
                                      <p:cBhvr>
                                        <p:cTn id="335" dur="1" fill="hold">
                                          <p:stCondLst>
                                            <p:cond delay="0"/>
                                          </p:stCondLst>
                                        </p:cTn>
                                        <p:tgtEl>
                                          <p:spTgt spid="111"/>
                                        </p:tgtEl>
                                        <p:attrNameLst>
                                          <p:attrName>style.visibility</p:attrName>
                                        </p:attrNameLst>
                                      </p:cBhvr>
                                      <p:to>
                                        <p:strVal val="visible"/>
                                      </p:to>
                                    </p:set>
                                    <p:animEffect transition="in" filter="fade">
                                      <p:cBhvr>
                                        <p:cTn id="336" dur="550"/>
                                        <p:tgtEl>
                                          <p:spTgt spid="111"/>
                                        </p:tgtEl>
                                      </p:cBhvr>
                                    </p:animEffect>
                                    <p:anim calcmode="lin" valueType="num">
                                      <p:cBhvr additive="base">
                                        <p:cTn id="337" dur="550" fill="hold"/>
                                        <p:tgtEl>
                                          <p:spTgt spid="111"/>
                                        </p:tgtEl>
                                        <p:attrNameLst>
                                          <p:attrName>ppt_x</p:attrName>
                                        </p:attrNameLst>
                                      </p:cBhvr>
                                      <p:tavLst>
                                        <p:tav tm="0">
                                          <p:val>
                                            <p:strVal val="#ppt_x"/>
                                          </p:val>
                                        </p:tav>
                                        <p:tav tm="100000">
                                          <p:val>
                                            <p:strVal val="#ppt_x"/>
                                          </p:val>
                                        </p:tav>
                                      </p:tavLst>
                                    </p:anim>
                                    <p:anim calcmode="lin" valueType="num">
                                      <p:cBhvr additive="base">
                                        <p:cTn id="338" dur="550" fill="hold"/>
                                        <p:tgtEl>
                                          <p:spTgt spid="111"/>
                                        </p:tgtEl>
                                        <p:attrNameLst>
                                          <p:attrName>ppt_y</p:attrName>
                                        </p:attrNameLst>
                                      </p:cBhvr>
                                      <p:tavLst>
                                        <p:tav tm="0">
                                          <p:val>
                                            <p:strVal val="#ppt_y+.06"/>
                                          </p:val>
                                        </p:tav>
                                        <p:tav tm="100000">
                                          <p:val>
                                            <p:strVal val="#ppt_y"/>
                                          </p:val>
                                        </p:tav>
                                      </p:tavLst>
                                    </p:anim>
                                  </p:childTnLst>
                                </p:cTn>
                              </p:par>
                              <p:par>
                                <p:cTn id="339" presetID="42" presetClass="entr" presetSubtype="0" fill="hold" grpId="0" nodeType="withEffect">
                                  <p:stCondLst>
                                    <p:cond delay="0"/>
                                  </p:stCondLst>
                                  <p:childTnLst>
                                    <p:set>
                                      <p:cBhvr>
                                        <p:cTn id="340" dur="1" fill="hold">
                                          <p:stCondLst>
                                            <p:cond delay="0"/>
                                          </p:stCondLst>
                                        </p:cTn>
                                        <p:tgtEl>
                                          <p:spTgt spid="112"/>
                                        </p:tgtEl>
                                        <p:attrNameLst>
                                          <p:attrName>style.visibility</p:attrName>
                                        </p:attrNameLst>
                                      </p:cBhvr>
                                      <p:to>
                                        <p:strVal val="visible"/>
                                      </p:to>
                                    </p:set>
                                    <p:animEffect transition="in" filter="fade">
                                      <p:cBhvr>
                                        <p:cTn id="341" dur="550"/>
                                        <p:tgtEl>
                                          <p:spTgt spid="112"/>
                                        </p:tgtEl>
                                      </p:cBhvr>
                                    </p:animEffect>
                                    <p:anim calcmode="lin" valueType="num">
                                      <p:cBhvr additive="base">
                                        <p:cTn id="342" dur="550" fill="hold"/>
                                        <p:tgtEl>
                                          <p:spTgt spid="112"/>
                                        </p:tgtEl>
                                        <p:attrNameLst>
                                          <p:attrName>ppt_x</p:attrName>
                                        </p:attrNameLst>
                                      </p:cBhvr>
                                      <p:tavLst>
                                        <p:tav tm="0">
                                          <p:val>
                                            <p:strVal val="#ppt_x"/>
                                          </p:val>
                                        </p:tav>
                                        <p:tav tm="100000">
                                          <p:val>
                                            <p:strVal val="#ppt_x"/>
                                          </p:val>
                                        </p:tav>
                                      </p:tavLst>
                                    </p:anim>
                                    <p:anim calcmode="lin" valueType="num">
                                      <p:cBhvr additive="base">
                                        <p:cTn id="343" dur="550" fill="hold"/>
                                        <p:tgtEl>
                                          <p:spTgt spid="112"/>
                                        </p:tgtEl>
                                        <p:attrNameLst>
                                          <p:attrName>ppt_y</p:attrName>
                                        </p:attrNameLst>
                                      </p:cBhvr>
                                      <p:tavLst>
                                        <p:tav tm="0">
                                          <p:val>
                                            <p:strVal val="#ppt_y+.06"/>
                                          </p:val>
                                        </p:tav>
                                        <p:tav tm="100000">
                                          <p:val>
                                            <p:strVal val="#ppt_y"/>
                                          </p:val>
                                        </p:tav>
                                      </p:tavLst>
                                    </p:anim>
                                  </p:childTnLst>
                                </p:cTn>
                              </p:par>
                              <p:par>
                                <p:cTn id="344" presetID="42" presetClass="entr" presetSubtype="0" fill="hold" grpId="0" nodeType="withEffect">
                                  <p:stCondLst>
                                    <p:cond delay="0"/>
                                  </p:stCondLst>
                                  <p:childTnLst>
                                    <p:set>
                                      <p:cBhvr>
                                        <p:cTn id="345" dur="1" fill="hold">
                                          <p:stCondLst>
                                            <p:cond delay="0"/>
                                          </p:stCondLst>
                                        </p:cTn>
                                        <p:tgtEl>
                                          <p:spTgt spid="113"/>
                                        </p:tgtEl>
                                        <p:attrNameLst>
                                          <p:attrName>style.visibility</p:attrName>
                                        </p:attrNameLst>
                                      </p:cBhvr>
                                      <p:to>
                                        <p:strVal val="visible"/>
                                      </p:to>
                                    </p:set>
                                    <p:animEffect transition="in" filter="fade">
                                      <p:cBhvr>
                                        <p:cTn id="346" dur="550"/>
                                        <p:tgtEl>
                                          <p:spTgt spid="113"/>
                                        </p:tgtEl>
                                      </p:cBhvr>
                                    </p:animEffect>
                                    <p:anim calcmode="lin" valueType="num">
                                      <p:cBhvr additive="base">
                                        <p:cTn id="347" dur="550" fill="hold"/>
                                        <p:tgtEl>
                                          <p:spTgt spid="113"/>
                                        </p:tgtEl>
                                        <p:attrNameLst>
                                          <p:attrName>ppt_x</p:attrName>
                                        </p:attrNameLst>
                                      </p:cBhvr>
                                      <p:tavLst>
                                        <p:tav tm="0">
                                          <p:val>
                                            <p:strVal val="#ppt_x"/>
                                          </p:val>
                                        </p:tav>
                                        <p:tav tm="100000">
                                          <p:val>
                                            <p:strVal val="#ppt_x"/>
                                          </p:val>
                                        </p:tav>
                                      </p:tavLst>
                                    </p:anim>
                                    <p:anim calcmode="lin" valueType="num">
                                      <p:cBhvr additive="base">
                                        <p:cTn id="348" dur="550" fill="hold"/>
                                        <p:tgtEl>
                                          <p:spTgt spid="11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106" grpId="0" animBg="1"/>
      <p:bldP spid="107" grpId="0" animBg="1"/>
      <p:bldP spid="108" grpId="0" animBg="1"/>
      <p:bldP spid="109" grpId="0" animBg="1"/>
      <p:bldP spid="110" grpId="0" animBg="1"/>
      <p:bldP spid="111" grpId="0" animBg="1"/>
      <p:bldP spid="112" grpId="0" animBg="1"/>
      <p:bldP spid="1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FINDING 3 · FAIRNESS TESTS</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Four gaps, each statistically tested</a:t>
            </a:r>
            <a:endParaRPr lang="en-US" sz="3400" dirty="0"/>
          </a:p>
        </p:txBody>
      </p:sp>
      <p:sp>
        <p:nvSpPr>
          <p:cNvPr id="4" name="a01_rise_gap0"/>
          <p:cNvSpPr/>
          <p:nvPr/>
        </p:nvSpPr>
        <p:spPr>
          <a:xfrm>
            <a:off x="548640" y="1645920"/>
            <a:ext cx="2560320" cy="2834640"/>
          </a:xfrm>
          <a:prstGeom prst="roundRect">
            <a:avLst>
              <a:gd name="adj" fmla="val 428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5" name="a01_rise_gapL0"/>
          <p:cNvSpPr txBox="1"/>
          <p:nvPr/>
        </p:nvSpPr>
        <p:spPr>
          <a:xfrm>
            <a:off x="822960" y="1874520"/>
            <a:ext cx="210312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AGE</a:t>
            </a:r>
            <a:endParaRPr lang="en-US" sz="1200" dirty="0"/>
          </a:p>
        </p:txBody>
      </p:sp>
      <p:sp>
        <p:nvSpPr>
          <p:cNvPr id="6" name="a01_rise_gapR0"/>
          <p:cNvSpPr txBox="1"/>
          <p:nvPr/>
        </p:nvSpPr>
        <p:spPr>
          <a:xfrm>
            <a:off x="822960" y="2194560"/>
            <a:ext cx="2103120"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17.1×</a:t>
            </a:r>
            <a:endParaRPr lang="en-US" sz="4800" dirty="0"/>
          </a:p>
        </p:txBody>
      </p:sp>
      <p:sp>
        <p:nvSpPr>
          <p:cNvPr id="7" name="a01_rise_gapW0"/>
          <p:cNvSpPr txBox="1"/>
          <p:nvPr/>
        </p:nvSpPr>
        <p:spPr>
          <a:xfrm>
            <a:off x="822960" y="3108960"/>
            <a:ext cx="2103120" cy="731520"/>
          </a:xfrm>
          <a:prstGeom prst="rect">
            <a:avLst/>
          </a:prstGeom>
          <a:noFill/>
          <a:ln/>
        </p:spPr>
        <p:txBody>
          <a:bodyPr wrap="square" lIns="0" tIns="0" rIns="0" bIns="0" rtlCol="0" anchor="t"/>
          <a:lstStyle/>
          <a:p>
            <a:pPr indent="0" marL="0">
              <a:buNone/>
            </a:pPr>
            <a:r>
              <a:rPr lang="en-US" sz="1500" b="1" dirty="0">
                <a:solidFill>
                  <a:schemeClr val="accent1"/>
                </a:solidFill>
              </a:rPr>
              <a:t>75+ vs 18–30</a:t>
            </a:r>
            <a:endParaRPr lang="en-US" sz="1500" dirty="0"/>
          </a:p>
          <a:p>
            <a:pPr indent="0" marL="0">
              <a:buNone/>
            </a:pPr>
            <a:r>
              <a:rPr lang="en-US" sz="1400" dirty="0">
                <a:solidFill>
                  <a:schemeClr val="accent5"/>
                </a:solidFill>
              </a:rPr>
              <a:t>21.7% vs 1.3% denied</a:t>
            </a:r>
            <a:endParaRPr lang="en-US" sz="1500" dirty="0"/>
          </a:p>
        </p:txBody>
      </p:sp>
      <p:sp>
        <p:nvSpPr>
          <p:cNvPr id="8" name="a01_rise_gapB0"/>
          <p:cNvSpPr/>
          <p:nvPr/>
        </p:nvSpPr>
        <p:spPr>
          <a:xfrm>
            <a:off x="822960" y="3931920"/>
            <a:ext cx="1417320" cy="347472"/>
          </a:xfrm>
          <a:prstGeom prst="roundRect">
            <a:avLst>
              <a:gd name="adj" fmla="val 50000"/>
            </a:avLst>
          </a:prstGeom>
          <a:solidFill>
            <a:schemeClr val="accent3">
              <a:alpha val="10000"/>
            </a:schemeClr>
          </a:solidFill>
          <a:ln/>
        </p:spPr>
      </p:sp>
      <p:sp>
        <p:nvSpPr>
          <p:cNvPr id="9" name="a01_rise_gapBT0"/>
          <p:cNvSpPr txBox="1"/>
          <p:nvPr/>
        </p:nvSpPr>
        <p:spPr>
          <a:xfrm>
            <a:off x="822960" y="3931920"/>
            <a:ext cx="1417320" cy="347472"/>
          </a:xfrm>
          <a:prstGeom prst="rect">
            <a:avLst/>
          </a:prstGeom>
          <a:noFill/>
          <a:ln/>
        </p:spPr>
        <p:txBody>
          <a:bodyPr wrap="square" lIns="0" tIns="0" rIns="0" bIns="0" rtlCol="0" anchor="ctr"/>
          <a:lstStyle/>
          <a:p>
            <a:pPr algn="ctr" indent="0" marL="0">
              <a:buNone/>
            </a:pPr>
            <a:r>
              <a:rPr lang="en-US" sz="1300" b="1" dirty="0">
                <a:solidFill>
                  <a:srgbClr val="B71C1C"/>
                </a:solidFill>
              </a:rPr>
              <a:t>p &lt; 0.001</a:t>
            </a:r>
            <a:endParaRPr lang="en-US" sz="1300" dirty="0"/>
          </a:p>
        </p:txBody>
      </p:sp>
      <p:sp>
        <p:nvSpPr>
          <p:cNvPr id="10" name="a02_rise_gap1"/>
          <p:cNvSpPr/>
          <p:nvPr/>
        </p:nvSpPr>
        <p:spPr>
          <a:xfrm>
            <a:off x="3383280" y="1645920"/>
            <a:ext cx="2560320" cy="2834640"/>
          </a:xfrm>
          <a:prstGeom prst="roundRect">
            <a:avLst>
              <a:gd name="adj" fmla="val 428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1" name="a02_rise_gapL1"/>
          <p:cNvSpPr txBox="1"/>
          <p:nvPr/>
        </p:nvSpPr>
        <p:spPr>
          <a:xfrm>
            <a:off x="3657600" y="1874520"/>
            <a:ext cx="210312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OCCUPATION</a:t>
            </a:r>
            <a:endParaRPr lang="en-US" sz="1200" dirty="0"/>
          </a:p>
        </p:txBody>
      </p:sp>
      <p:sp>
        <p:nvSpPr>
          <p:cNvPr id="12" name="a02_rise_gapR1"/>
          <p:cNvSpPr txBox="1"/>
          <p:nvPr/>
        </p:nvSpPr>
        <p:spPr>
          <a:xfrm>
            <a:off x="3657600" y="2194560"/>
            <a:ext cx="2103120"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54.4×</a:t>
            </a:r>
            <a:endParaRPr lang="en-US" sz="4800" dirty="0"/>
          </a:p>
        </p:txBody>
      </p:sp>
      <p:sp>
        <p:nvSpPr>
          <p:cNvPr id="13" name="a02_rise_gapW1"/>
          <p:cNvSpPr txBox="1"/>
          <p:nvPr/>
        </p:nvSpPr>
        <p:spPr>
          <a:xfrm>
            <a:off x="3657600" y="3108960"/>
            <a:ext cx="2103120" cy="731520"/>
          </a:xfrm>
          <a:prstGeom prst="rect">
            <a:avLst/>
          </a:prstGeom>
          <a:noFill/>
          <a:ln/>
        </p:spPr>
        <p:txBody>
          <a:bodyPr wrap="square" lIns="0" tIns="0" rIns="0" bIns="0" rtlCol="0" anchor="t"/>
          <a:lstStyle/>
          <a:p>
            <a:pPr indent="0" marL="0">
              <a:buNone/>
            </a:pPr>
            <a:r>
              <a:rPr lang="en-US" sz="1500" b="1" dirty="0">
                <a:solidFill>
                  <a:schemeClr val="accent1"/>
                </a:solidFill>
              </a:rPr>
              <a:t>Farmer vs office worker</a:t>
            </a:r>
            <a:endParaRPr lang="en-US" sz="1500" dirty="0"/>
          </a:p>
          <a:p>
            <a:pPr indent="0" marL="0">
              <a:buNone/>
            </a:pPr>
            <a:r>
              <a:rPr lang="en-US" sz="1400" dirty="0">
                <a:solidFill>
                  <a:schemeClr val="accent5"/>
                </a:solidFill>
              </a:rPr>
              <a:t>5.8% vs 0.1%* denied</a:t>
            </a:r>
            <a:endParaRPr lang="en-US" sz="1500" dirty="0"/>
          </a:p>
        </p:txBody>
      </p:sp>
      <p:sp>
        <p:nvSpPr>
          <p:cNvPr id="14" name="a02_rise_gapB1"/>
          <p:cNvSpPr/>
          <p:nvPr/>
        </p:nvSpPr>
        <p:spPr>
          <a:xfrm>
            <a:off x="3657600" y="3931920"/>
            <a:ext cx="1417320" cy="347472"/>
          </a:xfrm>
          <a:prstGeom prst="roundRect">
            <a:avLst>
              <a:gd name="adj" fmla="val 50000"/>
            </a:avLst>
          </a:prstGeom>
          <a:solidFill>
            <a:schemeClr val="accent3">
              <a:alpha val="10000"/>
            </a:schemeClr>
          </a:solidFill>
          <a:ln/>
        </p:spPr>
      </p:sp>
      <p:sp>
        <p:nvSpPr>
          <p:cNvPr id="15" name="a02_rise_gapBT1"/>
          <p:cNvSpPr txBox="1"/>
          <p:nvPr/>
        </p:nvSpPr>
        <p:spPr>
          <a:xfrm>
            <a:off x="3657600" y="3931920"/>
            <a:ext cx="1417320" cy="347472"/>
          </a:xfrm>
          <a:prstGeom prst="rect">
            <a:avLst/>
          </a:prstGeom>
          <a:noFill/>
          <a:ln/>
        </p:spPr>
        <p:txBody>
          <a:bodyPr wrap="square" lIns="0" tIns="0" rIns="0" bIns="0" rtlCol="0" anchor="ctr"/>
          <a:lstStyle/>
          <a:p>
            <a:pPr algn="ctr" indent="0" marL="0">
              <a:buNone/>
            </a:pPr>
            <a:r>
              <a:rPr lang="en-US" sz="1300" b="1" dirty="0">
                <a:solidFill>
                  <a:srgbClr val="B71C1C"/>
                </a:solidFill>
              </a:rPr>
              <a:t>p &lt; 0.001</a:t>
            </a:r>
            <a:endParaRPr lang="en-US" sz="1300" dirty="0"/>
          </a:p>
        </p:txBody>
      </p:sp>
      <p:sp>
        <p:nvSpPr>
          <p:cNvPr id="16" name="a03_rise_gap2"/>
          <p:cNvSpPr/>
          <p:nvPr/>
        </p:nvSpPr>
        <p:spPr>
          <a:xfrm>
            <a:off x="6217920" y="1645920"/>
            <a:ext cx="2560320" cy="2834640"/>
          </a:xfrm>
          <a:prstGeom prst="roundRect">
            <a:avLst>
              <a:gd name="adj" fmla="val 428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7" name="a03_rise_gapL2"/>
          <p:cNvSpPr txBox="1"/>
          <p:nvPr/>
        </p:nvSpPr>
        <p:spPr>
          <a:xfrm>
            <a:off x="6492240" y="1874520"/>
            <a:ext cx="210312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AREA</a:t>
            </a:r>
            <a:endParaRPr lang="en-US" sz="1200" dirty="0"/>
          </a:p>
        </p:txBody>
      </p:sp>
      <p:sp>
        <p:nvSpPr>
          <p:cNvPr id="18" name="a03_rise_gapR2"/>
          <p:cNvSpPr txBox="1"/>
          <p:nvPr/>
        </p:nvSpPr>
        <p:spPr>
          <a:xfrm>
            <a:off x="6492240" y="2194560"/>
            <a:ext cx="2103120"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3.6×</a:t>
            </a:r>
            <a:endParaRPr lang="en-US" sz="4800" dirty="0"/>
          </a:p>
        </p:txBody>
      </p:sp>
      <p:sp>
        <p:nvSpPr>
          <p:cNvPr id="19" name="a03_rise_gapW2"/>
          <p:cNvSpPr txBox="1"/>
          <p:nvPr/>
        </p:nvSpPr>
        <p:spPr>
          <a:xfrm>
            <a:off x="6492240" y="3108960"/>
            <a:ext cx="2103120" cy="731520"/>
          </a:xfrm>
          <a:prstGeom prst="rect">
            <a:avLst/>
          </a:prstGeom>
          <a:noFill/>
          <a:ln/>
        </p:spPr>
        <p:txBody>
          <a:bodyPr wrap="square" lIns="0" tIns="0" rIns="0" bIns="0" rtlCol="0" anchor="t"/>
          <a:lstStyle/>
          <a:p>
            <a:pPr indent="0" marL="0">
              <a:buNone/>
            </a:pPr>
            <a:r>
              <a:rPr lang="en-US" sz="1500" b="1" dirty="0">
                <a:solidFill>
                  <a:schemeClr val="accent1"/>
                </a:solidFill>
              </a:rPr>
              <a:t>Remote vs urban</a:t>
            </a:r>
            <a:endParaRPr lang="en-US" sz="1500" dirty="0"/>
          </a:p>
          <a:p>
            <a:pPr indent="0" marL="0">
              <a:buNone/>
            </a:pPr>
            <a:r>
              <a:rPr lang="en-US" sz="1400" dirty="0">
                <a:solidFill>
                  <a:schemeClr val="accent5"/>
                </a:solidFill>
              </a:rPr>
              <a:t>6.2% vs 1.7% denied</a:t>
            </a:r>
            <a:endParaRPr lang="en-US" sz="1500" dirty="0"/>
          </a:p>
        </p:txBody>
      </p:sp>
      <p:sp>
        <p:nvSpPr>
          <p:cNvPr id="20" name="a03_rise_gapB2"/>
          <p:cNvSpPr/>
          <p:nvPr/>
        </p:nvSpPr>
        <p:spPr>
          <a:xfrm>
            <a:off x="6492240" y="3931920"/>
            <a:ext cx="1417320" cy="347472"/>
          </a:xfrm>
          <a:prstGeom prst="roundRect">
            <a:avLst>
              <a:gd name="adj" fmla="val 50000"/>
            </a:avLst>
          </a:prstGeom>
          <a:solidFill>
            <a:schemeClr val="accent3">
              <a:alpha val="10000"/>
            </a:schemeClr>
          </a:solidFill>
          <a:ln/>
        </p:spPr>
      </p:sp>
      <p:sp>
        <p:nvSpPr>
          <p:cNvPr id="21" name="a03_rise_gapBT2"/>
          <p:cNvSpPr txBox="1"/>
          <p:nvPr/>
        </p:nvSpPr>
        <p:spPr>
          <a:xfrm>
            <a:off x="6492240" y="3931920"/>
            <a:ext cx="1417320" cy="347472"/>
          </a:xfrm>
          <a:prstGeom prst="rect">
            <a:avLst/>
          </a:prstGeom>
          <a:noFill/>
          <a:ln/>
        </p:spPr>
        <p:txBody>
          <a:bodyPr wrap="square" lIns="0" tIns="0" rIns="0" bIns="0" rtlCol="0" anchor="ctr"/>
          <a:lstStyle/>
          <a:p>
            <a:pPr algn="ctr" indent="0" marL="0">
              <a:buNone/>
            </a:pPr>
            <a:r>
              <a:rPr lang="en-US" sz="1300" b="1" dirty="0">
                <a:solidFill>
                  <a:srgbClr val="B71C1C"/>
                </a:solidFill>
              </a:rPr>
              <a:t>p &lt; 0.001</a:t>
            </a:r>
            <a:endParaRPr lang="en-US" sz="1300" dirty="0"/>
          </a:p>
        </p:txBody>
      </p:sp>
      <p:sp>
        <p:nvSpPr>
          <p:cNvPr id="22" name="a04_rise_gap3"/>
          <p:cNvSpPr/>
          <p:nvPr/>
        </p:nvSpPr>
        <p:spPr>
          <a:xfrm>
            <a:off x="9052560" y="1645920"/>
            <a:ext cx="2560320" cy="2834640"/>
          </a:xfrm>
          <a:prstGeom prst="roundRect">
            <a:avLst>
              <a:gd name="adj" fmla="val 428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23" name="a04_rise_gapL3"/>
          <p:cNvSpPr txBox="1"/>
          <p:nvPr/>
        </p:nvSpPr>
        <p:spPr>
          <a:xfrm>
            <a:off x="9326880" y="1874520"/>
            <a:ext cx="210312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SERVICE</a:t>
            </a:r>
            <a:endParaRPr lang="en-US" sz="1200" dirty="0"/>
          </a:p>
        </p:txBody>
      </p:sp>
      <p:sp>
        <p:nvSpPr>
          <p:cNvPr id="24" name="a04_rise_gapR3"/>
          <p:cNvSpPr txBox="1"/>
          <p:nvPr/>
        </p:nvSpPr>
        <p:spPr>
          <a:xfrm>
            <a:off x="9326880" y="2194560"/>
            <a:ext cx="2103120"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5.0×</a:t>
            </a:r>
            <a:endParaRPr lang="en-US" sz="4800" dirty="0"/>
          </a:p>
        </p:txBody>
      </p:sp>
      <p:sp>
        <p:nvSpPr>
          <p:cNvPr id="25" name="a04_rise_gapW3"/>
          <p:cNvSpPr txBox="1"/>
          <p:nvPr/>
        </p:nvSpPr>
        <p:spPr>
          <a:xfrm>
            <a:off x="9326880" y="3108960"/>
            <a:ext cx="2103120" cy="731520"/>
          </a:xfrm>
          <a:prstGeom prst="rect">
            <a:avLst/>
          </a:prstGeom>
          <a:noFill/>
          <a:ln/>
        </p:spPr>
        <p:txBody>
          <a:bodyPr wrap="square" lIns="0" tIns="0" rIns="0" bIns="0" rtlCol="0" anchor="t"/>
          <a:lstStyle/>
          <a:p>
            <a:pPr indent="0" marL="0">
              <a:buNone/>
            </a:pPr>
            <a:r>
              <a:rPr lang="en-US" sz="1500" b="1" dirty="0">
                <a:solidFill>
                  <a:schemeClr val="accent1"/>
                </a:solidFill>
              </a:rPr>
              <a:t>Pension vs MGNREGA</a:t>
            </a:r>
            <a:endParaRPr lang="en-US" sz="1500" dirty="0"/>
          </a:p>
          <a:p>
            <a:pPr indent="0" marL="0">
              <a:buNone/>
            </a:pPr>
            <a:r>
              <a:rPr lang="en-US" sz="1400" dirty="0">
                <a:solidFill>
                  <a:schemeClr val="accent5"/>
                </a:solidFill>
              </a:rPr>
              <a:t>11.3% vs 2.3% denied</a:t>
            </a:r>
            <a:endParaRPr lang="en-US" sz="1500" dirty="0"/>
          </a:p>
        </p:txBody>
      </p:sp>
      <p:sp>
        <p:nvSpPr>
          <p:cNvPr id="26" name="a04_rise_gapB3"/>
          <p:cNvSpPr/>
          <p:nvPr/>
        </p:nvSpPr>
        <p:spPr>
          <a:xfrm>
            <a:off x="9326880" y="3931920"/>
            <a:ext cx="1417320" cy="347472"/>
          </a:xfrm>
          <a:prstGeom prst="roundRect">
            <a:avLst>
              <a:gd name="adj" fmla="val 50000"/>
            </a:avLst>
          </a:prstGeom>
          <a:solidFill>
            <a:schemeClr val="accent3">
              <a:alpha val="10000"/>
            </a:schemeClr>
          </a:solidFill>
          <a:ln/>
        </p:spPr>
      </p:sp>
      <p:sp>
        <p:nvSpPr>
          <p:cNvPr id="27" name="a04_rise_gapBT3"/>
          <p:cNvSpPr txBox="1"/>
          <p:nvPr/>
        </p:nvSpPr>
        <p:spPr>
          <a:xfrm>
            <a:off x="9326880" y="3931920"/>
            <a:ext cx="1417320" cy="347472"/>
          </a:xfrm>
          <a:prstGeom prst="rect">
            <a:avLst/>
          </a:prstGeom>
          <a:noFill/>
          <a:ln/>
        </p:spPr>
        <p:txBody>
          <a:bodyPr wrap="square" lIns="0" tIns="0" rIns="0" bIns="0" rtlCol="0" anchor="ctr"/>
          <a:lstStyle/>
          <a:p>
            <a:pPr algn="ctr" indent="0" marL="0">
              <a:buNone/>
            </a:pPr>
            <a:r>
              <a:rPr lang="en-US" sz="1300" b="1" dirty="0">
                <a:solidFill>
                  <a:srgbClr val="B71C1C"/>
                </a:solidFill>
              </a:rPr>
              <a:t>p &lt; 0.001</a:t>
            </a:r>
            <a:endParaRPr lang="en-US" sz="1300" dirty="0"/>
          </a:p>
        </p:txBody>
      </p:sp>
      <p:sp>
        <p:nvSpPr>
          <p:cNvPr id="28" name="a05_rise_control"/>
          <p:cNvSpPr/>
          <p:nvPr/>
        </p:nvSpPr>
        <p:spPr>
          <a:xfrm>
            <a:off x="548640" y="4754880"/>
            <a:ext cx="11064240" cy="1188720"/>
          </a:xfrm>
          <a:prstGeom prst="roundRect">
            <a:avLst>
              <a:gd name="adj" fmla="val 9231"/>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29" name="a05_rise_ctrlIcon_c"/>
          <p:cNvSpPr/>
          <p:nvPr/>
        </p:nvSpPr>
        <p:spPr>
          <a:xfrm>
            <a:off x="822960" y="4983480"/>
            <a:ext cx="731520" cy="731520"/>
          </a:xfrm>
          <a:prstGeom prst="ellipse">
            <a:avLst/>
          </a:prstGeom>
          <a:solidFill>
            <a:schemeClr val="accent4"/>
          </a:solidFill>
          <a:ln/>
        </p:spPr>
      </p:sp>
      <p:pic>
        <p:nvPicPr>
          <p:cNvPr id="30" name="a05_rise_ctrlIcon_i" descr="preencoded.png">    </p:cNvPr>
          <p:cNvPicPr>
            <a:picLocks noChangeAspect="1"/>
          </p:cNvPicPr>
          <p:nvPr/>
        </p:nvPicPr>
        <p:blipFill>
          <a:blip r:embed="rId1"/>
          <a:stretch>
            <a:fillRect/>
          </a:stretch>
        </p:blipFill>
        <p:spPr>
          <a:xfrm>
            <a:off x="998525" y="5159045"/>
            <a:ext cx="380390" cy="380390"/>
          </a:xfrm>
          <a:prstGeom prst="rect">
            <a:avLst/>
          </a:prstGeom>
        </p:spPr>
      </p:pic>
      <p:sp>
        <p:nvSpPr>
          <p:cNvPr id="31" name="a05_rise_ctrlText"/>
          <p:cNvSpPr txBox="1"/>
          <p:nvPr/>
        </p:nvSpPr>
        <p:spPr>
          <a:xfrm>
            <a:off x="1783080" y="4892040"/>
            <a:ext cx="9601200" cy="914400"/>
          </a:xfrm>
          <a:prstGeom prst="rect">
            <a:avLst/>
          </a:prstGeom>
          <a:noFill/>
          <a:ln/>
        </p:spPr>
        <p:txBody>
          <a:bodyPr wrap="square" lIns="0" tIns="0" rIns="0" bIns="0" rtlCol="0" anchor="ctr"/>
          <a:lstStyle/>
          <a:p>
            <a:pPr indent="0" marL="0">
              <a:buNone/>
            </a:pPr>
            <a:r>
              <a:rPr lang="en-US" sz="1600" b="1" dirty="0">
                <a:solidFill>
                  <a:schemeClr val="accent4"/>
                </a:solidFill>
              </a:rPr>
              <a:t>Control check · Gender: 1.0×, 3.3% vs 3.3%, p = 1.00 (not significant).  </a:t>
            </a:r>
            <a:pPr indent="0" marL="0">
              <a:buNone/>
            </a:pPr>
            <a:r>
              <a:rPr lang="en-US" sz="1500" dirty="0">
                <a:solidFill>
                  <a:schemeClr val="tx1"/>
                </a:solidFill>
              </a:rPr>
              <a:t>The generator has no gender effect, and the method finds none: it does not invent bias.</a:t>
            </a:r>
            <a:endParaRPr lang="en-US" sz="1600" dirty="0"/>
          </a:p>
        </p:txBody>
      </p:sp>
      <p:sp>
        <p:nvSpPr>
          <p:cNvPr id="32" name="a06_fade_foot"/>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100" dirty="0">
                <a:solidFill>
                  <a:schemeClr val="accent5"/>
                </a:solidFill>
              </a:rPr>
              <a:t>*Office workers are almost never denied, which inflates this ratio.</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152" fill="hold">
                      <p:stCondLst>
                        <p:cond delay="indefinite"/>
                        <p:cond evt="onBegin" delay="0">
                          <p:tn val="2"/>
                        </p:cond>
                      </p:stCondLst>
                      <p:childTnLst>
                        <p:par>
                          <p:cTn id="146"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additive="base">
                                        <p:cTn id="6" dur="550" fill="hold"/>
                                        <p:tgtEl>
                                          <p:spTgt spid="4"/>
                                        </p:tgtEl>
                                        <p:attrNameLst>
                                          <p:attrName>ppt_x</p:attrName>
                                        </p:attrNameLst>
                                      </p:cBhvr>
                                      <p:tavLst>
                                        <p:tav tm="0">
                                          <p:val>
                                            <p:strVal val="#ppt_x"/>
                                          </p:val>
                                        </p:tav>
                                        <p:tav tm="100000">
                                          <p:val>
                                            <p:strVal val="#ppt_x"/>
                                          </p:val>
                                        </p:tav>
                                      </p:tavLst>
                                    </p:anim>
                                    <p:anim calcmode="lin" valueType="num">
                                      <p:cBhvr additive="base">
                                        <p:cTn id="7" dur="550" fill="hold"/>
                                        <p:tgtEl>
                                          <p:spTgt spid="4"/>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additive="base">
                                        <p:cTn id="11" dur="550" fill="hold"/>
                                        <p:tgtEl>
                                          <p:spTgt spid="5"/>
                                        </p:tgtEl>
                                        <p:attrNameLst>
                                          <p:attrName>ppt_x</p:attrName>
                                        </p:attrNameLst>
                                      </p:cBhvr>
                                      <p:tavLst>
                                        <p:tav tm="0">
                                          <p:val>
                                            <p:strVal val="#ppt_x"/>
                                          </p:val>
                                        </p:tav>
                                        <p:tav tm="100000">
                                          <p:val>
                                            <p:strVal val="#ppt_x"/>
                                          </p:val>
                                        </p:tav>
                                      </p:tavLst>
                                    </p:anim>
                                    <p:anim calcmode="lin" valueType="num">
                                      <p:cBhvr additive="base">
                                        <p:cTn id="12" dur="550" fill="hold"/>
                                        <p:tgtEl>
                                          <p:spTgt spid="5"/>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50"/>
                                        <p:tgtEl>
                                          <p:spTgt spid="6"/>
                                        </p:tgtEl>
                                      </p:cBhvr>
                                    </p:animEffect>
                                    <p:anim calcmode="lin" valueType="num">
                                      <p:cBhvr additive="base">
                                        <p:cTn id="16" dur="550" fill="hold"/>
                                        <p:tgtEl>
                                          <p:spTgt spid="6"/>
                                        </p:tgtEl>
                                        <p:attrNameLst>
                                          <p:attrName>ppt_x</p:attrName>
                                        </p:attrNameLst>
                                      </p:cBhvr>
                                      <p:tavLst>
                                        <p:tav tm="0">
                                          <p:val>
                                            <p:strVal val="#ppt_x"/>
                                          </p:val>
                                        </p:tav>
                                        <p:tav tm="100000">
                                          <p:val>
                                            <p:strVal val="#ppt_x"/>
                                          </p:val>
                                        </p:tav>
                                      </p:tavLst>
                                    </p:anim>
                                    <p:anim calcmode="lin" valueType="num">
                                      <p:cBhvr additive="base">
                                        <p:cTn id="17" dur="55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50"/>
                                        <p:tgtEl>
                                          <p:spTgt spid="7"/>
                                        </p:tgtEl>
                                      </p:cBhvr>
                                    </p:animEffect>
                                    <p:anim calcmode="lin" valueType="num">
                                      <p:cBhvr additive="base">
                                        <p:cTn id="21" dur="550" fill="hold"/>
                                        <p:tgtEl>
                                          <p:spTgt spid="7"/>
                                        </p:tgtEl>
                                        <p:attrNameLst>
                                          <p:attrName>ppt_x</p:attrName>
                                        </p:attrNameLst>
                                      </p:cBhvr>
                                      <p:tavLst>
                                        <p:tav tm="0">
                                          <p:val>
                                            <p:strVal val="#ppt_x"/>
                                          </p:val>
                                        </p:tav>
                                        <p:tav tm="100000">
                                          <p:val>
                                            <p:strVal val="#ppt_x"/>
                                          </p:val>
                                        </p:tav>
                                      </p:tavLst>
                                    </p:anim>
                                    <p:anim calcmode="lin" valueType="num">
                                      <p:cBhvr additive="base">
                                        <p:cTn id="22" dur="55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50"/>
                                        <p:tgtEl>
                                          <p:spTgt spid="8"/>
                                        </p:tgtEl>
                                      </p:cBhvr>
                                    </p:animEffect>
                                    <p:anim calcmode="lin" valueType="num">
                                      <p:cBhvr additive="base">
                                        <p:cTn id="26" dur="550" fill="hold"/>
                                        <p:tgtEl>
                                          <p:spTgt spid="8"/>
                                        </p:tgtEl>
                                        <p:attrNameLst>
                                          <p:attrName>ppt_x</p:attrName>
                                        </p:attrNameLst>
                                      </p:cBhvr>
                                      <p:tavLst>
                                        <p:tav tm="0">
                                          <p:val>
                                            <p:strVal val="#ppt_x"/>
                                          </p:val>
                                        </p:tav>
                                        <p:tav tm="100000">
                                          <p:val>
                                            <p:strVal val="#ppt_x"/>
                                          </p:val>
                                        </p:tav>
                                      </p:tavLst>
                                    </p:anim>
                                    <p:anim calcmode="lin" valueType="num">
                                      <p:cBhvr additive="base">
                                        <p:cTn id="27" dur="55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anim calcmode="lin" valueType="num">
                                      <p:cBhvr additive="base">
                                        <p:cTn id="31" dur="550" fill="hold"/>
                                        <p:tgtEl>
                                          <p:spTgt spid="9"/>
                                        </p:tgtEl>
                                        <p:attrNameLst>
                                          <p:attrName>ppt_x</p:attrName>
                                        </p:attrNameLst>
                                      </p:cBhvr>
                                      <p:tavLst>
                                        <p:tav tm="0">
                                          <p:val>
                                            <p:strVal val="#ppt_x"/>
                                          </p:val>
                                        </p:tav>
                                        <p:tav tm="100000">
                                          <p:val>
                                            <p:strVal val="#ppt_x"/>
                                          </p:val>
                                        </p:tav>
                                      </p:tavLst>
                                    </p:anim>
                                    <p:anim calcmode="lin" valueType="num">
                                      <p:cBhvr additive="base">
                                        <p:cTn id="32" dur="550" fill="hold"/>
                                        <p:tgtEl>
                                          <p:spTgt spid="9"/>
                                        </p:tgtEl>
                                        <p:attrNameLst>
                                          <p:attrName>ppt_y</p:attrName>
                                        </p:attrNameLst>
                                      </p:cBhvr>
                                      <p:tavLst>
                                        <p:tav tm="0">
                                          <p:val>
                                            <p:strVal val="#ppt_y+.06"/>
                                          </p:val>
                                        </p:tav>
                                        <p:tav tm="100000">
                                          <p:val>
                                            <p:strVal val="#ppt_y"/>
                                          </p:val>
                                        </p:tav>
                                      </p:tavLst>
                                    </p:anim>
                                  </p:childTnLst>
                                </p:cTn>
                              </p:par>
                            </p:childTnLst>
                          </p:cTn>
                        </p:par>
                        <p:par>
                          <p:cTn id="147" fill="hold">
                            <p:stCondLst>
                              <p:cond delay="302"/>
                            </p:stCondLst>
                            <p:childTnLst>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50"/>
                                        <p:tgtEl>
                                          <p:spTgt spid="10"/>
                                        </p:tgtEl>
                                      </p:cBhvr>
                                    </p:animEffect>
                                    <p:anim calcmode="lin" valueType="num">
                                      <p:cBhvr additive="base">
                                        <p:cTn id="36" dur="550" fill="hold"/>
                                        <p:tgtEl>
                                          <p:spTgt spid="10"/>
                                        </p:tgtEl>
                                        <p:attrNameLst>
                                          <p:attrName>ppt_x</p:attrName>
                                        </p:attrNameLst>
                                      </p:cBhvr>
                                      <p:tavLst>
                                        <p:tav tm="0">
                                          <p:val>
                                            <p:strVal val="#ppt_x"/>
                                          </p:val>
                                        </p:tav>
                                        <p:tav tm="100000">
                                          <p:val>
                                            <p:strVal val="#ppt_x"/>
                                          </p:val>
                                        </p:tav>
                                      </p:tavLst>
                                    </p:anim>
                                    <p:anim calcmode="lin" valueType="num">
                                      <p:cBhvr additive="base">
                                        <p:cTn id="37" dur="550" fill="hold"/>
                                        <p:tgtEl>
                                          <p:spTgt spid="10"/>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50"/>
                                        <p:tgtEl>
                                          <p:spTgt spid="11"/>
                                        </p:tgtEl>
                                      </p:cBhvr>
                                    </p:animEffect>
                                    <p:anim calcmode="lin" valueType="num">
                                      <p:cBhvr additive="base">
                                        <p:cTn id="41" dur="550" fill="hold"/>
                                        <p:tgtEl>
                                          <p:spTgt spid="11"/>
                                        </p:tgtEl>
                                        <p:attrNameLst>
                                          <p:attrName>ppt_x</p:attrName>
                                        </p:attrNameLst>
                                      </p:cBhvr>
                                      <p:tavLst>
                                        <p:tav tm="0">
                                          <p:val>
                                            <p:strVal val="#ppt_x"/>
                                          </p:val>
                                        </p:tav>
                                        <p:tav tm="100000">
                                          <p:val>
                                            <p:strVal val="#ppt_x"/>
                                          </p:val>
                                        </p:tav>
                                      </p:tavLst>
                                    </p:anim>
                                    <p:anim calcmode="lin" valueType="num">
                                      <p:cBhvr additive="base">
                                        <p:cTn id="42" dur="550" fill="hold"/>
                                        <p:tgtEl>
                                          <p:spTgt spid="11"/>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50"/>
                                        <p:tgtEl>
                                          <p:spTgt spid="12"/>
                                        </p:tgtEl>
                                      </p:cBhvr>
                                    </p:animEffect>
                                    <p:anim calcmode="lin" valueType="num">
                                      <p:cBhvr additive="base">
                                        <p:cTn id="46" dur="550" fill="hold"/>
                                        <p:tgtEl>
                                          <p:spTgt spid="12"/>
                                        </p:tgtEl>
                                        <p:attrNameLst>
                                          <p:attrName>ppt_x</p:attrName>
                                        </p:attrNameLst>
                                      </p:cBhvr>
                                      <p:tavLst>
                                        <p:tav tm="0">
                                          <p:val>
                                            <p:strVal val="#ppt_x"/>
                                          </p:val>
                                        </p:tav>
                                        <p:tav tm="100000">
                                          <p:val>
                                            <p:strVal val="#ppt_x"/>
                                          </p:val>
                                        </p:tav>
                                      </p:tavLst>
                                    </p:anim>
                                    <p:anim calcmode="lin" valueType="num">
                                      <p:cBhvr additive="base">
                                        <p:cTn id="47" dur="550" fill="hold"/>
                                        <p:tgtEl>
                                          <p:spTgt spid="12"/>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50"/>
                                        <p:tgtEl>
                                          <p:spTgt spid="13"/>
                                        </p:tgtEl>
                                      </p:cBhvr>
                                    </p:animEffect>
                                    <p:anim calcmode="lin" valueType="num">
                                      <p:cBhvr additive="base">
                                        <p:cTn id="51" dur="550" fill="hold"/>
                                        <p:tgtEl>
                                          <p:spTgt spid="13"/>
                                        </p:tgtEl>
                                        <p:attrNameLst>
                                          <p:attrName>ppt_x</p:attrName>
                                        </p:attrNameLst>
                                      </p:cBhvr>
                                      <p:tavLst>
                                        <p:tav tm="0">
                                          <p:val>
                                            <p:strVal val="#ppt_x"/>
                                          </p:val>
                                        </p:tav>
                                        <p:tav tm="100000">
                                          <p:val>
                                            <p:strVal val="#ppt_x"/>
                                          </p:val>
                                        </p:tav>
                                      </p:tavLst>
                                    </p:anim>
                                    <p:anim calcmode="lin" valueType="num">
                                      <p:cBhvr additive="base">
                                        <p:cTn id="52" dur="550" fill="hold"/>
                                        <p:tgtEl>
                                          <p:spTgt spid="13"/>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50"/>
                                        <p:tgtEl>
                                          <p:spTgt spid="14"/>
                                        </p:tgtEl>
                                      </p:cBhvr>
                                    </p:animEffect>
                                    <p:anim calcmode="lin" valueType="num">
                                      <p:cBhvr additive="base">
                                        <p:cTn id="56" dur="550" fill="hold"/>
                                        <p:tgtEl>
                                          <p:spTgt spid="14"/>
                                        </p:tgtEl>
                                        <p:attrNameLst>
                                          <p:attrName>ppt_x</p:attrName>
                                        </p:attrNameLst>
                                      </p:cBhvr>
                                      <p:tavLst>
                                        <p:tav tm="0">
                                          <p:val>
                                            <p:strVal val="#ppt_x"/>
                                          </p:val>
                                        </p:tav>
                                        <p:tav tm="100000">
                                          <p:val>
                                            <p:strVal val="#ppt_x"/>
                                          </p:val>
                                        </p:tav>
                                      </p:tavLst>
                                    </p:anim>
                                    <p:anim calcmode="lin" valueType="num">
                                      <p:cBhvr additive="base">
                                        <p:cTn id="57" dur="550" fill="hold"/>
                                        <p:tgtEl>
                                          <p:spTgt spid="14"/>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50"/>
                                        <p:tgtEl>
                                          <p:spTgt spid="15"/>
                                        </p:tgtEl>
                                      </p:cBhvr>
                                    </p:animEffect>
                                    <p:anim calcmode="lin" valueType="num">
                                      <p:cBhvr additive="base">
                                        <p:cTn id="61" dur="550" fill="hold"/>
                                        <p:tgtEl>
                                          <p:spTgt spid="15"/>
                                        </p:tgtEl>
                                        <p:attrNameLst>
                                          <p:attrName>ppt_x</p:attrName>
                                        </p:attrNameLst>
                                      </p:cBhvr>
                                      <p:tavLst>
                                        <p:tav tm="0">
                                          <p:val>
                                            <p:strVal val="#ppt_x"/>
                                          </p:val>
                                        </p:tav>
                                        <p:tav tm="100000">
                                          <p:val>
                                            <p:strVal val="#ppt_x"/>
                                          </p:val>
                                        </p:tav>
                                      </p:tavLst>
                                    </p:anim>
                                    <p:anim calcmode="lin" valueType="num">
                                      <p:cBhvr additive="base">
                                        <p:cTn id="62" dur="550" fill="hold"/>
                                        <p:tgtEl>
                                          <p:spTgt spid="15"/>
                                        </p:tgtEl>
                                        <p:attrNameLst>
                                          <p:attrName>ppt_y</p:attrName>
                                        </p:attrNameLst>
                                      </p:cBhvr>
                                      <p:tavLst>
                                        <p:tav tm="0">
                                          <p:val>
                                            <p:strVal val="#ppt_y+.06"/>
                                          </p:val>
                                        </p:tav>
                                        <p:tav tm="100000">
                                          <p:val>
                                            <p:strVal val="#ppt_y"/>
                                          </p:val>
                                        </p:tav>
                                      </p:tavLst>
                                    </p:anim>
                                  </p:childTnLst>
                                </p:cTn>
                              </p:par>
                            </p:childTnLst>
                          </p:cTn>
                        </p:par>
                        <p:par>
                          <p:cTn id="148" fill="hold">
                            <p:stCondLst>
                              <p:cond delay="605"/>
                            </p:stCondLst>
                            <p:childTnLst>
                              <p:par>
                                <p:cTn id="63" presetID="42"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50"/>
                                        <p:tgtEl>
                                          <p:spTgt spid="16"/>
                                        </p:tgtEl>
                                      </p:cBhvr>
                                    </p:animEffect>
                                    <p:anim calcmode="lin" valueType="num">
                                      <p:cBhvr additive="base">
                                        <p:cTn id="66" dur="550" fill="hold"/>
                                        <p:tgtEl>
                                          <p:spTgt spid="16"/>
                                        </p:tgtEl>
                                        <p:attrNameLst>
                                          <p:attrName>ppt_x</p:attrName>
                                        </p:attrNameLst>
                                      </p:cBhvr>
                                      <p:tavLst>
                                        <p:tav tm="0">
                                          <p:val>
                                            <p:strVal val="#ppt_x"/>
                                          </p:val>
                                        </p:tav>
                                        <p:tav tm="100000">
                                          <p:val>
                                            <p:strVal val="#ppt_x"/>
                                          </p:val>
                                        </p:tav>
                                      </p:tavLst>
                                    </p:anim>
                                    <p:anim calcmode="lin" valueType="num">
                                      <p:cBhvr additive="base">
                                        <p:cTn id="67" dur="550" fill="hold"/>
                                        <p:tgtEl>
                                          <p:spTgt spid="16"/>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50"/>
                                        <p:tgtEl>
                                          <p:spTgt spid="17"/>
                                        </p:tgtEl>
                                      </p:cBhvr>
                                    </p:animEffect>
                                    <p:anim calcmode="lin" valueType="num">
                                      <p:cBhvr additive="base">
                                        <p:cTn id="71" dur="550" fill="hold"/>
                                        <p:tgtEl>
                                          <p:spTgt spid="17"/>
                                        </p:tgtEl>
                                        <p:attrNameLst>
                                          <p:attrName>ppt_x</p:attrName>
                                        </p:attrNameLst>
                                      </p:cBhvr>
                                      <p:tavLst>
                                        <p:tav tm="0">
                                          <p:val>
                                            <p:strVal val="#ppt_x"/>
                                          </p:val>
                                        </p:tav>
                                        <p:tav tm="100000">
                                          <p:val>
                                            <p:strVal val="#ppt_x"/>
                                          </p:val>
                                        </p:tav>
                                      </p:tavLst>
                                    </p:anim>
                                    <p:anim calcmode="lin" valueType="num">
                                      <p:cBhvr additive="base">
                                        <p:cTn id="72" dur="550" fill="hold"/>
                                        <p:tgtEl>
                                          <p:spTgt spid="17"/>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50"/>
                                        <p:tgtEl>
                                          <p:spTgt spid="18"/>
                                        </p:tgtEl>
                                      </p:cBhvr>
                                    </p:animEffect>
                                    <p:anim calcmode="lin" valueType="num">
                                      <p:cBhvr additive="base">
                                        <p:cTn id="76" dur="550" fill="hold"/>
                                        <p:tgtEl>
                                          <p:spTgt spid="18"/>
                                        </p:tgtEl>
                                        <p:attrNameLst>
                                          <p:attrName>ppt_x</p:attrName>
                                        </p:attrNameLst>
                                      </p:cBhvr>
                                      <p:tavLst>
                                        <p:tav tm="0">
                                          <p:val>
                                            <p:strVal val="#ppt_x"/>
                                          </p:val>
                                        </p:tav>
                                        <p:tav tm="100000">
                                          <p:val>
                                            <p:strVal val="#ppt_x"/>
                                          </p:val>
                                        </p:tav>
                                      </p:tavLst>
                                    </p:anim>
                                    <p:anim calcmode="lin" valueType="num">
                                      <p:cBhvr additive="base">
                                        <p:cTn id="77" dur="550" fill="hold"/>
                                        <p:tgtEl>
                                          <p:spTgt spid="18"/>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50"/>
                                        <p:tgtEl>
                                          <p:spTgt spid="19"/>
                                        </p:tgtEl>
                                      </p:cBhvr>
                                    </p:animEffect>
                                    <p:anim calcmode="lin" valueType="num">
                                      <p:cBhvr additive="base">
                                        <p:cTn id="81" dur="550" fill="hold"/>
                                        <p:tgtEl>
                                          <p:spTgt spid="19"/>
                                        </p:tgtEl>
                                        <p:attrNameLst>
                                          <p:attrName>ppt_x</p:attrName>
                                        </p:attrNameLst>
                                      </p:cBhvr>
                                      <p:tavLst>
                                        <p:tav tm="0">
                                          <p:val>
                                            <p:strVal val="#ppt_x"/>
                                          </p:val>
                                        </p:tav>
                                        <p:tav tm="100000">
                                          <p:val>
                                            <p:strVal val="#ppt_x"/>
                                          </p:val>
                                        </p:tav>
                                      </p:tavLst>
                                    </p:anim>
                                    <p:anim calcmode="lin" valueType="num">
                                      <p:cBhvr additive="base">
                                        <p:cTn id="82" dur="550" fill="hold"/>
                                        <p:tgtEl>
                                          <p:spTgt spid="19"/>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50"/>
                                        <p:tgtEl>
                                          <p:spTgt spid="20"/>
                                        </p:tgtEl>
                                      </p:cBhvr>
                                    </p:animEffect>
                                    <p:anim calcmode="lin" valueType="num">
                                      <p:cBhvr additive="base">
                                        <p:cTn id="86" dur="550" fill="hold"/>
                                        <p:tgtEl>
                                          <p:spTgt spid="20"/>
                                        </p:tgtEl>
                                        <p:attrNameLst>
                                          <p:attrName>ppt_x</p:attrName>
                                        </p:attrNameLst>
                                      </p:cBhvr>
                                      <p:tavLst>
                                        <p:tav tm="0">
                                          <p:val>
                                            <p:strVal val="#ppt_x"/>
                                          </p:val>
                                        </p:tav>
                                        <p:tav tm="100000">
                                          <p:val>
                                            <p:strVal val="#ppt_x"/>
                                          </p:val>
                                        </p:tav>
                                      </p:tavLst>
                                    </p:anim>
                                    <p:anim calcmode="lin" valueType="num">
                                      <p:cBhvr additive="base">
                                        <p:cTn id="87" dur="550" fill="hold"/>
                                        <p:tgtEl>
                                          <p:spTgt spid="20"/>
                                        </p:tgtEl>
                                        <p:attrNameLst>
                                          <p:attrName>ppt_y</p:attrName>
                                        </p:attrNameLst>
                                      </p:cBhvr>
                                      <p:tavLst>
                                        <p:tav tm="0">
                                          <p:val>
                                            <p:strVal val="#ppt_y+.06"/>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50"/>
                                        <p:tgtEl>
                                          <p:spTgt spid="21"/>
                                        </p:tgtEl>
                                      </p:cBhvr>
                                    </p:animEffect>
                                    <p:anim calcmode="lin" valueType="num">
                                      <p:cBhvr additive="base">
                                        <p:cTn id="91" dur="550" fill="hold"/>
                                        <p:tgtEl>
                                          <p:spTgt spid="21"/>
                                        </p:tgtEl>
                                        <p:attrNameLst>
                                          <p:attrName>ppt_x</p:attrName>
                                        </p:attrNameLst>
                                      </p:cBhvr>
                                      <p:tavLst>
                                        <p:tav tm="0">
                                          <p:val>
                                            <p:strVal val="#ppt_x"/>
                                          </p:val>
                                        </p:tav>
                                        <p:tav tm="100000">
                                          <p:val>
                                            <p:strVal val="#ppt_x"/>
                                          </p:val>
                                        </p:tav>
                                      </p:tavLst>
                                    </p:anim>
                                    <p:anim calcmode="lin" valueType="num">
                                      <p:cBhvr additive="base">
                                        <p:cTn id="92" dur="550" fill="hold"/>
                                        <p:tgtEl>
                                          <p:spTgt spid="21"/>
                                        </p:tgtEl>
                                        <p:attrNameLst>
                                          <p:attrName>ppt_y</p:attrName>
                                        </p:attrNameLst>
                                      </p:cBhvr>
                                      <p:tavLst>
                                        <p:tav tm="0">
                                          <p:val>
                                            <p:strVal val="#ppt_y+.06"/>
                                          </p:val>
                                        </p:tav>
                                        <p:tav tm="100000">
                                          <p:val>
                                            <p:strVal val="#ppt_y"/>
                                          </p:val>
                                        </p:tav>
                                      </p:tavLst>
                                    </p:anim>
                                  </p:childTnLst>
                                </p:cTn>
                              </p:par>
                            </p:childTnLst>
                          </p:cTn>
                        </p:par>
                        <p:par>
                          <p:cTn id="149" fill="hold">
                            <p:stCondLst>
                              <p:cond delay="907"/>
                            </p:stCondLst>
                            <p:childTnLst>
                              <p:par>
                                <p:cTn id="93" presetID="42"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550"/>
                                        <p:tgtEl>
                                          <p:spTgt spid="22"/>
                                        </p:tgtEl>
                                      </p:cBhvr>
                                    </p:animEffect>
                                    <p:anim calcmode="lin" valueType="num">
                                      <p:cBhvr additive="base">
                                        <p:cTn id="96" dur="550" fill="hold"/>
                                        <p:tgtEl>
                                          <p:spTgt spid="22"/>
                                        </p:tgtEl>
                                        <p:attrNameLst>
                                          <p:attrName>ppt_x</p:attrName>
                                        </p:attrNameLst>
                                      </p:cBhvr>
                                      <p:tavLst>
                                        <p:tav tm="0">
                                          <p:val>
                                            <p:strVal val="#ppt_x"/>
                                          </p:val>
                                        </p:tav>
                                        <p:tav tm="100000">
                                          <p:val>
                                            <p:strVal val="#ppt_x"/>
                                          </p:val>
                                        </p:tav>
                                      </p:tavLst>
                                    </p:anim>
                                    <p:anim calcmode="lin" valueType="num">
                                      <p:cBhvr additive="base">
                                        <p:cTn id="97" dur="550" fill="hold"/>
                                        <p:tgtEl>
                                          <p:spTgt spid="22"/>
                                        </p:tgtEl>
                                        <p:attrNameLst>
                                          <p:attrName>ppt_y</p:attrName>
                                        </p:attrNameLst>
                                      </p:cBhvr>
                                      <p:tavLst>
                                        <p:tav tm="0">
                                          <p:val>
                                            <p:strVal val="#ppt_y+.06"/>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50"/>
                                        <p:tgtEl>
                                          <p:spTgt spid="23"/>
                                        </p:tgtEl>
                                      </p:cBhvr>
                                    </p:animEffect>
                                    <p:anim calcmode="lin" valueType="num">
                                      <p:cBhvr additive="base">
                                        <p:cTn id="101" dur="550" fill="hold"/>
                                        <p:tgtEl>
                                          <p:spTgt spid="23"/>
                                        </p:tgtEl>
                                        <p:attrNameLst>
                                          <p:attrName>ppt_x</p:attrName>
                                        </p:attrNameLst>
                                      </p:cBhvr>
                                      <p:tavLst>
                                        <p:tav tm="0">
                                          <p:val>
                                            <p:strVal val="#ppt_x"/>
                                          </p:val>
                                        </p:tav>
                                        <p:tav tm="100000">
                                          <p:val>
                                            <p:strVal val="#ppt_x"/>
                                          </p:val>
                                        </p:tav>
                                      </p:tavLst>
                                    </p:anim>
                                    <p:anim calcmode="lin" valueType="num">
                                      <p:cBhvr additive="base">
                                        <p:cTn id="102" dur="550" fill="hold"/>
                                        <p:tgtEl>
                                          <p:spTgt spid="23"/>
                                        </p:tgtEl>
                                        <p:attrNameLst>
                                          <p:attrName>ppt_y</p:attrName>
                                        </p:attrNameLst>
                                      </p:cBhvr>
                                      <p:tavLst>
                                        <p:tav tm="0">
                                          <p:val>
                                            <p:strVal val="#ppt_y+.06"/>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550"/>
                                        <p:tgtEl>
                                          <p:spTgt spid="24"/>
                                        </p:tgtEl>
                                      </p:cBhvr>
                                    </p:animEffect>
                                    <p:anim calcmode="lin" valueType="num">
                                      <p:cBhvr additive="base">
                                        <p:cTn id="106" dur="550" fill="hold"/>
                                        <p:tgtEl>
                                          <p:spTgt spid="24"/>
                                        </p:tgtEl>
                                        <p:attrNameLst>
                                          <p:attrName>ppt_x</p:attrName>
                                        </p:attrNameLst>
                                      </p:cBhvr>
                                      <p:tavLst>
                                        <p:tav tm="0">
                                          <p:val>
                                            <p:strVal val="#ppt_x"/>
                                          </p:val>
                                        </p:tav>
                                        <p:tav tm="100000">
                                          <p:val>
                                            <p:strVal val="#ppt_x"/>
                                          </p:val>
                                        </p:tav>
                                      </p:tavLst>
                                    </p:anim>
                                    <p:anim calcmode="lin" valueType="num">
                                      <p:cBhvr additive="base">
                                        <p:cTn id="107" dur="550" fill="hold"/>
                                        <p:tgtEl>
                                          <p:spTgt spid="24"/>
                                        </p:tgtEl>
                                        <p:attrNameLst>
                                          <p:attrName>ppt_y</p:attrName>
                                        </p:attrNameLst>
                                      </p:cBhvr>
                                      <p:tavLst>
                                        <p:tav tm="0">
                                          <p:val>
                                            <p:strVal val="#ppt_y+.06"/>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550"/>
                                        <p:tgtEl>
                                          <p:spTgt spid="25"/>
                                        </p:tgtEl>
                                      </p:cBhvr>
                                    </p:animEffect>
                                    <p:anim calcmode="lin" valueType="num">
                                      <p:cBhvr additive="base">
                                        <p:cTn id="111" dur="550" fill="hold"/>
                                        <p:tgtEl>
                                          <p:spTgt spid="25"/>
                                        </p:tgtEl>
                                        <p:attrNameLst>
                                          <p:attrName>ppt_x</p:attrName>
                                        </p:attrNameLst>
                                      </p:cBhvr>
                                      <p:tavLst>
                                        <p:tav tm="0">
                                          <p:val>
                                            <p:strVal val="#ppt_x"/>
                                          </p:val>
                                        </p:tav>
                                        <p:tav tm="100000">
                                          <p:val>
                                            <p:strVal val="#ppt_x"/>
                                          </p:val>
                                        </p:tav>
                                      </p:tavLst>
                                    </p:anim>
                                    <p:anim calcmode="lin" valueType="num">
                                      <p:cBhvr additive="base">
                                        <p:cTn id="112" dur="550" fill="hold"/>
                                        <p:tgtEl>
                                          <p:spTgt spid="25"/>
                                        </p:tgtEl>
                                        <p:attrNameLst>
                                          <p:attrName>ppt_y</p:attrName>
                                        </p:attrNameLst>
                                      </p:cBhvr>
                                      <p:tavLst>
                                        <p:tav tm="0">
                                          <p:val>
                                            <p:strVal val="#ppt_y+.06"/>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550"/>
                                        <p:tgtEl>
                                          <p:spTgt spid="26"/>
                                        </p:tgtEl>
                                      </p:cBhvr>
                                    </p:animEffect>
                                    <p:anim calcmode="lin" valueType="num">
                                      <p:cBhvr additive="base">
                                        <p:cTn id="116" dur="550" fill="hold"/>
                                        <p:tgtEl>
                                          <p:spTgt spid="26"/>
                                        </p:tgtEl>
                                        <p:attrNameLst>
                                          <p:attrName>ppt_x</p:attrName>
                                        </p:attrNameLst>
                                      </p:cBhvr>
                                      <p:tavLst>
                                        <p:tav tm="0">
                                          <p:val>
                                            <p:strVal val="#ppt_x"/>
                                          </p:val>
                                        </p:tav>
                                        <p:tav tm="100000">
                                          <p:val>
                                            <p:strVal val="#ppt_x"/>
                                          </p:val>
                                        </p:tav>
                                      </p:tavLst>
                                    </p:anim>
                                    <p:anim calcmode="lin" valueType="num">
                                      <p:cBhvr additive="base">
                                        <p:cTn id="117" dur="550" fill="hold"/>
                                        <p:tgtEl>
                                          <p:spTgt spid="26"/>
                                        </p:tgtEl>
                                        <p:attrNameLst>
                                          <p:attrName>ppt_y</p:attrName>
                                        </p:attrNameLst>
                                      </p:cBhvr>
                                      <p:tavLst>
                                        <p:tav tm="0">
                                          <p:val>
                                            <p:strVal val="#ppt_y+.06"/>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550"/>
                                        <p:tgtEl>
                                          <p:spTgt spid="27"/>
                                        </p:tgtEl>
                                      </p:cBhvr>
                                    </p:animEffect>
                                    <p:anim calcmode="lin" valueType="num">
                                      <p:cBhvr additive="base">
                                        <p:cTn id="121" dur="550" fill="hold"/>
                                        <p:tgtEl>
                                          <p:spTgt spid="27"/>
                                        </p:tgtEl>
                                        <p:attrNameLst>
                                          <p:attrName>ppt_x</p:attrName>
                                        </p:attrNameLst>
                                      </p:cBhvr>
                                      <p:tavLst>
                                        <p:tav tm="0">
                                          <p:val>
                                            <p:strVal val="#ppt_x"/>
                                          </p:val>
                                        </p:tav>
                                        <p:tav tm="100000">
                                          <p:val>
                                            <p:strVal val="#ppt_x"/>
                                          </p:val>
                                        </p:tav>
                                      </p:tavLst>
                                    </p:anim>
                                    <p:anim calcmode="lin" valueType="num">
                                      <p:cBhvr additive="base">
                                        <p:cTn id="122" dur="550" fill="hold"/>
                                        <p:tgtEl>
                                          <p:spTgt spid="27"/>
                                        </p:tgtEl>
                                        <p:attrNameLst>
                                          <p:attrName>ppt_y</p:attrName>
                                        </p:attrNameLst>
                                      </p:cBhvr>
                                      <p:tavLst>
                                        <p:tav tm="0">
                                          <p:val>
                                            <p:strVal val="#ppt_y+.06"/>
                                          </p:val>
                                        </p:tav>
                                        <p:tav tm="100000">
                                          <p:val>
                                            <p:strVal val="#ppt_y"/>
                                          </p:val>
                                        </p:tav>
                                      </p:tavLst>
                                    </p:anim>
                                  </p:childTnLst>
                                </p:cTn>
                              </p:par>
                            </p:childTnLst>
                          </p:cTn>
                        </p:par>
                        <p:par>
                          <p:cTn id="150" fill="hold">
                            <p:stCondLst>
                              <p:cond delay="1210"/>
                            </p:stCondLst>
                            <p:childTnLst>
                              <p:par>
                                <p:cTn id="123" presetID="42" presetClass="entr" presetSubtype="0" fill="hold" grpId="0" nodeType="with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550"/>
                                        <p:tgtEl>
                                          <p:spTgt spid="28"/>
                                        </p:tgtEl>
                                      </p:cBhvr>
                                    </p:animEffect>
                                    <p:anim calcmode="lin" valueType="num">
                                      <p:cBhvr additive="base">
                                        <p:cTn id="126" dur="550" fill="hold"/>
                                        <p:tgtEl>
                                          <p:spTgt spid="28"/>
                                        </p:tgtEl>
                                        <p:attrNameLst>
                                          <p:attrName>ppt_x</p:attrName>
                                        </p:attrNameLst>
                                      </p:cBhvr>
                                      <p:tavLst>
                                        <p:tav tm="0">
                                          <p:val>
                                            <p:strVal val="#ppt_x"/>
                                          </p:val>
                                        </p:tav>
                                        <p:tav tm="100000">
                                          <p:val>
                                            <p:strVal val="#ppt_x"/>
                                          </p:val>
                                        </p:tav>
                                      </p:tavLst>
                                    </p:anim>
                                    <p:anim calcmode="lin" valueType="num">
                                      <p:cBhvr additive="base">
                                        <p:cTn id="127" dur="550" fill="hold"/>
                                        <p:tgtEl>
                                          <p:spTgt spid="28"/>
                                        </p:tgtEl>
                                        <p:attrNameLst>
                                          <p:attrName>ppt_y</p:attrName>
                                        </p:attrNameLst>
                                      </p:cBhvr>
                                      <p:tavLst>
                                        <p:tav tm="0">
                                          <p:val>
                                            <p:strVal val="#ppt_y+.06"/>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50"/>
                                        <p:tgtEl>
                                          <p:spTgt spid="29"/>
                                        </p:tgtEl>
                                      </p:cBhvr>
                                    </p:animEffect>
                                    <p:anim calcmode="lin" valueType="num">
                                      <p:cBhvr additive="base">
                                        <p:cTn id="131" dur="550" fill="hold"/>
                                        <p:tgtEl>
                                          <p:spTgt spid="29"/>
                                        </p:tgtEl>
                                        <p:attrNameLst>
                                          <p:attrName>ppt_x</p:attrName>
                                        </p:attrNameLst>
                                      </p:cBhvr>
                                      <p:tavLst>
                                        <p:tav tm="0">
                                          <p:val>
                                            <p:strVal val="#ppt_x"/>
                                          </p:val>
                                        </p:tav>
                                        <p:tav tm="100000">
                                          <p:val>
                                            <p:strVal val="#ppt_x"/>
                                          </p:val>
                                        </p:tav>
                                      </p:tavLst>
                                    </p:anim>
                                    <p:anim calcmode="lin" valueType="num">
                                      <p:cBhvr additive="base">
                                        <p:cTn id="132" dur="550" fill="hold"/>
                                        <p:tgtEl>
                                          <p:spTgt spid="29"/>
                                        </p:tgtEl>
                                        <p:attrNameLst>
                                          <p:attrName>ppt_y</p:attrName>
                                        </p:attrNameLst>
                                      </p:cBhvr>
                                      <p:tavLst>
                                        <p:tav tm="0">
                                          <p:val>
                                            <p:strVal val="#ppt_y+.06"/>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30"/>
                                        </p:tgtEl>
                                        <p:attrNameLst>
                                          <p:attrName>style.visibility</p:attrName>
                                        </p:attrNameLst>
                                      </p:cBhvr>
                                      <p:to>
                                        <p:strVal val="visible"/>
                                      </p:to>
                                    </p:set>
                                    <p:animEffect transition="in" filter="fade">
                                      <p:cBhvr>
                                        <p:cTn id="135" dur="550"/>
                                        <p:tgtEl>
                                          <p:spTgt spid="30"/>
                                        </p:tgtEl>
                                      </p:cBhvr>
                                    </p:animEffect>
                                    <p:anim calcmode="lin" valueType="num">
                                      <p:cBhvr additive="base">
                                        <p:cTn id="136" dur="550" fill="hold"/>
                                        <p:tgtEl>
                                          <p:spTgt spid="30"/>
                                        </p:tgtEl>
                                        <p:attrNameLst>
                                          <p:attrName>ppt_x</p:attrName>
                                        </p:attrNameLst>
                                      </p:cBhvr>
                                      <p:tavLst>
                                        <p:tav tm="0">
                                          <p:val>
                                            <p:strVal val="#ppt_x"/>
                                          </p:val>
                                        </p:tav>
                                        <p:tav tm="100000">
                                          <p:val>
                                            <p:strVal val="#ppt_x"/>
                                          </p:val>
                                        </p:tav>
                                      </p:tavLst>
                                    </p:anim>
                                    <p:anim calcmode="lin" valueType="num">
                                      <p:cBhvr additive="base">
                                        <p:cTn id="137" dur="550" fill="hold"/>
                                        <p:tgtEl>
                                          <p:spTgt spid="30"/>
                                        </p:tgtEl>
                                        <p:attrNameLst>
                                          <p:attrName>ppt_y</p:attrName>
                                        </p:attrNameLst>
                                      </p:cBhvr>
                                      <p:tavLst>
                                        <p:tav tm="0">
                                          <p:val>
                                            <p:strVal val="#ppt_y+.06"/>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31"/>
                                        </p:tgtEl>
                                        <p:attrNameLst>
                                          <p:attrName>style.visibility</p:attrName>
                                        </p:attrNameLst>
                                      </p:cBhvr>
                                      <p:to>
                                        <p:strVal val="visible"/>
                                      </p:to>
                                    </p:set>
                                    <p:animEffect transition="in" filter="fade">
                                      <p:cBhvr>
                                        <p:cTn id="140" dur="550"/>
                                        <p:tgtEl>
                                          <p:spTgt spid="31"/>
                                        </p:tgtEl>
                                      </p:cBhvr>
                                    </p:animEffect>
                                    <p:anim calcmode="lin" valueType="num">
                                      <p:cBhvr additive="base">
                                        <p:cTn id="141" dur="550" fill="hold"/>
                                        <p:tgtEl>
                                          <p:spTgt spid="31"/>
                                        </p:tgtEl>
                                        <p:attrNameLst>
                                          <p:attrName>ppt_x</p:attrName>
                                        </p:attrNameLst>
                                      </p:cBhvr>
                                      <p:tavLst>
                                        <p:tav tm="0">
                                          <p:val>
                                            <p:strVal val="#ppt_x"/>
                                          </p:val>
                                        </p:tav>
                                        <p:tav tm="100000">
                                          <p:val>
                                            <p:strVal val="#ppt_x"/>
                                          </p:val>
                                        </p:tav>
                                      </p:tavLst>
                                    </p:anim>
                                    <p:anim calcmode="lin" valueType="num">
                                      <p:cBhvr additive="base">
                                        <p:cTn id="142" dur="550" fill="hold"/>
                                        <p:tgtEl>
                                          <p:spTgt spid="31"/>
                                        </p:tgtEl>
                                        <p:attrNameLst>
                                          <p:attrName>ppt_y</p:attrName>
                                        </p:attrNameLst>
                                      </p:cBhvr>
                                      <p:tavLst>
                                        <p:tav tm="0">
                                          <p:val>
                                            <p:strVal val="#ppt_y+.06"/>
                                          </p:val>
                                        </p:tav>
                                        <p:tav tm="100000">
                                          <p:val>
                                            <p:strVal val="#ppt_y"/>
                                          </p:val>
                                        </p:tav>
                                      </p:tavLst>
                                    </p:anim>
                                  </p:childTnLst>
                                </p:cTn>
                              </p:par>
                            </p:childTnLst>
                          </p:cTn>
                        </p:par>
                        <p:par>
                          <p:cTn id="151" fill="hold">
                            <p:stCondLst>
                              <p:cond delay="1512"/>
                            </p:stCondLst>
                            <p:childTnLst>
                              <p:par>
                                <p:cTn id="143" presetID="10" presetClass="entr" presetSubtype="0" fill="hold" grpId="0" nodeType="withEffect">
                                  <p:stCondLst>
                                    <p:cond delay="0"/>
                                  </p:stCondLst>
                                  <p:childTnLst>
                                    <p:set>
                                      <p:cBhvr>
                                        <p:cTn id="144" dur="1" fill="hold">
                                          <p:stCondLst>
                                            <p:cond delay="0"/>
                                          </p:stCondLst>
                                        </p:cTn>
                                        <p:tgtEl>
                                          <p:spTgt spid="32"/>
                                        </p:tgtEl>
                                        <p:attrNameLst>
                                          <p:attrName>style.visibility</p:attrName>
                                        </p:attrNameLst>
                                      </p:cBhvr>
                                      <p:to>
                                        <p:strVal val="visible"/>
                                      </p:to>
                                    </p:set>
                                    <p:animEffect transition="in" filter="fade">
                                      <p:cBhvr>
                                        <p:cTn id="145"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FINDING 4 · CAUSES</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Capture quality decides the outcome</a:t>
            </a:r>
            <a:endParaRPr lang="en-US" sz="3400" dirty="0"/>
          </a:p>
        </p:txBody>
      </p:sp>
      <p:sp>
        <p:nvSpPr>
          <p:cNvPr id="4" name="a01_fade_qCard"/>
          <p:cNvSpPr/>
          <p:nvPr/>
        </p:nvSpPr>
        <p:spPr>
          <a:xfrm>
            <a:off x="548640" y="1645920"/>
            <a:ext cx="6309360" cy="4434840"/>
          </a:xfrm>
          <a:prstGeom prst="roundRect">
            <a:avLst>
              <a:gd name="adj" fmla="val 2474"/>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5" name="a01_fade_qTitle"/>
          <p:cNvSpPr txBox="1"/>
          <p:nvPr/>
        </p:nvSpPr>
        <p:spPr>
          <a:xfrm>
            <a:off x="822960" y="1828800"/>
            <a:ext cx="5852160" cy="365760"/>
          </a:xfrm>
          <a:prstGeom prst="rect">
            <a:avLst/>
          </a:prstGeom>
          <a:noFill/>
          <a:ln/>
        </p:spPr>
        <p:txBody>
          <a:bodyPr wrap="square" lIns="0" tIns="0" rIns="0" bIns="0" rtlCol="0" anchor="t"/>
          <a:lstStyle/>
          <a:p>
            <a:pPr indent="0" marL="0">
              <a:buNone/>
            </a:pPr>
            <a:r>
              <a:rPr lang="en-US" sz="1500" b="1" dirty="0">
                <a:solidFill>
                  <a:schemeClr val="accent1"/>
                </a:solidFill>
              </a:rPr>
              <a:t>Failure rate of genuine attempts, by capture quality</a:t>
            </a:r>
            <a:endParaRPr lang="en-US" sz="1500" dirty="0"/>
          </a:p>
        </p:txBody>
      </p:sp>
      <p:graphicFrame>
        <p:nvGraphicFramePr>
          <p:cNvPr id="6" name="a02_wipe_qChart" descr=""/>
          <p:cNvGraphicFramePr/>
          <p:nvPr/>
        </p:nvGraphicFramePr>
        <p:xfrm>
          <a:off x="731520" y="2240280"/>
          <a:ext cx="5943600" cy="3703320"/>
        </p:xfrm>
        <a:graphic xmlns:a="http://schemas.openxmlformats.org/drawingml/2006/main">
          <a:graphicData uri="http://schemas.openxmlformats.org/drawingml/2006/chart">
            <c:chart xmlns:c="http://schemas.openxmlformats.org/drawingml/2006/chart" r:id="rId1"/>
          </a:graphicData>
        </a:graphic>
      </p:graphicFrame>
      <p:sp>
        <p:nvSpPr>
          <p:cNvPr id="7" name="a03_fade_dCard"/>
          <p:cNvSpPr/>
          <p:nvPr/>
        </p:nvSpPr>
        <p:spPr>
          <a:xfrm>
            <a:off x="7132320" y="1645920"/>
            <a:ext cx="4480560" cy="4434840"/>
          </a:xfrm>
          <a:prstGeom prst="roundRect">
            <a:avLst>
              <a:gd name="adj" fmla="val 2474"/>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graphicFrame>
        <p:nvGraphicFramePr>
          <p:cNvPr id="8" name="a04_zoom_donut" descr=""/>
          <p:cNvGraphicFramePr/>
          <p:nvPr/>
        </p:nvGraphicFramePr>
        <p:xfrm>
          <a:off x="7360920" y="1783080"/>
          <a:ext cx="1920240" cy="1920240"/>
        </p:xfrm>
        <a:graphic xmlns:a="http://schemas.openxmlformats.org/drawingml/2006/main">
          <a:graphicData uri="http://schemas.openxmlformats.org/drawingml/2006/chart">
            <c:chart xmlns:c="http://schemas.openxmlformats.org/drawingml/2006/chart" r:id="rId2"/>
          </a:graphicData>
        </a:graphic>
      </p:graphicFrame>
      <p:sp>
        <p:nvSpPr>
          <p:cNvPr id="9" name="a04_zoom_donutText"/>
          <p:cNvSpPr txBox="1"/>
          <p:nvPr/>
        </p:nvSpPr>
        <p:spPr>
          <a:xfrm>
            <a:off x="9418320" y="1965960"/>
            <a:ext cx="2011680" cy="16459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78%</a:t>
            </a:r>
            <a:endParaRPr lang="en-US" sz="4000" dirty="0"/>
          </a:p>
          <a:p>
            <a:pPr indent="0" marL="0">
              <a:buNone/>
            </a:pPr>
            <a:r>
              <a:rPr lang="en-US" sz="1400" dirty="0">
                <a:solidFill>
                  <a:schemeClr val="tx1"/>
                </a:solidFill>
              </a:rPr>
              <a:t>of failures are biometric, not network or device</a:t>
            </a:r>
            <a:endParaRPr lang="en-US" sz="4000" dirty="0"/>
          </a:p>
        </p:txBody>
      </p:sp>
      <p:sp>
        <p:nvSpPr>
          <p:cNvPr id="10" name="a05_fade_rDot0"/>
          <p:cNvSpPr/>
          <p:nvPr/>
        </p:nvSpPr>
        <p:spPr>
          <a:xfrm>
            <a:off x="7406640" y="4096512"/>
            <a:ext cx="182880" cy="182880"/>
          </a:xfrm>
          <a:prstGeom prst="ellipse">
            <a:avLst/>
          </a:prstGeom>
          <a:solidFill>
            <a:schemeClr val="accent3"/>
          </a:solidFill>
          <a:ln/>
        </p:spPr>
      </p:sp>
      <p:sp>
        <p:nvSpPr>
          <p:cNvPr id="11" name="a05_fade_r0"/>
          <p:cNvSpPr txBox="1"/>
          <p:nvPr/>
        </p:nvSpPr>
        <p:spPr>
          <a:xfrm>
            <a:off x="7726680" y="3977640"/>
            <a:ext cx="2651760" cy="420624"/>
          </a:xfrm>
          <a:prstGeom prst="rect">
            <a:avLst/>
          </a:prstGeom>
          <a:noFill/>
          <a:ln/>
        </p:spPr>
        <p:txBody>
          <a:bodyPr wrap="square" lIns="0" tIns="0" rIns="0" bIns="0" rtlCol="0" anchor="ctr"/>
          <a:lstStyle/>
          <a:p>
            <a:pPr indent="0" marL="0">
              <a:buNone/>
            </a:pPr>
            <a:r>
              <a:rPr lang="en-US" sz="1500" dirty="0">
                <a:solidFill>
                  <a:schemeClr val="tx1"/>
                </a:solidFill>
              </a:rPr>
              <a:t>Biometric mismatch</a:t>
            </a:r>
            <a:endParaRPr lang="en-US" sz="1500" dirty="0"/>
          </a:p>
        </p:txBody>
      </p:sp>
      <p:sp>
        <p:nvSpPr>
          <p:cNvPr id="12" name="a05_fade_rN0"/>
          <p:cNvSpPr txBox="1"/>
          <p:nvPr/>
        </p:nvSpPr>
        <p:spPr>
          <a:xfrm>
            <a:off x="10332720" y="3977640"/>
            <a:ext cx="1005840" cy="420624"/>
          </a:xfrm>
          <a:prstGeom prst="rect">
            <a:avLst/>
          </a:prstGeom>
          <a:noFill/>
          <a:ln/>
        </p:spPr>
        <p:txBody>
          <a:bodyPr wrap="square" lIns="0" tIns="0" rIns="0" bIns="0" rtlCol="0" anchor="ctr"/>
          <a:lstStyle/>
          <a:p>
            <a:pPr algn="r" indent="0" marL="0">
              <a:buNone/>
            </a:pPr>
            <a:r>
              <a:rPr lang="en-US" sz="1500" b="1" dirty="0">
                <a:solidFill>
                  <a:schemeClr val="accent1"/>
                </a:solidFill>
              </a:rPr>
              <a:t>899</a:t>
            </a:r>
            <a:endParaRPr lang="en-US" sz="1500" dirty="0"/>
          </a:p>
        </p:txBody>
      </p:sp>
      <p:sp>
        <p:nvSpPr>
          <p:cNvPr id="13" name="a05_fade_rDot1"/>
          <p:cNvSpPr/>
          <p:nvPr/>
        </p:nvSpPr>
        <p:spPr>
          <a:xfrm>
            <a:off x="7406640" y="4572000"/>
            <a:ext cx="182880" cy="182880"/>
          </a:xfrm>
          <a:prstGeom prst="ellipse">
            <a:avLst/>
          </a:prstGeom>
          <a:solidFill>
            <a:schemeClr val="accent3"/>
          </a:solidFill>
          <a:ln/>
        </p:spPr>
      </p:sp>
      <p:sp>
        <p:nvSpPr>
          <p:cNvPr id="14" name="a05_fade_r1"/>
          <p:cNvSpPr txBox="1"/>
          <p:nvPr/>
        </p:nvSpPr>
        <p:spPr>
          <a:xfrm>
            <a:off x="7726680" y="4453128"/>
            <a:ext cx="2651760" cy="420624"/>
          </a:xfrm>
          <a:prstGeom prst="rect">
            <a:avLst/>
          </a:prstGeom>
          <a:noFill/>
          <a:ln/>
        </p:spPr>
        <p:txBody>
          <a:bodyPr wrap="square" lIns="0" tIns="0" rIns="0" bIns="0" rtlCol="0" anchor="ctr"/>
          <a:lstStyle/>
          <a:p>
            <a:pPr indent="0" marL="0">
              <a:buNone/>
            </a:pPr>
            <a:r>
              <a:rPr lang="en-US" sz="1500" dirty="0">
                <a:solidFill>
                  <a:schemeClr val="tx1"/>
                </a:solidFill>
              </a:rPr>
              <a:t>Poor quality capture</a:t>
            </a:r>
            <a:endParaRPr lang="en-US" sz="1500" dirty="0"/>
          </a:p>
        </p:txBody>
      </p:sp>
      <p:sp>
        <p:nvSpPr>
          <p:cNvPr id="15" name="a05_fade_rN1"/>
          <p:cNvSpPr txBox="1"/>
          <p:nvPr/>
        </p:nvSpPr>
        <p:spPr>
          <a:xfrm>
            <a:off x="10332720" y="4453128"/>
            <a:ext cx="1005840" cy="420624"/>
          </a:xfrm>
          <a:prstGeom prst="rect">
            <a:avLst/>
          </a:prstGeom>
          <a:noFill/>
          <a:ln/>
        </p:spPr>
        <p:txBody>
          <a:bodyPr wrap="square" lIns="0" tIns="0" rIns="0" bIns="0" rtlCol="0" anchor="ctr"/>
          <a:lstStyle/>
          <a:p>
            <a:pPr algn="r" indent="0" marL="0">
              <a:buNone/>
            </a:pPr>
            <a:r>
              <a:rPr lang="en-US" sz="1500" b="1" dirty="0">
                <a:solidFill>
                  <a:schemeClr val="accent1"/>
                </a:solidFill>
              </a:rPr>
              <a:t>793</a:t>
            </a:r>
            <a:endParaRPr lang="en-US" sz="1500" dirty="0"/>
          </a:p>
        </p:txBody>
      </p:sp>
      <p:sp>
        <p:nvSpPr>
          <p:cNvPr id="16" name="a05_fade_rDot2"/>
          <p:cNvSpPr/>
          <p:nvPr/>
        </p:nvSpPr>
        <p:spPr>
          <a:xfrm>
            <a:off x="7406640" y="5047488"/>
            <a:ext cx="182880" cy="182880"/>
          </a:xfrm>
          <a:prstGeom prst="ellipse">
            <a:avLst/>
          </a:prstGeom>
          <a:solidFill>
            <a:schemeClr val="accent1"/>
          </a:solidFill>
          <a:ln/>
        </p:spPr>
      </p:sp>
      <p:sp>
        <p:nvSpPr>
          <p:cNvPr id="17" name="a05_fade_r2"/>
          <p:cNvSpPr txBox="1"/>
          <p:nvPr/>
        </p:nvSpPr>
        <p:spPr>
          <a:xfrm>
            <a:off x="7726680" y="4928616"/>
            <a:ext cx="2651760" cy="420624"/>
          </a:xfrm>
          <a:prstGeom prst="rect">
            <a:avLst/>
          </a:prstGeom>
          <a:noFill/>
          <a:ln/>
        </p:spPr>
        <p:txBody>
          <a:bodyPr wrap="square" lIns="0" tIns="0" rIns="0" bIns="0" rtlCol="0" anchor="ctr"/>
          <a:lstStyle/>
          <a:p>
            <a:pPr indent="0" marL="0">
              <a:buNone/>
            </a:pPr>
            <a:r>
              <a:rPr lang="en-US" sz="1500" dirty="0">
                <a:solidFill>
                  <a:schemeClr val="tx1"/>
                </a:solidFill>
              </a:rPr>
              <a:t>Network timeout</a:t>
            </a:r>
            <a:endParaRPr lang="en-US" sz="1500" dirty="0"/>
          </a:p>
        </p:txBody>
      </p:sp>
      <p:sp>
        <p:nvSpPr>
          <p:cNvPr id="18" name="a05_fade_rN2"/>
          <p:cNvSpPr txBox="1"/>
          <p:nvPr/>
        </p:nvSpPr>
        <p:spPr>
          <a:xfrm>
            <a:off x="10332720" y="4928616"/>
            <a:ext cx="1005840" cy="420624"/>
          </a:xfrm>
          <a:prstGeom prst="rect">
            <a:avLst/>
          </a:prstGeom>
          <a:noFill/>
          <a:ln/>
        </p:spPr>
        <p:txBody>
          <a:bodyPr wrap="square" lIns="0" tIns="0" rIns="0" bIns="0" rtlCol="0" anchor="ctr"/>
          <a:lstStyle/>
          <a:p>
            <a:pPr algn="r" indent="0" marL="0">
              <a:buNone/>
            </a:pPr>
            <a:r>
              <a:rPr lang="en-US" sz="1500" b="1" dirty="0">
                <a:solidFill>
                  <a:schemeClr val="accent1"/>
                </a:solidFill>
              </a:rPr>
              <a:t>324</a:t>
            </a:r>
            <a:endParaRPr lang="en-US" sz="1500" dirty="0"/>
          </a:p>
        </p:txBody>
      </p:sp>
      <p:sp>
        <p:nvSpPr>
          <p:cNvPr id="19" name="a05_fade_rDot3"/>
          <p:cNvSpPr/>
          <p:nvPr/>
        </p:nvSpPr>
        <p:spPr>
          <a:xfrm>
            <a:off x="7406640" y="5522976"/>
            <a:ext cx="182880" cy="182880"/>
          </a:xfrm>
          <a:prstGeom prst="ellipse">
            <a:avLst/>
          </a:prstGeom>
          <a:solidFill>
            <a:schemeClr val="accent1"/>
          </a:solidFill>
          <a:ln/>
        </p:spPr>
      </p:sp>
      <p:sp>
        <p:nvSpPr>
          <p:cNvPr id="20" name="a05_fade_r3"/>
          <p:cNvSpPr txBox="1"/>
          <p:nvPr/>
        </p:nvSpPr>
        <p:spPr>
          <a:xfrm>
            <a:off x="7726680" y="5404104"/>
            <a:ext cx="2651760" cy="420624"/>
          </a:xfrm>
          <a:prstGeom prst="rect">
            <a:avLst/>
          </a:prstGeom>
          <a:noFill/>
          <a:ln/>
        </p:spPr>
        <p:txBody>
          <a:bodyPr wrap="square" lIns="0" tIns="0" rIns="0" bIns="0" rtlCol="0" anchor="ctr"/>
          <a:lstStyle/>
          <a:p>
            <a:pPr indent="0" marL="0">
              <a:buNone/>
            </a:pPr>
            <a:r>
              <a:rPr lang="en-US" sz="1500" dirty="0">
                <a:solidFill>
                  <a:schemeClr val="tx1"/>
                </a:solidFill>
              </a:rPr>
              <a:t>Device error</a:t>
            </a:r>
            <a:endParaRPr lang="en-US" sz="1500" dirty="0"/>
          </a:p>
        </p:txBody>
      </p:sp>
      <p:sp>
        <p:nvSpPr>
          <p:cNvPr id="21" name="a05_fade_rN3"/>
          <p:cNvSpPr txBox="1"/>
          <p:nvPr/>
        </p:nvSpPr>
        <p:spPr>
          <a:xfrm>
            <a:off x="10332720" y="5404104"/>
            <a:ext cx="1005840" cy="420624"/>
          </a:xfrm>
          <a:prstGeom prst="rect">
            <a:avLst/>
          </a:prstGeom>
          <a:noFill/>
          <a:ln/>
        </p:spPr>
        <p:txBody>
          <a:bodyPr wrap="square" lIns="0" tIns="0" rIns="0" bIns="0" rtlCol="0" anchor="ctr"/>
          <a:lstStyle/>
          <a:p>
            <a:pPr algn="r" indent="0" marL="0">
              <a:buNone/>
            </a:pPr>
            <a:r>
              <a:rPr lang="en-US" sz="1500" b="1" dirty="0">
                <a:solidFill>
                  <a:schemeClr val="accent1"/>
                </a:solidFill>
              </a:rPr>
              <a:t>151</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6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childTnLst>
                          </p:cTn>
                        </p:par>
                        <p:par>
                          <p:cTn id="62" fill="hold">
                            <p:stCondLst>
                              <p:cond delay="247"/>
                            </p:stCondLst>
                            <p:childTnLst>
                              <p:par>
                                <p:cTn id="9" presetID="2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700"/>
                                        <p:tgtEl>
                                          <p:spTgt spid="6"/>
                                        </p:tgtEl>
                                      </p:cBhvr>
                                    </p:animEffect>
                                  </p:childTnLst>
                                </p:cTn>
                              </p:par>
                            </p:childTnLst>
                          </p:cTn>
                        </p:par>
                        <p:par>
                          <p:cTn id="63" fill="hold">
                            <p:stCondLst>
                              <p:cond delay="632"/>
                            </p:stCondLst>
                            <p:childTnLst>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childTnLst>
                          </p:cTn>
                        </p:par>
                        <p:par>
                          <p:cTn id="64" fill="hold">
                            <p:stCondLst>
                              <p:cond delay="880"/>
                            </p:stCondLst>
                            <p:childTnLst>
                              <p:par>
                                <p:cTn id="15" presetID="53" presetClass="entr" presetSubtype="16"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anim calcmode="lin" valueType="num">
                                      <p:cBhvr additive="base">
                                        <p:cTn id="18" dur="450" fill="hold"/>
                                        <p:tgtEl>
                                          <p:spTgt spid="8"/>
                                        </p:tgtEl>
                                        <p:attrNameLst>
                                          <p:attrName>ppt_w</p:attrName>
                                        </p:attrNameLst>
                                      </p:cBhvr>
                                      <p:tavLst>
                                        <p:tav tm="0">
                                          <p:val>
                                            <p:strVal val="#ppt_w*0.6"/>
                                          </p:val>
                                        </p:tav>
                                        <p:tav tm="100000">
                                          <p:val>
                                            <p:strVal val="#ppt_w"/>
                                          </p:val>
                                        </p:tav>
                                      </p:tavLst>
                                    </p:anim>
                                    <p:anim calcmode="lin" valueType="num">
                                      <p:cBhvr additive="base">
                                        <p:cTn id="19" dur="450" fill="hold"/>
                                        <p:tgtEl>
                                          <p:spTgt spid="8"/>
                                        </p:tgtEl>
                                        <p:attrNameLst>
                                          <p:attrName>ppt_h</p:attrName>
                                        </p:attrNameLst>
                                      </p:cBhvr>
                                      <p:tavLst>
                                        <p:tav tm="0">
                                          <p:val>
                                            <p:strVal val="#ppt_h*0.6"/>
                                          </p:val>
                                        </p:tav>
                                        <p:tav tm="100000">
                                          <p:val>
                                            <p:strVal val="#ppt_h"/>
                                          </p:val>
                                        </p:tav>
                                      </p:tavLst>
                                    </p:anim>
                                  </p:childTnLst>
                                </p:cTn>
                              </p:par>
                              <p:par>
                                <p:cTn id="20" presetID="53" presetClass="entr" presetSubtype="16"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anim calcmode="lin" valueType="num">
                                      <p:cBhvr additive="base">
                                        <p:cTn id="23" dur="450" fill="hold"/>
                                        <p:tgtEl>
                                          <p:spTgt spid="9"/>
                                        </p:tgtEl>
                                        <p:attrNameLst>
                                          <p:attrName>ppt_w</p:attrName>
                                        </p:attrNameLst>
                                      </p:cBhvr>
                                      <p:tavLst>
                                        <p:tav tm="0">
                                          <p:val>
                                            <p:strVal val="#ppt_w*0.6"/>
                                          </p:val>
                                        </p:tav>
                                        <p:tav tm="100000">
                                          <p:val>
                                            <p:strVal val="#ppt_w"/>
                                          </p:val>
                                        </p:tav>
                                      </p:tavLst>
                                    </p:anim>
                                    <p:anim calcmode="lin" valueType="num">
                                      <p:cBhvr additive="base">
                                        <p:cTn id="24" dur="450" fill="hold"/>
                                        <p:tgtEl>
                                          <p:spTgt spid="9"/>
                                        </p:tgtEl>
                                        <p:attrNameLst>
                                          <p:attrName>ppt_h</p:attrName>
                                        </p:attrNameLst>
                                      </p:cBhvr>
                                      <p:tavLst>
                                        <p:tav tm="0">
                                          <p:val>
                                            <p:strVal val="#ppt_h*0.6"/>
                                          </p:val>
                                        </p:tav>
                                        <p:tav tm="100000">
                                          <p:val>
                                            <p:strVal val="#ppt_h"/>
                                          </p:val>
                                        </p:tav>
                                      </p:tavLst>
                                    </p:anim>
                                  </p:childTnLst>
                                </p:cTn>
                              </p:par>
                            </p:childTnLst>
                          </p:cTn>
                        </p:par>
                        <p:par>
                          <p:cTn id="65" fill="hold">
                            <p:stCondLst>
                              <p:cond delay="1127"/>
                            </p:stCondLst>
                            <p:childTnLst>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AsOne/>
      </p:bldGraphic>
      <p:bldP spid="7" grpId="0" animBg="1"/>
      <p:bldGraphic spid="8" grpId="0">
        <p:bldAsOne/>
      </p:bldGraphic>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FINDING 5 · INFRASTRUCTURE</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Where poor devices go, denials follow</a:t>
            </a:r>
            <a:endParaRPr lang="en-US" sz="3400" dirty="0"/>
          </a:p>
        </p:txBody>
      </p:sp>
      <p:sp>
        <p:nvSpPr>
          <p:cNvPr id="4" name="a01_fade_hmTitle"/>
          <p:cNvSpPr txBox="1"/>
          <p:nvPr/>
        </p:nvSpPr>
        <p:spPr>
          <a:xfrm>
            <a:off x="548640" y="1645920"/>
            <a:ext cx="5486400" cy="320040"/>
          </a:xfrm>
          <a:prstGeom prst="rect">
            <a:avLst/>
          </a:prstGeom>
          <a:noFill/>
          <a:ln/>
        </p:spPr>
        <p:txBody>
          <a:bodyPr wrap="square" lIns="0" tIns="0" rIns="0" bIns="0" rtlCol="0" anchor="t"/>
          <a:lstStyle/>
          <a:p>
            <a:pPr indent="0" marL="0">
              <a:buNone/>
            </a:pPr>
            <a:r>
              <a:rPr lang="en-US" sz="1500" b="1" dirty="0">
                <a:solidFill>
                  <a:schemeClr val="accent1"/>
                </a:solidFill>
              </a:rPr>
              <a:t>Share of genuine visits denied</a:t>
            </a:r>
            <a:endParaRPr lang="en-US" sz="1500" dirty="0"/>
          </a:p>
        </p:txBody>
      </p:sp>
      <p:sp>
        <p:nvSpPr>
          <p:cNvPr id="5" name="a01_fade_hmCol0"/>
          <p:cNvSpPr txBox="1"/>
          <p:nvPr/>
        </p:nvSpPr>
        <p:spPr>
          <a:xfrm>
            <a:off x="1737360" y="2103120"/>
            <a:ext cx="1600200" cy="320040"/>
          </a:xfrm>
          <a:prstGeom prst="rect">
            <a:avLst/>
          </a:prstGeom>
          <a:noFill/>
          <a:ln/>
        </p:spPr>
        <p:txBody>
          <a:bodyPr wrap="square" lIns="0" tIns="0" rIns="0" bIns="0" rtlCol="0" anchor="t"/>
          <a:lstStyle/>
          <a:p>
            <a:pPr algn="ctr" indent="0" marL="0">
              <a:buNone/>
            </a:pPr>
            <a:r>
              <a:rPr lang="en-US" sz="1400" b="1" dirty="0">
                <a:solidFill>
                  <a:schemeClr val="accent5"/>
                </a:solidFill>
              </a:rPr>
              <a:t>High device</a:t>
            </a:r>
            <a:endParaRPr lang="en-US" sz="1400" dirty="0"/>
          </a:p>
        </p:txBody>
      </p:sp>
      <p:sp>
        <p:nvSpPr>
          <p:cNvPr id="6" name="a01_fade_hmCol1"/>
          <p:cNvSpPr txBox="1"/>
          <p:nvPr/>
        </p:nvSpPr>
        <p:spPr>
          <a:xfrm>
            <a:off x="3474720" y="2103120"/>
            <a:ext cx="1600200" cy="320040"/>
          </a:xfrm>
          <a:prstGeom prst="rect">
            <a:avLst/>
          </a:prstGeom>
          <a:noFill/>
          <a:ln/>
        </p:spPr>
        <p:txBody>
          <a:bodyPr wrap="square" lIns="0" tIns="0" rIns="0" bIns="0" rtlCol="0" anchor="t"/>
          <a:lstStyle/>
          <a:p>
            <a:pPr algn="ctr" indent="0" marL="0">
              <a:buNone/>
            </a:pPr>
            <a:r>
              <a:rPr lang="en-US" sz="1400" b="1" dirty="0">
                <a:solidFill>
                  <a:schemeClr val="accent5"/>
                </a:solidFill>
              </a:rPr>
              <a:t>Medium device</a:t>
            </a:r>
            <a:endParaRPr lang="en-US" sz="1400" dirty="0"/>
          </a:p>
        </p:txBody>
      </p:sp>
      <p:sp>
        <p:nvSpPr>
          <p:cNvPr id="7" name="a01_fade_hmCol2"/>
          <p:cNvSpPr txBox="1"/>
          <p:nvPr/>
        </p:nvSpPr>
        <p:spPr>
          <a:xfrm>
            <a:off x="5212080" y="2103120"/>
            <a:ext cx="1600200" cy="320040"/>
          </a:xfrm>
          <a:prstGeom prst="rect">
            <a:avLst/>
          </a:prstGeom>
          <a:noFill/>
          <a:ln/>
        </p:spPr>
        <p:txBody>
          <a:bodyPr wrap="square" lIns="0" tIns="0" rIns="0" bIns="0" rtlCol="0" anchor="t"/>
          <a:lstStyle/>
          <a:p>
            <a:pPr algn="ctr" indent="0" marL="0">
              <a:buNone/>
            </a:pPr>
            <a:r>
              <a:rPr lang="en-US" sz="1400" b="1" dirty="0">
                <a:solidFill>
                  <a:schemeClr val="accent5"/>
                </a:solidFill>
              </a:rPr>
              <a:t>Low device</a:t>
            </a:r>
            <a:endParaRPr lang="en-US" sz="1400" dirty="0"/>
          </a:p>
        </p:txBody>
      </p:sp>
      <p:sp>
        <p:nvSpPr>
          <p:cNvPr id="8" name="a01_fade_hmRow0"/>
          <p:cNvSpPr txBox="1"/>
          <p:nvPr/>
        </p:nvSpPr>
        <p:spPr>
          <a:xfrm>
            <a:off x="548640" y="2514600"/>
            <a:ext cx="1097280" cy="1051560"/>
          </a:xfrm>
          <a:prstGeom prst="rect">
            <a:avLst/>
          </a:prstGeom>
          <a:noFill/>
          <a:ln/>
        </p:spPr>
        <p:txBody>
          <a:bodyPr wrap="square" lIns="0" tIns="0" rIns="0" bIns="0" rtlCol="0" anchor="ctr"/>
          <a:lstStyle/>
          <a:p>
            <a:pPr indent="0" marL="0">
              <a:buNone/>
            </a:pPr>
            <a:r>
              <a:rPr lang="en-US" sz="1600" b="1" dirty="0">
                <a:solidFill>
                  <a:schemeClr val="accent1"/>
                </a:solidFill>
              </a:rPr>
              <a:t>Urban</a:t>
            </a:r>
            <a:endParaRPr lang="en-US" sz="1600" dirty="0"/>
          </a:p>
        </p:txBody>
      </p:sp>
      <p:sp>
        <p:nvSpPr>
          <p:cNvPr id="9" name="a02_zoom_cell00"/>
          <p:cNvSpPr/>
          <p:nvPr/>
        </p:nvSpPr>
        <p:spPr>
          <a:xfrm>
            <a:off x="1737360" y="2514600"/>
            <a:ext cx="1600200" cy="1051560"/>
          </a:xfrm>
          <a:prstGeom prst="roundRect">
            <a:avLst>
              <a:gd name="adj" fmla="val 8696"/>
            </a:avLst>
          </a:prstGeom>
          <a:solidFill>
            <a:schemeClr val="accent1">
              <a:alpha val="7000"/>
            </a:schemeClr>
          </a:solidFill>
          <a:ln/>
        </p:spPr>
      </p:sp>
      <p:sp>
        <p:nvSpPr>
          <p:cNvPr id="10" name="a02_zoom_cellT00"/>
          <p:cNvSpPr txBox="1"/>
          <p:nvPr/>
        </p:nvSpPr>
        <p:spPr>
          <a:xfrm>
            <a:off x="1737360" y="2514600"/>
            <a:ext cx="1600200" cy="105156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0.5%</a:t>
            </a:r>
            <a:endParaRPr lang="en-US" sz="2400" dirty="0"/>
          </a:p>
        </p:txBody>
      </p:sp>
      <p:sp>
        <p:nvSpPr>
          <p:cNvPr id="11" name="a03_zoom_cell01"/>
          <p:cNvSpPr/>
          <p:nvPr/>
        </p:nvSpPr>
        <p:spPr>
          <a:xfrm>
            <a:off x="3474720" y="2514600"/>
            <a:ext cx="1600200" cy="1051560"/>
          </a:xfrm>
          <a:prstGeom prst="roundRect">
            <a:avLst>
              <a:gd name="adj" fmla="val 8696"/>
            </a:avLst>
          </a:prstGeom>
          <a:solidFill>
            <a:schemeClr val="accent3">
              <a:alpha val="12000"/>
            </a:schemeClr>
          </a:solidFill>
          <a:ln/>
        </p:spPr>
      </p:sp>
      <p:sp>
        <p:nvSpPr>
          <p:cNvPr id="12" name="a03_zoom_cellT01"/>
          <p:cNvSpPr txBox="1"/>
          <p:nvPr/>
        </p:nvSpPr>
        <p:spPr>
          <a:xfrm>
            <a:off x="3474720" y="2514600"/>
            <a:ext cx="1600200" cy="1051560"/>
          </a:xfrm>
          <a:prstGeom prst="rect">
            <a:avLst/>
          </a:prstGeom>
          <a:noFill/>
          <a:ln/>
        </p:spPr>
        <p:txBody>
          <a:bodyPr wrap="square" lIns="0" tIns="0" rIns="0" bIns="0" rtlCol="0" anchor="ctr"/>
          <a:lstStyle/>
          <a:p>
            <a:pPr algn="ctr" indent="0" marL="0">
              <a:buNone/>
            </a:pPr>
            <a:r>
              <a:rPr lang="en-US" sz="2400" b="1" dirty="0">
                <a:solidFill>
                  <a:srgbClr val="B71C1C"/>
                </a:solidFill>
                <a:latin typeface="Cambria" pitchFamily="34" charset="0"/>
                <a:ea typeface="Cambria" pitchFamily="34" charset="-122"/>
                <a:cs typeface="Cambria" pitchFamily="34" charset="-120"/>
              </a:rPr>
              <a:t>2.0%</a:t>
            </a:r>
            <a:endParaRPr lang="en-US" sz="2400" dirty="0"/>
          </a:p>
        </p:txBody>
      </p:sp>
      <p:sp>
        <p:nvSpPr>
          <p:cNvPr id="13" name="a04_zoom_cell02"/>
          <p:cNvSpPr/>
          <p:nvPr/>
        </p:nvSpPr>
        <p:spPr>
          <a:xfrm>
            <a:off x="5212080" y="2514600"/>
            <a:ext cx="1600200" cy="1051560"/>
          </a:xfrm>
          <a:prstGeom prst="roundRect">
            <a:avLst>
              <a:gd name="adj" fmla="val 8696"/>
            </a:avLst>
          </a:prstGeom>
          <a:solidFill>
            <a:schemeClr val="accent3">
              <a:alpha val="28000"/>
            </a:schemeClr>
          </a:solidFill>
          <a:ln/>
        </p:spPr>
      </p:sp>
      <p:sp>
        <p:nvSpPr>
          <p:cNvPr id="14" name="a04_zoom_cellT02"/>
          <p:cNvSpPr txBox="1"/>
          <p:nvPr/>
        </p:nvSpPr>
        <p:spPr>
          <a:xfrm>
            <a:off x="5212080" y="2514600"/>
            <a:ext cx="1600200" cy="1051560"/>
          </a:xfrm>
          <a:prstGeom prst="rect">
            <a:avLst/>
          </a:prstGeom>
          <a:noFill/>
          <a:ln/>
        </p:spPr>
        <p:txBody>
          <a:bodyPr wrap="square" lIns="0" tIns="0" rIns="0" bIns="0" rtlCol="0" anchor="ctr"/>
          <a:lstStyle/>
          <a:p>
            <a:pPr algn="ctr" indent="0" marL="0">
              <a:buNone/>
            </a:pPr>
            <a:r>
              <a:rPr lang="en-US" sz="2400" b="1" dirty="0">
                <a:solidFill>
                  <a:srgbClr val="B71C1C"/>
                </a:solidFill>
                <a:latin typeface="Cambria" pitchFamily="34" charset="0"/>
                <a:ea typeface="Cambria" pitchFamily="34" charset="-122"/>
                <a:cs typeface="Cambria" pitchFamily="34" charset="-120"/>
              </a:rPr>
              <a:t>6.1%</a:t>
            </a:r>
            <a:endParaRPr lang="en-US" sz="2400" dirty="0"/>
          </a:p>
        </p:txBody>
      </p:sp>
      <p:sp>
        <p:nvSpPr>
          <p:cNvPr id="15" name="a01_fade_hmRow1"/>
          <p:cNvSpPr txBox="1"/>
          <p:nvPr/>
        </p:nvSpPr>
        <p:spPr>
          <a:xfrm>
            <a:off x="548640" y="3703320"/>
            <a:ext cx="1097280" cy="1051560"/>
          </a:xfrm>
          <a:prstGeom prst="rect">
            <a:avLst/>
          </a:prstGeom>
          <a:noFill/>
          <a:ln/>
        </p:spPr>
        <p:txBody>
          <a:bodyPr wrap="square" lIns="0" tIns="0" rIns="0" bIns="0" rtlCol="0" anchor="ctr"/>
          <a:lstStyle/>
          <a:p>
            <a:pPr indent="0" marL="0">
              <a:buNone/>
            </a:pPr>
            <a:r>
              <a:rPr lang="en-US" sz="1600" b="1" dirty="0">
                <a:solidFill>
                  <a:schemeClr val="accent1"/>
                </a:solidFill>
              </a:rPr>
              <a:t>Rural</a:t>
            </a:r>
            <a:endParaRPr lang="en-US" sz="1600" dirty="0"/>
          </a:p>
        </p:txBody>
      </p:sp>
      <p:sp>
        <p:nvSpPr>
          <p:cNvPr id="16" name="a02_zoom_cell10"/>
          <p:cNvSpPr/>
          <p:nvPr/>
        </p:nvSpPr>
        <p:spPr>
          <a:xfrm>
            <a:off x="1737360" y="3703320"/>
            <a:ext cx="1600200" cy="1051560"/>
          </a:xfrm>
          <a:prstGeom prst="roundRect">
            <a:avLst>
              <a:gd name="adj" fmla="val 8696"/>
            </a:avLst>
          </a:prstGeom>
          <a:solidFill>
            <a:schemeClr val="accent1">
              <a:alpha val="7000"/>
            </a:schemeClr>
          </a:solidFill>
          <a:ln/>
        </p:spPr>
      </p:sp>
      <p:sp>
        <p:nvSpPr>
          <p:cNvPr id="17" name="a02_zoom_cellT10"/>
          <p:cNvSpPr txBox="1"/>
          <p:nvPr/>
        </p:nvSpPr>
        <p:spPr>
          <a:xfrm>
            <a:off x="1737360" y="3703320"/>
            <a:ext cx="1600200" cy="105156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0.4%</a:t>
            </a:r>
            <a:endParaRPr lang="en-US" sz="2400" dirty="0"/>
          </a:p>
        </p:txBody>
      </p:sp>
      <p:sp>
        <p:nvSpPr>
          <p:cNvPr id="18" name="a03_zoom_cell11"/>
          <p:cNvSpPr/>
          <p:nvPr/>
        </p:nvSpPr>
        <p:spPr>
          <a:xfrm>
            <a:off x="3474720" y="3703320"/>
            <a:ext cx="1600200" cy="1051560"/>
          </a:xfrm>
          <a:prstGeom prst="roundRect">
            <a:avLst>
              <a:gd name="adj" fmla="val 8696"/>
            </a:avLst>
          </a:prstGeom>
          <a:solidFill>
            <a:schemeClr val="accent3">
              <a:alpha val="12000"/>
            </a:schemeClr>
          </a:solidFill>
          <a:ln/>
        </p:spPr>
      </p:sp>
      <p:sp>
        <p:nvSpPr>
          <p:cNvPr id="19" name="a03_zoom_cellT11"/>
          <p:cNvSpPr txBox="1"/>
          <p:nvPr/>
        </p:nvSpPr>
        <p:spPr>
          <a:xfrm>
            <a:off x="3474720" y="3703320"/>
            <a:ext cx="1600200" cy="1051560"/>
          </a:xfrm>
          <a:prstGeom prst="rect">
            <a:avLst/>
          </a:prstGeom>
          <a:noFill/>
          <a:ln/>
        </p:spPr>
        <p:txBody>
          <a:bodyPr wrap="square" lIns="0" tIns="0" rIns="0" bIns="0" rtlCol="0" anchor="ctr"/>
          <a:lstStyle/>
          <a:p>
            <a:pPr algn="ctr" indent="0" marL="0">
              <a:buNone/>
            </a:pPr>
            <a:r>
              <a:rPr lang="en-US" sz="2400" b="1" dirty="0">
                <a:solidFill>
                  <a:srgbClr val="B71C1C"/>
                </a:solidFill>
                <a:latin typeface="Cambria" pitchFamily="34" charset="0"/>
                <a:ea typeface="Cambria" pitchFamily="34" charset="-122"/>
                <a:cs typeface="Cambria" pitchFamily="34" charset="-120"/>
              </a:rPr>
              <a:t>2.5%</a:t>
            </a:r>
            <a:endParaRPr lang="en-US" sz="2400" dirty="0"/>
          </a:p>
        </p:txBody>
      </p:sp>
      <p:sp>
        <p:nvSpPr>
          <p:cNvPr id="20" name="a04_zoom_cell12"/>
          <p:cNvSpPr/>
          <p:nvPr/>
        </p:nvSpPr>
        <p:spPr>
          <a:xfrm>
            <a:off x="5212080" y="3703320"/>
            <a:ext cx="1600200" cy="1051560"/>
          </a:xfrm>
          <a:prstGeom prst="roundRect">
            <a:avLst>
              <a:gd name="adj" fmla="val 8696"/>
            </a:avLst>
          </a:prstGeom>
          <a:solidFill>
            <a:schemeClr val="accent3"/>
          </a:solidFill>
          <a:ln/>
        </p:spPr>
      </p:sp>
      <p:sp>
        <p:nvSpPr>
          <p:cNvPr id="21" name="a04_zoom_cellT12"/>
          <p:cNvSpPr txBox="1"/>
          <p:nvPr/>
        </p:nvSpPr>
        <p:spPr>
          <a:xfrm>
            <a:off x="5212080" y="3703320"/>
            <a:ext cx="1600200" cy="10515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8.7%</a:t>
            </a:r>
            <a:endParaRPr lang="en-US" sz="2400" dirty="0"/>
          </a:p>
        </p:txBody>
      </p:sp>
      <p:sp>
        <p:nvSpPr>
          <p:cNvPr id="22" name="a01_fade_hmRow2"/>
          <p:cNvSpPr txBox="1"/>
          <p:nvPr/>
        </p:nvSpPr>
        <p:spPr>
          <a:xfrm>
            <a:off x="548640" y="4892040"/>
            <a:ext cx="1097280" cy="1051560"/>
          </a:xfrm>
          <a:prstGeom prst="rect">
            <a:avLst/>
          </a:prstGeom>
          <a:noFill/>
          <a:ln/>
        </p:spPr>
        <p:txBody>
          <a:bodyPr wrap="square" lIns="0" tIns="0" rIns="0" bIns="0" rtlCol="0" anchor="ctr"/>
          <a:lstStyle/>
          <a:p>
            <a:pPr indent="0" marL="0">
              <a:buNone/>
            </a:pPr>
            <a:r>
              <a:rPr lang="en-US" sz="1600" b="1" dirty="0">
                <a:solidFill>
                  <a:schemeClr val="accent1"/>
                </a:solidFill>
              </a:rPr>
              <a:t>Remote</a:t>
            </a:r>
            <a:endParaRPr lang="en-US" sz="1600" dirty="0"/>
          </a:p>
        </p:txBody>
      </p:sp>
      <p:sp>
        <p:nvSpPr>
          <p:cNvPr id="23" name="a02_zoom_cell20"/>
          <p:cNvSpPr/>
          <p:nvPr/>
        </p:nvSpPr>
        <p:spPr>
          <a:xfrm>
            <a:off x="1737360" y="4892040"/>
            <a:ext cx="1600200" cy="1051560"/>
          </a:xfrm>
          <a:prstGeom prst="roundRect">
            <a:avLst>
              <a:gd name="adj" fmla="val 8696"/>
            </a:avLst>
          </a:prstGeom>
          <a:solidFill>
            <a:schemeClr val="accent3">
              <a:alpha val="12000"/>
            </a:schemeClr>
          </a:solidFill>
          <a:ln/>
        </p:spPr>
      </p:sp>
      <p:sp>
        <p:nvSpPr>
          <p:cNvPr id="24" name="a02_zoom_cellT20"/>
          <p:cNvSpPr txBox="1"/>
          <p:nvPr/>
        </p:nvSpPr>
        <p:spPr>
          <a:xfrm>
            <a:off x="1737360" y="4892040"/>
            <a:ext cx="1600200" cy="1051560"/>
          </a:xfrm>
          <a:prstGeom prst="rect">
            <a:avLst/>
          </a:prstGeom>
          <a:noFill/>
          <a:ln/>
        </p:spPr>
        <p:txBody>
          <a:bodyPr wrap="square" lIns="0" tIns="0" rIns="0" bIns="0" rtlCol="0" anchor="ctr"/>
          <a:lstStyle/>
          <a:p>
            <a:pPr algn="ctr" indent="0" marL="0">
              <a:buNone/>
            </a:pPr>
            <a:r>
              <a:rPr lang="en-US" sz="2400" b="1" dirty="0">
                <a:solidFill>
                  <a:srgbClr val="B71C1C"/>
                </a:solidFill>
                <a:latin typeface="Cambria" pitchFamily="34" charset="0"/>
                <a:ea typeface="Cambria" pitchFamily="34" charset="-122"/>
                <a:cs typeface="Cambria" pitchFamily="34" charset="-120"/>
              </a:rPr>
              <a:t>2.6%</a:t>
            </a:r>
            <a:endParaRPr lang="en-US" sz="2400" dirty="0"/>
          </a:p>
        </p:txBody>
      </p:sp>
      <p:sp>
        <p:nvSpPr>
          <p:cNvPr id="25" name="a03_zoom_cell21"/>
          <p:cNvSpPr/>
          <p:nvPr/>
        </p:nvSpPr>
        <p:spPr>
          <a:xfrm>
            <a:off x="3474720" y="4892040"/>
            <a:ext cx="1600200" cy="1051560"/>
          </a:xfrm>
          <a:prstGeom prst="roundRect">
            <a:avLst>
              <a:gd name="adj" fmla="val 8696"/>
            </a:avLst>
          </a:prstGeom>
          <a:solidFill>
            <a:schemeClr val="accent1">
              <a:alpha val="7000"/>
            </a:schemeClr>
          </a:solidFill>
          <a:ln/>
        </p:spPr>
      </p:sp>
      <p:sp>
        <p:nvSpPr>
          <p:cNvPr id="26" name="a03_zoom_cellT21"/>
          <p:cNvSpPr txBox="1"/>
          <p:nvPr/>
        </p:nvSpPr>
        <p:spPr>
          <a:xfrm>
            <a:off x="3474720" y="4892040"/>
            <a:ext cx="1600200" cy="105156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1.9%</a:t>
            </a:r>
            <a:endParaRPr lang="en-US" sz="2400" dirty="0"/>
          </a:p>
        </p:txBody>
      </p:sp>
      <p:sp>
        <p:nvSpPr>
          <p:cNvPr id="27" name="a04_zoom_cell22"/>
          <p:cNvSpPr/>
          <p:nvPr/>
        </p:nvSpPr>
        <p:spPr>
          <a:xfrm>
            <a:off x="5212080" y="4892040"/>
            <a:ext cx="1600200" cy="1051560"/>
          </a:xfrm>
          <a:prstGeom prst="roundRect">
            <a:avLst>
              <a:gd name="adj" fmla="val 8696"/>
            </a:avLst>
          </a:prstGeom>
          <a:solidFill>
            <a:schemeClr val="accent3"/>
          </a:solidFill>
          <a:ln/>
        </p:spPr>
      </p:sp>
      <p:sp>
        <p:nvSpPr>
          <p:cNvPr id="28" name="a04_zoom_cellT22"/>
          <p:cNvSpPr txBox="1"/>
          <p:nvPr/>
        </p:nvSpPr>
        <p:spPr>
          <a:xfrm>
            <a:off x="5212080" y="4892040"/>
            <a:ext cx="1600200" cy="10515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9.9%</a:t>
            </a:r>
            <a:endParaRPr lang="en-US" sz="2400" dirty="0"/>
          </a:p>
        </p:txBody>
      </p:sp>
      <p:sp>
        <p:nvSpPr>
          <p:cNvPr id="29" name="a05_rise_c1"/>
          <p:cNvSpPr/>
          <p:nvPr/>
        </p:nvSpPr>
        <p:spPr>
          <a:xfrm>
            <a:off x="7315200" y="1645920"/>
            <a:ext cx="4297680" cy="2057400"/>
          </a:xfrm>
          <a:prstGeom prst="roundRect">
            <a:avLst>
              <a:gd name="adj" fmla="val 5333"/>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30" name="a05_rise_c1T"/>
          <p:cNvSpPr txBox="1"/>
          <p:nvPr/>
        </p:nvSpPr>
        <p:spPr>
          <a:xfrm>
            <a:off x="7589520" y="1783080"/>
            <a:ext cx="3749040" cy="182880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20×</a:t>
            </a:r>
            <a:endParaRPr lang="en-US" sz="4400" dirty="0"/>
          </a:p>
          <a:p>
            <a:pPr indent="0" marL="0">
              <a:buNone/>
            </a:pPr>
            <a:r>
              <a:rPr lang="en-US" sz="1500" dirty="0">
                <a:solidFill>
                  <a:schemeClr val="tx1"/>
                </a:solidFill>
              </a:rPr>
              <a:t>Remote with a low-quality device: 9.9% denied. Urban with a high-quality device: 0.5%.</a:t>
            </a:r>
            <a:endParaRPr lang="en-US" sz="4400" dirty="0"/>
          </a:p>
        </p:txBody>
      </p:sp>
      <p:sp>
        <p:nvSpPr>
          <p:cNvPr id="31" name="a06_rise_c2"/>
          <p:cNvSpPr/>
          <p:nvPr/>
        </p:nvSpPr>
        <p:spPr>
          <a:xfrm>
            <a:off x="7315200" y="3931920"/>
            <a:ext cx="4297680"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32" name="a06_rise_c2T"/>
          <p:cNvSpPr txBox="1"/>
          <p:nvPr/>
        </p:nvSpPr>
        <p:spPr>
          <a:xfrm>
            <a:off x="7589520" y="4114800"/>
            <a:ext cx="3749040" cy="1828800"/>
          </a:xfrm>
          <a:prstGeom prst="rect">
            <a:avLst/>
          </a:prstGeom>
          <a:noFill/>
          <a:ln/>
        </p:spPr>
        <p:txBody>
          <a:bodyPr wrap="square" lIns="0" tIns="0" rIns="0" bIns="0" rtlCol="0" anchor="ctr"/>
          <a:lstStyle/>
          <a:p>
            <a:pPr indent="0" marL="0">
              <a:buNone/>
            </a:pPr>
            <a:r>
              <a:rPr lang="en-US" sz="1700" b="1" dirty="0">
                <a:solidFill>
                  <a:schemeClr val="accent1"/>
                </a:solidFill>
              </a:rPr>
              <a:t>It is the device, not the place</a:t>
            </a:r>
            <a:endParaRPr lang="en-US" sz="1700" dirty="0"/>
          </a:p>
          <a:p>
            <a:pPr indent="0" marL="0">
              <a:buNone/>
            </a:pPr>
            <a:r>
              <a:rPr lang="en-US" sz="1400" dirty="0">
                <a:solidFill>
                  <a:schemeClr val="tx1"/>
                </a:solidFill>
              </a:rPr>
              <a:t>With device and network held constant, living in a remote area does not raise the odds of failure (0.85×). Remote areas simply get worse scanners.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140" fill="hold">
                      <p:stCondLst>
                        <p:cond delay="indefinite"/>
                        <p:cond evt="onBegin" delay="0">
                          <p:tn val="2"/>
                        </p:cond>
                      </p:stCondLst>
                      <p:childTnLst>
                        <p:par>
                          <p:cTn id="134"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50"/>
                                        <p:tgtEl>
                                          <p:spTgt spid="22"/>
                                        </p:tgtEl>
                                      </p:cBhvr>
                                    </p:animEffect>
                                  </p:childTnLst>
                                </p:cTn>
                              </p:par>
                            </p:childTnLst>
                          </p:cTn>
                        </p:par>
                        <p:par>
                          <p:cTn id="135" fill="hold">
                            <p:stCondLst>
                              <p:cond delay="247"/>
                            </p:stCondLst>
                            <p:childTnLst>
                              <p:par>
                                <p:cTn id="24" presetID="53" presetClass="entr" presetSubtype="16"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anim calcmode="lin" valueType="num">
                                      <p:cBhvr additive="base">
                                        <p:cTn id="27" dur="450" fill="hold"/>
                                        <p:tgtEl>
                                          <p:spTgt spid="9"/>
                                        </p:tgtEl>
                                        <p:attrNameLst>
                                          <p:attrName>ppt_w</p:attrName>
                                        </p:attrNameLst>
                                      </p:cBhvr>
                                      <p:tavLst>
                                        <p:tav tm="0">
                                          <p:val>
                                            <p:strVal val="#ppt_w*0.6"/>
                                          </p:val>
                                        </p:tav>
                                        <p:tav tm="100000">
                                          <p:val>
                                            <p:strVal val="#ppt_w"/>
                                          </p:val>
                                        </p:tav>
                                      </p:tavLst>
                                    </p:anim>
                                    <p:anim calcmode="lin" valueType="num">
                                      <p:cBhvr additive="base">
                                        <p:cTn id="28" dur="450" fill="hold"/>
                                        <p:tgtEl>
                                          <p:spTgt spid="9"/>
                                        </p:tgtEl>
                                        <p:attrNameLst>
                                          <p:attrName>ppt_h</p:attrName>
                                        </p:attrNameLst>
                                      </p:cBhvr>
                                      <p:tavLst>
                                        <p:tav tm="0">
                                          <p:val>
                                            <p:strVal val="#ppt_h*0.6"/>
                                          </p:val>
                                        </p:tav>
                                        <p:tav tm="100000">
                                          <p:val>
                                            <p:strVal val="#ppt_h"/>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additive="base">
                                        <p:cTn id="32" dur="450" fill="hold"/>
                                        <p:tgtEl>
                                          <p:spTgt spid="10"/>
                                        </p:tgtEl>
                                        <p:attrNameLst>
                                          <p:attrName>ppt_w</p:attrName>
                                        </p:attrNameLst>
                                      </p:cBhvr>
                                      <p:tavLst>
                                        <p:tav tm="0">
                                          <p:val>
                                            <p:strVal val="#ppt_w*0.6"/>
                                          </p:val>
                                        </p:tav>
                                        <p:tav tm="100000">
                                          <p:val>
                                            <p:strVal val="#ppt_w"/>
                                          </p:val>
                                        </p:tav>
                                      </p:tavLst>
                                    </p:anim>
                                    <p:anim calcmode="lin" valueType="num">
                                      <p:cBhvr additive="base">
                                        <p:cTn id="33" dur="450" fill="hold"/>
                                        <p:tgtEl>
                                          <p:spTgt spid="10"/>
                                        </p:tgtEl>
                                        <p:attrNameLst>
                                          <p:attrName>ppt_h</p:attrName>
                                        </p:attrNameLst>
                                      </p:cBhvr>
                                      <p:tavLst>
                                        <p:tav tm="0">
                                          <p:val>
                                            <p:strVal val="#ppt_h*0.6"/>
                                          </p:val>
                                        </p:tav>
                                        <p:tav tm="100000">
                                          <p:val>
                                            <p:strVal val="#ppt_h"/>
                                          </p:val>
                                        </p:tav>
                                      </p:tavLst>
                                    </p:anim>
                                  </p:childTnLst>
                                </p:cTn>
                              </p:par>
                              <p:par>
                                <p:cTn id="34" presetID="53" presetClass="entr" presetSubtype="16"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50"/>
                                        <p:tgtEl>
                                          <p:spTgt spid="16"/>
                                        </p:tgtEl>
                                      </p:cBhvr>
                                    </p:animEffect>
                                    <p:anim calcmode="lin" valueType="num">
                                      <p:cBhvr additive="base">
                                        <p:cTn id="37" dur="450" fill="hold"/>
                                        <p:tgtEl>
                                          <p:spTgt spid="16"/>
                                        </p:tgtEl>
                                        <p:attrNameLst>
                                          <p:attrName>ppt_w</p:attrName>
                                        </p:attrNameLst>
                                      </p:cBhvr>
                                      <p:tavLst>
                                        <p:tav tm="0">
                                          <p:val>
                                            <p:strVal val="#ppt_w*0.6"/>
                                          </p:val>
                                        </p:tav>
                                        <p:tav tm="100000">
                                          <p:val>
                                            <p:strVal val="#ppt_w"/>
                                          </p:val>
                                        </p:tav>
                                      </p:tavLst>
                                    </p:anim>
                                    <p:anim calcmode="lin" valueType="num">
                                      <p:cBhvr additive="base">
                                        <p:cTn id="38" dur="450" fill="hold"/>
                                        <p:tgtEl>
                                          <p:spTgt spid="16"/>
                                        </p:tgtEl>
                                        <p:attrNameLst>
                                          <p:attrName>ppt_h</p:attrName>
                                        </p:attrNameLst>
                                      </p:cBhvr>
                                      <p:tavLst>
                                        <p:tav tm="0">
                                          <p:val>
                                            <p:strVal val="#ppt_h*0.6"/>
                                          </p:val>
                                        </p:tav>
                                        <p:tav tm="100000">
                                          <p:val>
                                            <p:strVal val="#ppt_h"/>
                                          </p:val>
                                        </p:tav>
                                      </p:tavLst>
                                    </p:anim>
                                  </p:childTnLst>
                                </p:cTn>
                              </p:par>
                              <p:par>
                                <p:cTn id="39" presetID="53" presetClass="entr" presetSubtype="16"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anim calcmode="lin" valueType="num">
                                      <p:cBhvr additive="base">
                                        <p:cTn id="42" dur="450" fill="hold"/>
                                        <p:tgtEl>
                                          <p:spTgt spid="17"/>
                                        </p:tgtEl>
                                        <p:attrNameLst>
                                          <p:attrName>ppt_w</p:attrName>
                                        </p:attrNameLst>
                                      </p:cBhvr>
                                      <p:tavLst>
                                        <p:tav tm="0">
                                          <p:val>
                                            <p:strVal val="#ppt_w*0.6"/>
                                          </p:val>
                                        </p:tav>
                                        <p:tav tm="100000">
                                          <p:val>
                                            <p:strVal val="#ppt_w"/>
                                          </p:val>
                                        </p:tav>
                                      </p:tavLst>
                                    </p:anim>
                                    <p:anim calcmode="lin" valueType="num">
                                      <p:cBhvr additive="base">
                                        <p:cTn id="43" dur="450" fill="hold"/>
                                        <p:tgtEl>
                                          <p:spTgt spid="17"/>
                                        </p:tgtEl>
                                        <p:attrNameLst>
                                          <p:attrName>ppt_h</p:attrName>
                                        </p:attrNameLst>
                                      </p:cBhvr>
                                      <p:tavLst>
                                        <p:tav tm="0">
                                          <p:val>
                                            <p:strVal val="#ppt_h*0.6"/>
                                          </p:val>
                                        </p:tav>
                                        <p:tav tm="100000">
                                          <p:val>
                                            <p:strVal val="#ppt_h"/>
                                          </p:val>
                                        </p:tav>
                                      </p:tavLst>
                                    </p:anim>
                                  </p:childTnLst>
                                </p:cTn>
                              </p:par>
                              <p:par>
                                <p:cTn id="44" presetID="53" presetClass="entr" presetSubtype="16"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50"/>
                                        <p:tgtEl>
                                          <p:spTgt spid="23"/>
                                        </p:tgtEl>
                                      </p:cBhvr>
                                    </p:animEffect>
                                    <p:anim calcmode="lin" valueType="num">
                                      <p:cBhvr additive="base">
                                        <p:cTn id="47" dur="450" fill="hold"/>
                                        <p:tgtEl>
                                          <p:spTgt spid="23"/>
                                        </p:tgtEl>
                                        <p:attrNameLst>
                                          <p:attrName>ppt_w</p:attrName>
                                        </p:attrNameLst>
                                      </p:cBhvr>
                                      <p:tavLst>
                                        <p:tav tm="0">
                                          <p:val>
                                            <p:strVal val="#ppt_w*0.6"/>
                                          </p:val>
                                        </p:tav>
                                        <p:tav tm="100000">
                                          <p:val>
                                            <p:strVal val="#ppt_w"/>
                                          </p:val>
                                        </p:tav>
                                      </p:tavLst>
                                    </p:anim>
                                    <p:anim calcmode="lin" valueType="num">
                                      <p:cBhvr additive="base">
                                        <p:cTn id="48" dur="450" fill="hold"/>
                                        <p:tgtEl>
                                          <p:spTgt spid="23"/>
                                        </p:tgtEl>
                                        <p:attrNameLst>
                                          <p:attrName>ppt_h</p:attrName>
                                        </p:attrNameLst>
                                      </p:cBhvr>
                                      <p:tavLst>
                                        <p:tav tm="0">
                                          <p:val>
                                            <p:strVal val="#ppt_h*0.6"/>
                                          </p:val>
                                        </p:tav>
                                        <p:tav tm="100000">
                                          <p:val>
                                            <p:strVal val="#ppt_h"/>
                                          </p:val>
                                        </p:tav>
                                      </p:tavLst>
                                    </p:anim>
                                  </p:childTnLst>
                                </p:cTn>
                              </p:par>
                              <p:par>
                                <p:cTn id="49" presetID="53" presetClass="entr" presetSubtype="16"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50"/>
                                        <p:tgtEl>
                                          <p:spTgt spid="24"/>
                                        </p:tgtEl>
                                      </p:cBhvr>
                                    </p:animEffect>
                                    <p:anim calcmode="lin" valueType="num">
                                      <p:cBhvr additive="base">
                                        <p:cTn id="52" dur="450" fill="hold"/>
                                        <p:tgtEl>
                                          <p:spTgt spid="24"/>
                                        </p:tgtEl>
                                        <p:attrNameLst>
                                          <p:attrName>ppt_w</p:attrName>
                                        </p:attrNameLst>
                                      </p:cBhvr>
                                      <p:tavLst>
                                        <p:tav tm="0">
                                          <p:val>
                                            <p:strVal val="#ppt_w*0.6"/>
                                          </p:val>
                                        </p:tav>
                                        <p:tav tm="100000">
                                          <p:val>
                                            <p:strVal val="#ppt_w"/>
                                          </p:val>
                                        </p:tav>
                                      </p:tavLst>
                                    </p:anim>
                                    <p:anim calcmode="lin" valueType="num">
                                      <p:cBhvr additive="base">
                                        <p:cTn id="53" dur="450" fill="hold"/>
                                        <p:tgtEl>
                                          <p:spTgt spid="24"/>
                                        </p:tgtEl>
                                        <p:attrNameLst>
                                          <p:attrName>ppt_h</p:attrName>
                                        </p:attrNameLst>
                                      </p:cBhvr>
                                      <p:tavLst>
                                        <p:tav tm="0">
                                          <p:val>
                                            <p:strVal val="#ppt_h*0.6"/>
                                          </p:val>
                                        </p:tav>
                                        <p:tav tm="100000">
                                          <p:val>
                                            <p:strVal val="#ppt_h"/>
                                          </p:val>
                                        </p:tav>
                                      </p:tavLst>
                                    </p:anim>
                                  </p:childTnLst>
                                </p:cTn>
                              </p:par>
                            </p:childTnLst>
                          </p:cTn>
                        </p:par>
                        <p:par>
                          <p:cTn id="136" fill="hold">
                            <p:stCondLst>
                              <p:cond delay="495"/>
                            </p:stCondLst>
                            <p:childTnLst>
                              <p:par>
                                <p:cTn id="54" presetID="53" presetClass="entr" presetSubtype="16"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450"/>
                                        <p:tgtEl>
                                          <p:spTgt spid="11"/>
                                        </p:tgtEl>
                                      </p:cBhvr>
                                    </p:animEffect>
                                    <p:anim calcmode="lin" valueType="num">
                                      <p:cBhvr additive="base">
                                        <p:cTn id="57" dur="450" fill="hold"/>
                                        <p:tgtEl>
                                          <p:spTgt spid="11"/>
                                        </p:tgtEl>
                                        <p:attrNameLst>
                                          <p:attrName>ppt_w</p:attrName>
                                        </p:attrNameLst>
                                      </p:cBhvr>
                                      <p:tavLst>
                                        <p:tav tm="0">
                                          <p:val>
                                            <p:strVal val="#ppt_w*0.6"/>
                                          </p:val>
                                        </p:tav>
                                        <p:tav tm="100000">
                                          <p:val>
                                            <p:strVal val="#ppt_w"/>
                                          </p:val>
                                        </p:tav>
                                      </p:tavLst>
                                    </p:anim>
                                    <p:anim calcmode="lin" valueType="num">
                                      <p:cBhvr additive="base">
                                        <p:cTn id="58" dur="450" fill="hold"/>
                                        <p:tgtEl>
                                          <p:spTgt spid="11"/>
                                        </p:tgtEl>
                                        <p:attrNameLst>
                                          <p:attrName>ppt_h</p:attrName>
                                        </p:attrNameLst>
                                      </p:cBhvr>
                                      <p:tavLst>
                                        <p:tav tm="0">
                                          <p:val>
                                            <p:strVal val="#ppt_h*0.6"/>
                                          </p:val>
                                        </p:tav>
                                        <p:tav tm="100000">
                                          <p:val>
                                            <p:strVal val="#ppt_h"/>
                                          </p:val>
                                        </p:tav>
                                      </p:tavLst>
                                    </p:anim>
                                  </p:childTnLst>
                                </p:cTn>
                              </p:par>
                              <p:par>
                                <p:cTn id="59" presetID="53" presetClass="entr" presetSubtype="16"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450"/>
                                        <p:tgtEl>
                                          <p:spTgt spid="12"/>
                                        </p:tgtEl>
                                      </p:cBhvr>
                                    </p:animEffect>
                                    <p:anim calcmode="lin" valueType="num">
                                      <p:cBhvr additive="base">
                                        <p:cTn id="62" dur="450" fill="hold"/>
                                        <p:tgtEl>
                                          <p:spTgt spid="12"/>
                                        </p:tgtEl>
                                        <p:attrNameLst>
                                          <p:attrName>ppt_w</p:attrName>
                                        </p:attrNameLst>
                                      </p:cBhvr>
                                      <p:tavLst>
                                        <p:tav tm="0">
                                          <p:val>
                                            <p:strVal val="#ppt_w*0.6"/>
                                          </p:val>
                                        </p:tav>
                                        <p:tav tm="100000">
                                          <p:val>
                                            <p:strVal val="#ppt_w"/>
                                          </p:val>
                                        </p:tav>
                                      </p:tavLst>
                                    </p:anim>
                                    <p:anim calcmode="lin" valueType="num">
                                      <p:cBhvr additive="base">
                                        <p:cTn id="63" dur="450" fill="hold"/>
                                        <p:tgtEl>
                                          <p:spTgt spid="12"/>
                                        </p:tgtEl>
                                        <p:attrNameLst>
                                          <p:attrName>ppt_h</p:attrName>
                                        </p:attrNameLst>
                                      </p:cBhvr>
                                      <p:tavLst>
                                        <p:tav tm="0">
                                          <p:val>
                                            <p:strVal val="#ppt_h*0.6"/>
                                          </p:val>
                                        </p:tav>
                                        <p:tav tm="100000">
                                          <p:val>
                                            <p:strVal val="#ppt_h"/>
                                          </p:val>
                                        </p:tav>
                                      </p:tavLst>
                                    </p:anim>
                                  </p:childTnLst>
                                </p:cTn>
                              </p:par>
                              <p:par>
                                <p:cTn id="64" presetID="53" presetClass="entr" presetSubtype="16"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450"/>
                                        <p:tgtEl>
                                          <p:spTgt spid="18"/>
                                        </p:tgtEl>
                                      </p:cBhvr>
                                    </p:animEffect>
                                    <p:anim calcmode="lin" valueType="num">
                                      <p:cBhvr additive="base">
                                        <p:cTn id="67" dur="450" fill="hold"/>
                                        <p:tgtEl>
                                          <p:spTgt spid="18"/>
                                        </p:tgtEl>
                                        <p:attrNameLst>
                                          <p:attrName>ppt_w</p:attrName>
                                        </p:attrNameLst>
                                      </p:cBhvr>
                                      <p:tavLst>
                                        <p:tav tm="0">
                                          <p:val>
                                            <p:strVal val="#ppt_w*0.6"/>
                                          </p:val>
                                        </p:tav>
                                        <p:tav tm="100000">
                                          <p:val>
                                            <p:strVal val="#ppt_w"/>
                                          </p:val>
                                        </p:tav>
                                      </p:tavLst>
                                    </p:anim>
                                    <p:anim calcmode="lin" valueType="num">
                                      <p:cBhvr additive="base">
                                        <p:cTn id="68" dur="450" fill="hold"/>
                                        <p:tgtEl>
                                          <p:spTgt spid="18"/>
                                        </p:tgtEl>
                                        <p:attrNameLst>
                                          <p:attrName>ppt_h</p:attrName>
                                        </p:attrNameLst>
                                      </p:cBhvr>
                                      <p:tavLst>
                                        <p:tav tm="0">
                                          <p:val>
                                            <p:strVal val="#ppt_h*0.6"/>
                                          </p:val>
                                        </p:tav>
                                        <p:tav tm="100000">
                                          <p:val>
                                            <p:strVal val="#ppt_h"/>
                                          </p:val>
                                        </p:tav>
                                      </p:tavLst>
                                    </p:anim>
                                  </p:childTnLst>
                                </p:cTn>
                              </p:par>
                              <p:par>
                                <p:cTn id="69" presetID="53" presetClass="entr" presetSubtype="16"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450"/>
                                        <p:tgtEl>
                                          <p:spTgt spid="19"/>
                                        </p:tgtEl>
                                      </p:cBhvr>
                                    </p:animEffect>
                                    <p:anim calcmode="lin" valueType="num">
                                      <p:cBhvr additive="base">
                                        <p:cTn id="72" dur="450" fill="hold"/>
                                        <p:tgtEl>
                                          <p:spTgt spid="19"/>
                                        </p:tgtEl>
                                        <p:attrNameLst>
                                          <p:attrName>ppt_w</p:attrName>
                                        </p:attrNameLst>
                                      </p:cBhvr>
                                      <p:tavLst>
                                        <p:tav tm="0">
                                          <p:val>
                                            <p:strVal val="#ppt_w*0.6"/>
                                          </p:val>
                                        </p:tav>
                                        <p:tav tm="100000">
                                          <p:val>
                                            <p:strVal val="#ppt_w"/>
                                          </p:val>
                                        </p:tav>
                                      </p:tavLst>
                                    </p:anim>
                                    <p:anim calcmode="lin" valueType="num">
                                      <p:cBhvr additive="base">
                                        <p:cTn id="73" dur="450" fill="hold"/>
                                        <p:tgtEl>
                                          <p:spTgt spid="19"/>
                                        </p:tgtEl>
                                        <p:attrNameLst>
                                          <p:attrName>ppt_h</p:attrName>
                                        </p:attrNameLst>
                                      </p:cBhvr>
                                      <p:tavLst>
                                        <p:tav tm="0">
                                          <p:val>
                                            <p:strVal val="#ppt_h*0.6"/>
                                          </p:val>
                                        </p:tav>
                                        <p:tav tm="100000">
                                          <p:val>
                                            <p:strVal val="#ppt_h"/>
                                          </p:val>
                                        </p:tav>
                                      </p:tavLst>
                                    </p:anim>
                                  </p:childTnLst>
                                </p:cTn>
                              </p:par>
                              <p:par>
                                <p:cTn id="74" presetID="53" presetClass="entr" presetSubtype="16"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450"/>
                                        <p:tgtEl>
                                          <p:spTgt spid="25"/>
                                        </p:tgtEl>
                                      </p:cBhvr>
                                    </p:animEffect>
                                    <p:anim calcmode="lin" valueType="num">
                                      <p:cBhvr additive="base">
                                        <p:cTn id="77" dur="450" fill="hold"/>
                                        <p:tgtEl>
                                          <p:spTgt spid="25"/>
                                        </p:tgtEl>
                                        <p:attrNameLst>
                                          <p:attrName>ppt_w</p:attrName>
                                        </p:attrNameLst>
                                      </p:cBhvr>
                                      <p:tavLst>
                                        <p:tav tm="0">
                                          <p:val>
                                            <p:strVal val="#ppt_w*0.6"/>
                                          </p:val>
                                        </p:tav>
                                        <p:tav tm="100000">
                                          <p:val>
                                            <p:strVal val="#ppt_w"/>
                                          </p:val>
                                        </p:tav>
                                      </p:tavLst>
                                    </p:anim>
                                    <p:anim calcmode="lin" valueType="num">
                                      <p:cBhvr additive="base">
                                        <p:cTn id="78" dur="450" fill="hold"/>
                                        <p:tgtEl>
                                          <p:spTgt spid="25"/>
                                        </p:tgtEl>
                                        <p:attrNameLst>
                                          <p:attrName>ppt_h</p:attrName>
                                        </p:attrNameLst>
                                      </p:cBhvr>
                                      <p:tavLst>
                                        <p:tav tm="0">
                                          <p:val>
                                            <p:strVal val="#ppt_h*0.6"/>
                                          </p:val>
                                        </p:tav>
                                        <p:tav tm="100000">
                                          <p:val>
                                            <p:strVal val="#ppt_h"/>
                                          </p:val>
                                        </p:tav>
                                      </p:tavLst>
                                    </p:anim>
                                  </p:childTnLst>
                                </p:cTn>
                              </p:par>
                              <p:par>
                                <p:cTn id="79" presetID="53" presetClass="entr" presetSubtype="16"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450"/>
                                        <p:tgtEl>
                                          <p:spTgt spid="26"/>
                                        </p:tgtEl>
                                      </p:cBhvr>
                                    </p:animEffect>
                                    <p:anim calcmode="lin" valueType="num">
                                      <p:cBhvr additive="base">
                                        <p:cTn id="82" dur="450" fill="hold"/>
                                        <p:tgtEl>
                                          <p:spTgt spid="26"/>
                                        </p:tgtEl>
                                        <p:attrNameLst>
                                          <p:attrName>ppt_w</p:attrName>
                                        </p:attrNameLst>
                                      </p:cBhvr>
                                      <p:tavLst>
                                        <p:tav tm="0">
                                          <p:val>
                                            <p:strVal val="#ppt_w*0.6"/>
                                          </p:val>
                                        </p:tav>
                                        <p:tav tm="100000">
                                          <p:val>
                                            <p:strVal val="#ppt_w"/>
                                          </p:val>
                                        </p:tav>
                                      </p:tavLst>
                                    </p:anim>
                                    <p:anim calcmode="lin" valueType="num">
                                      <p:cBhvr additive="base">
                                        <p:cTn id="83" dur="450" fill="hold"/>
                                        <p:tgtEl>
                                          <p:spTgt spid="26"/>
                                        </p:tgtEl>
                                        <p:attrNameLst>
                                          <p:attrName>ppt_h</p:attrName>
                                        </p:attrNameLst>
                                      </p:cBhvr>
                                      <p:tavLst>
                                        <p:tav tm="0">
                                          <p:val>
                                            <p:strVal val="#ppt_h*0.6"/>
                                          </p:val>
                                        </p:tav>
                                        <p:tav tm="100000">
                                          <p:val>
                                            <p:strVal val="#ppt_h"/>
                                          </p:val>
                                        </p:tav>
                                      </p:tavLst>
                                    </p:anim>
                                  </p:childTnLst>
                                </p:cTn>
                              </p:par>
                            </p:childTnLst>
                          </p:cTn>
                        </p:par>
                        <p:par>
                          <p:cTn id="137" fill="hold">
                            <p:stCondLst>
                              <p:cond delay="742"/>
                            </p:stCondLst>
                            <p:childTnLst>
                              <p:par>
                                <p:cTn id="84" presetID="53" presetClass="entr" presetSubtype="16" fill="hold" grpId="0" nodeType="withEffect">
                                  <p:stCondLst>
                                    <p:cond delay="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450"/>
                                        <p:tgtEl>
                                          <p:spTgt spid="13"/>
                                        </p:tgtEl>
                                      </p:cBhvr>
                                    </p:animEffect>
                                    <p:anim calcmode="lin" valueType="num">
                                      <p:cBhvr additive="base">
                                        <p:cTn id="87" dur="450" fill="hold"/>
                                        <p:tgtEl>
                                          <p:spTgt spid="13"/>
                                        </p:tgtEl>
                                        <p:attrNameLst>
                                          <p:attrName>ppt_w</p:attrName>
                                        </p:attrNameLst>
                                      </p:cBhvr>
                                      <p:tavLst>
                                        <p:tav tm="0">
                                          <p:val>
                                            <p:strVal val="#ppt_w*0.6"/>
                                          </p:val>
                                        </p:tav>
                                        <p:tav tm="100000">
                                          <p:val>
                                            <p:strVal val="#ppt_w"/>
                                          </p:val>
                                        </p:tav>
                                      </p:tavLst>
                                    </p:anim>
                                    <p:anim calcmode="lin" valueType="num">
                                      <p:cBhvr additive="base">
                                        <p:cTn id="88" dur="450" fill="hold"/>
                                        <p:tgtEl>
                                          <p:spTgt spid="13"/>
                                        </p:tgtEl>
                                        <p:attrNameLst>
                                          <p:attrName>ppt_h</p:attrName>
                                        </p:attrNameLst>
                                      </p:cBhvr>
                                      <p:tavLst>
                                        <p:tav tm="0">
                                          <p:val>
                                            <p:strVal val="#ppt_h*0.6"/>
                                          </p:val>
                                        </p:tav>
                                        <p:tav tm="100000">
                                          <p:val>
                                            <p:strVal val="#ppt_h"/>
                                          </p:val>
                                        </p:tav>
                                      </p:tavLst>
                                    </p:anim>
                                  </p:childTnLst>
                                </p:cTn>
                              </p:par>
                              <p:par>
                                <p:cTn id="89" presetID="53" presetClass="entr" presetSubtype="16" fill="hold" grpId="0" nodeType="withEffect">
                                  <p:stCondLst>
                                    <p:cond delay="0"/>
                                  </p:stCondLst>
                                  <p:childTnLst>
                                    <p:set>
                                      <p:cBhvr>
                                        <p:cTn id="90" dur="1" fill="hold">
                                          <p:stCondLst>
                                            <p:cond delay="0"/>
                                          </p:stCondLst>
                                        </p:cTn>
                                        <p:tgtEl>
                                          <p:spTgt spid="14"/>
                                        </p:tgtEl>
                                        <p:attrNameLst>
                                          <p:attrName>style.visibility</p:attrName>
                                        </p:attrNameLst>
                                      </p:cBhvr>
                                      <p:to>
                                        <p:strVal val="visible"/>
                                      </p:to>
                                    </p:set>
                                    <p:animEffect transition="in" filter="fade">
                                      <p:cBhvr>
                                        <p:cTn id="91" dur="450"/>
                                        <p:tgtEl>
                                          <p:spTgt spid="14"/>
                                        </p:tgtEl>
                                      </p:cBhvr>
                                    </p:animEffect>
                                    <p:anim calcmode="lin" valueType="num">
                                      <p:cBhvr additive="base">
                                        <p:cTn id="92" dur="450" fill="hold"/>
                                        <p:tgtEl>
                                          <p:spTgt spid="14"/>
                                        </p:tgtEl>
                                        <p:attrNameLst>
                                          <p:attrName>ppt_w</p:attrName>
                                        </p:attrNameLst>
                                      </p:cBhvr>
                                      <p:tavLst>
                                        <p:tav tm="0">
                                          <p:val>
                                            <p:strVal val="#ppt_w*0.6"/>
                                          </p:val>
                                        </p:tav>
                                        <p:tav tm="100000">
                                          <p:val>
                                            <p:strVal val="#ppt_w"/>
                                          </p:val>
                                        </p:tav>
                                      </p:tavLst>
                                    </p:anim>
                                    <p:anim calcmode="lin" valueType="num">
                                      <p:cBhvr additive="base">
                                        <p:cTn id="93" dur="450" fill="hold"/>
                                        <p:tgtEl>
                                          <p:spTgt spid="14"/>
                                        </p:tgtEl>
                                        <p:attrNameLst>
                                          <p:attrName>ppt_h</p:attrName>
                                        </p:attrNameLst>
                                      </p:cBhvr>
                                      <p:tavLst>
                                        <p:tav tm="0">
                                          <p:val>
                                            <p:strVal val="#ppt_h*0.6"/>
                                          </p:val>
                                        </p:tav>
                                        <p:tav tm="100000">
                                          <p:val>
                                            <p:strVal val="#ppt_h"/>
                                          </p:val>
                                        </p:tav>
                                      </p:tavLst>
                                    </p:anim>
                                  </p:childTnLst>
                                </p:cTn>
                              </p:par>
                              <p:par>
                                <p:cTn id="94" presetID="53" presetClass="entr" presetSubtype="16"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450"/>
                                        <p:tgtEl>
                                          <p:spTgt spid="20"/>
                                        </p:tgtEl>
                                      </p:cBhvr>
                                    </p:animEffect>
                                    <p:anim calcmode="lin" valueType="num">
                                      <p:cBhvr additive="base">
                                        <p:cTn id="97" dur="450" fill="hold"/>
                                        <p:tgtEl>
                                          <p:spTgt spid="20"/>
                                        </p:tgtEl>
                                        <p:attrNameLst>
                                          <p:attrName>ppt_w</p:attrName>
                                        </p:attrNameLst>
                                      </p:cBhvr>
                                      <p:tavLst>
                                        <p:tav tm="0">
                                          <p:val>
                                            <p:strVal val="#ppt_w*0.6"/>
                                          </p:val>
                                        </p:tav>
                                        <p:tav tm="100000">
                                          <p:val>
                                            <p:strVal val="#ppt_w"/>
                                          </p:val>
                                        </p:tav>
                                      </p:tavLst>
                                    </p:anim>
                                    <p:anim calcmode="lin" valueType="num">
                                      <p:cBhvr additive="base">
                                        <p:cTn id="98" dur="450" fill="hold"/>
                                        <p:tgtEl>
                                          <p:spTgt spid="20"/>
                                        </p:tgtEl>
                                        <p:attrNameLst>
                                          <p:attrName>ppt_h</p:attrName>
                                        </p:attrNameLst>
                                      </p:cBhvr>
                                      <p:tavLst>
                                        <p:tav tm="0">
                                          <p:val>
                                            <p:strVal val="#ppt_h*0.6"/>
                                          </p:val>
                                        </p:tav>
                                        <p:tav tm="100000">
                                          <p:val>
                                            <p:strVal val="#ppt_h"/>
                                          </p:val>
                                        </p:tav>
                                      </p:tavLst>
                                    </p:anim>
                                  </p:childTnLst>
                                </p:cTn>
                              </p:par>
                              <p:par>
                                <p:cTn id="99" presetID="53" presetClass="entr" presetSubtype="16"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450"/>
                                        <p:tgtEl>
                                          <p:spTgt spid="21"/>
                                        </p:tgtEl>
                                      </p:cBhvr>
                                    </p:animEffect>
                                    <p:anim calcmode="lin" valueType="num">
                                      <p:cBhvr additive="base">
                                        <p:cTn id="102" dur="450" fill="hold"/>
                                        <p:tgtEl>
                                          <p:spTgt spid="21"/>
                                        </p:tgtEl>
                                        <p:attrNameLst>
                                          <p:attrName>ppt_w</p:attrName>
                                        </p:attrNameLst>
                                      </p:cBhvr>
                                      <p:tavLst>
                                        <p:tav tm="0">
                                          <p:val>
                                            <p:strVal val="#ppt_w*0.6"/>
                                          </p:val>
                                        </p:tav>
                                        <p:tav tm="100000">
                                          <p:val>
                                            <p:strVal val="#ppt_w"/>
                                          </p:val>
                                        </p:tav>
                                      </p:tavLst>
                                    </p:anim>
                                    <p:anim calcmode="lin" valueType="num">
                                      <p:cBhvr additive="base">
                                        <p:cTn id="103" dur="450" fill="hold"/>
                                        <p:tgtEl>
                                          <p:spTgt spid="21"/>
                                        </p:tgtEl>
                                        <p:attrNameLst>
                                          <p:attrName>ppt_h</p:attrName>
                                        </p:attrNameLst>
                                      </p:cBhvr>
                                      <p:tavLst>
                                        <p:tav tm="0">
                                          <p:val>
                                            <p:strVal val="#ppt_h*0.6"/>
                                          </p:val>
                                        </p:tav>
                                        <p:tav tm="100000">
                                          <p:val>
                                            <p:strVal val="#ppt_h"/>
                                          </p:val>
                                        </p:tav>
                                      </p:tavLst>
                                    </p:anim>
                                  </p:childTnLst>
                                </p:cTn>
                              </p:par>
                              <p:par>
                                <p:cTn id="104" presetID="53" presetClass="entr" presetSubtype="16" fill="hold" grpId="0" nodeType="with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450"/>
                                        <p:tgtEl>
                                          <p:spTgt spid="27"/>
                                        </p:tgtEl>
                                      </p:cBhvr>
                                    </p:animEffect>
                                    <p:anim calcmode="lin" valueType="num">
                                      <p:cBhvr additive="base">
                                        <p:cTn id="107" dur="450" fill="hold"/>
                                        <p:tgtEl>
                                          <p:spTgt spid="27"/>
                                        </p:tgtEl>
                                        <p:attrNameLst>
                                          <p:attrName>ppt_w</p:attrName>
                                        </p:attrNameLst>
                                      </p:cBhvr>
                                      <p:tavLst>
                                        <p:tav tm="0">
                                          <p:val>
                                            <p:strVal val="#ppt_w*0.6"/>
                                          </p:val>
                                        </p:tav>
                                        <p:tav tm="100000">
                                          <p:val>
                                            <p:strVal val="#ppt_w"/>
                                          </p:val>
                                        </p:tav>
                                      </p:tavLst>
                                    </p:anim>
                                    <p:anim calcmode="lin" valueType="num">
                                      <p:cBhvr additive="base">
                                        <p:cTn id="108" dur="450" fill="hold"/>
                                        <p:tgtEl>
                                          <p:spTgt spid="27"/>
                                        </p:tgtEl>
                                        <p:attrNameLst>
                                          <p:attrName>ppt_h</p:attrName>
                                        </p:attrNameLst>
                                      </p:cBhvr>
                                      <p:tavLst>
                                        <p:tav tm="0">
                                          <p:val>
                                            <p:strVal val="#ppt_h*0.6"/>
                                          </p:val>
                                        </p:tav>
                                        <p:tav tm="100000">
                                          <p:val>
                                            <p:strVal val="#ppt_h"/>
                                          </p:val>
                                        </p:tav>
                                      </p:tavLst>
                                    </p:anim>
                                  </p:childTnLst>
                                </p:cTn>
                              </p:par>
                              <p:par>
                                <p:cTn id="109" presetID="53" presetClass="entr" presetSubtype="16" fill="hold" grpId="0" nodeType="withEffect">
                                  <p:stCondLst>
                                    <p:cond delay="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450"/>
                                        <p:tgtEl>
                                          <p:spTgt spid="28"/>
                                        </p:tgtEl>
                                      </p:cBhvr>
                                    </p:animEffect>
                                    <p:anim calcmode="lin" valueType="num">
                                      <p:cBhvr additive="base">
                                        <p:cTn id="112" dur="450" fill="hold"/>
                                        <p:tgtEl>
                                          <p:spTgt spid="28"/>
                                        </p:tgtEl>
                                        <p:attrNameLst>
                                          <p:attrName>ppt_w</p:attrName>
                                        </p:attrNameLst>
                                      </p:cBhvr>
                                      <p:tavLst>
                                        <p:tav tm="0">
                                          <p:val>
                                            <p:strVal val="#ppt_w*0.6"/>
                                          </p:val>
                                        </p:tav>
                                        <p:tav tm="100000">
                                          <p:val>
                                            <p:strVal val="#ppt_w"/>
                                          </p:val>
                                        </p:tav>
                                      </p:tavLst>
                                    </p:anim>
                                    <p:anim calcmode="lin" valueType="num">
                                      <p:cBhvr additive="base">
                                        <p:cTn id="113" dur="450" fill="hold"/>
                                        <p:tgtEl>
                                          <p:spTgt spid="28"/>
                                        </p:tgtEl>
                                        <p:attrNameLst>
                                          <p:attrName>ppt_h</p:attrName>
                                        </p:attrNameLst>
                                      </p:cBhvr>
                                      <p:tavLst>
                                        <p:tav tm="0">
                                          <p:val>
                                            <p:strVal val="#ppt_h*0.6"/>
                                          </p:val>
                                        </p:tav>
                                        <p:tav tm="100000">
                                          <p:val>
                                            <p:strVal val="#ppt_h"/>
                                          </p:val>
                                        </p:tav>
                                      </p:tavLst>
                                    </p:anim>
                                  </p:childTnLst>
                                </p:cTn>
                              </p:par>
                            </p:childTnLst>
                          </p:cTn>
                        </p:par>
                        <p:par>
                          <p:cTn id="138" fill="hold">
                            <p:stCondLst>
                              <p:cond delay="990"/>
                            </p:stCondLst>
                            <p:childTnLst>
                              <p:par>
                                <p:cTn id="114" presetID="42" presetClass="entr" presetSubtype="0" fill="hold" grpId="0" nodeType="withEffect">
                                  <p:stCondLst>
                                    <p:cond delay="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550"/>
                                        <p:tgtEl>
                                          <p:spTgt spid="29"/>
                                        </p:tgtEl>
                                      </p:cBhvr>
                                    </p:animEffect>
                                    <p:anim calcmode="lin" valueType="num">
                                      <p:cBhvr additive="base">
                                        <p:cTn id="117" dur="550" fill="hold"/>
                                        <p:tgtEl>
                                          <p:spTgt spid="29"/>
                                        </p:tgtEl>
                                        <p:attrNameLst>
                                          <p:attrName>ppt_x</p:attrName>
                                        </p:attrNameLst>
                                      </p:cBhvr>
                                      <p:tavLst>
                                        <p:tav tm="0">
                                          <p:val>
                                            <p:strVal val="#ppt_x"/>
                                          </p:val>
                                        </p:tav>
                                        <p:tav tm="100000">
                                          <p:val>
                                            <p:strVal val="#ppt_x"/>
                                          </p:val>
                                        </p:tav>
                                      </p:tavLst>
                                    </p:anim>
                                    <p:anim calcmode="lin" valueType="num">
                                      <p:cBhvr additive="base">
                                        <p:cTn id="118" dur="550" fill="hold"/>
                                        <p:tgtEl>
                                          <p:spTgt spid="29"/>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30"/>
                                        </p:tgtEl>
                                        <p:attrNameLst>
                                          <p:attrName>style.visibility</p:attrName>
                                        </p:attrNameLst>
                                      </p:cBhvr>
                                      <p:to>
                                        <p:strVal val="visible"/>
                                      </p:to>
                                    </p:set>
                                    <p:animEffect transition="in" filter="fade">
                                      <p:cBhvr>
                                        <p:cTn id="121" dur="550"/>
                                        <p:tgtEl>
                                          <p:spTgt spid="30"/>
                                        </p:tgtEl>
                                      </p:cBhvr>
                                    </p:animEffect>
                                    <p:anim calcmode="lin" valueType="num">
                                      <p:cBhvr additive="base">
                                        <p:cTn id="122" dur="550" fill="hold"/>
                                        <p:tgtEl>
                                          <p:spTgt spid="30"/>
                                        </p:tgtEl>
                                        <p:attrNameLst>
                                          <p:attrName>ppt_x</p:attrName>
                                        </p:attrNameLst>
                                      </p:cBhvr>
                                      <p:tavLst>
                                        <p:tav tm="0">
                                          <p:val>
                                            <p:strVal val="#ppt_x"/>
                                          </p:val>
                                        </p:tav>
                                        <p:tav tm="100000">
                                          <p:val>
                                            <p:strVal val="#ppt_x"/>
                                          </p:val>
                                        </p:tav>
                                      </p:tavLst>
                                    </p:anim>
                                    <p:anim calcmode="lin" valueType="num">
                                      <p:cBhvr additive="base">
                                        <p:cTn id="123" dur="550" fill="hold"/>
                                        <p:tgtEl>
                                          <p:spTgt spid="30"/>
                                        </p:tgtEl>
                                        <p:attrNameLst>
                                          <p:attrName>ppt_y</p:attrName>
                                        </p:attrNameLst>
                                      </p:cBhvr>
                                      <p:tavLst>
                                        <p:tav tm="0">
                                          <p:val>
                                            <p:strVal val="#ppt_y+.06"/>
                                          </p:val>
                                        </p:tav>
                                        <p:tav tm="100000">
                                          <p:val>
                                            <p:strVal val="#ppt_y"/>
                                          </p:val>
                                        </p:tav>
                                      </p:tavLst>
                                    </p:anim>
                                  </p:childTnLst>
                                </p:cTn>
                              </p:par>
                            </p:childTnLst>
                          </p:cTn>
                        </p:par>
                        <p:par>
                          <p:cTn id="139" fill="hold">
                            <p:stCondLst>
                              <p:cond delay="1292"/>
                            </p:stCondLst>
                            <p:childTnLst>
                              <p:par>
                                <p:cTn id="124" presetID="42" presetClass="entr" presetSubtype="0" fill="hold" grpId="0" nodeType="withEffect">
                                  <p:stCondLst>
                                    <p:cond delay="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550"/>
                                        <p:tgtEl>
                                          <p:spTgt spid="31"/>
                                        </p:tgtEl>
                                      </p:cBhvr>
                                    </p:animEffect>
                                    <p:anim calcmode="lin" valueType="num">
                                      <p:cBhvr additive="base">
                                        <p:cTn id="127" dur="550" fill="hold"/>
                                        <p:tgtEl>
                                          <p:spTgt spid="31"/>
                                        </p:tgtEl>
                                        <p:attrNameLst>
                                          <p:attrName>ppt_x</p:attrName>
                                        </p:attrNameLst>
                                      </p:cBhvr>
                                      <p:tavLst>
                                        <p:tav tm="0">
                                          <p:val>
                                            <p:strVal val="#ppt_x"/>
                                          </p:val>
                                        </p:tav>
                                        <p:tav tm="100000">
                                          <p:val>
                                            <p:strVal val="#ppt_x"/>
                                          </p:val>
                                        </p:tav>
                                      </p:tavLst>
                                    </p:anim>
                                    <p:anim calcmode="lin" valueType="num">
                                      <p:cBhvr additive="base">
                                        <p:cTn id="128" dur="55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550"/>
                                        <p:tgtEl>
                                          <p:spTgt spid="32"/>
                                        </p:tgtEl>
                                      </p:cBhvr>
                                    </p:animEffect>
                                    <p:anim calcmode="lin" valueType="num">
                                      <p:cBhvr additive="base">
                                        <p:cTn id="132" dur="550" fill="hold"/>
                                        <p:tgtEl>
                                          <p:spTgt spid="32"/>
                                        </p:tgtEl>
                                        <p:attrNameLst>
                                          <p:attrName>ppt_x</p:attrName>
                                        </p:attrNameLst>
                                      </p:cBhvr>
                                      <p:tavLst>
                                        <p:tav tm="0">
                                          <p:val>
                                            <p:strVal val="#ppt_x"/>
                                          </p:val>
                                        </p:tav>
                                        <p:tav tm="100000">
                                          <p:val>
                                            <p:strVal val="#ppt_x"/>
                                          </p:val>
                                        </p:tav>
                                      </p:tavLst>
                                    </p:anim>
                                    <p:anim calcmode="lin" valueType="num">
                                      <p:cBhvr additive="base">
                                        <p:cTn id="133" dur="550" fill="hold"/>
                                        <p:tgtEl>
                                          <p:spTgt spid="3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5" grpId="0" animBg="1"/>
      <p:bldP spid="22" grpId="0" animBg="1"/>
      <p:bldP spid="9" grpId="0" animBg="1"/>
      <p:bldP spid="10" grpId="0" animBg="1"/>
      <p:bldP spid="16" grpId="0" animBg="1"/>
      <p:bldP spid="17" grpId="0" animBg="1"/>
      <p:bldP spid="23" grpId="0" animBg="1"/>
      <p:bldP spid="24" grpId="0" animBg="1"/>
      <p:bldP spid="11" grpId="0" animBg="1"/>
      <p:bldP spid="12" grpId="0" animBg="1"/>
      <p:bldP spid="18" grpId="0" animBg="1"/>
      <p:bldP spid="19" grpId="0" animBg="1"/>
      <p:bldP spid="25" grpId="0" animBg="1"/>
      <p:bldP spid="26" grpId="0" animBg="1"/>
      <p:bldP spid="13" grpId="0" animBg="1"/>
      <p:bldP spid="14" grpId="0" animBg="1"/>
      <p:bldP spid="20" grpId="0" animBg="1"/>
      <p:bldP spid="21" grpId="0" animBg="1"/>
      <p:bldP spid="27" grpId="0" animBg="1"/>
      <p:bldP spid="28" grpId="0" animBg="1"/>
      <p:bldP spid="29" grpId="0" animBg="1"/>
      <p:bldP spid="30" grpId="0" animBg="1"/>
      <p:bldP spid="31"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FINDING 6 · WHAT DRIVES FAILURE</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What raises the odds of failure, all else equal</a:t>
            </a:r>
            <a:endParaRPr lang="en-US" sz="3400" dirty="0"/>
          </a:p>
        </p:txBody>
      </p:sp>
      <p:sp>
        <p:nvSpPr>
          <p:cNvPr id="4" name="a01_fade_oCard"/>
          <p:cNvSpPr/>
          <p:nvPr/>
        </p:nvSpPr>
        <p:spPr>
          <a:xfrm>
            <a:off x="548640" y="1645920"/>
            <a:ext cx="7498080" cy="4434840"/>
          </a:xfrm>
          <a:prstGeom prst="roundRect">
            <a:avLst>
              <a:gd name="adj" fmla="val 2474"/>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5" name="a01_fade_oTitle"/>
          <p:cNvSpPr txBox="1"/>
          <p:nvPr/>
        </p:nvSpPr>
        <p:spPr>
          <a:xfrm>
            <a:off x="822960" y="1828800"/>
            <a:ext cx="6949440" cy="365760"/>
          </a:xfrm>
          <a:prstGeom prst="rect">
            <a:avLst/>
          </a:prstGeom>
          <a:noFill/>
          <a:ln/>
        </p:spPr>
        <p:txBody>
          <a:bodyPr wrap="square" lIns="0" tIns="0" rIns="0" bIns="0" rtlCol="0" anchor="t"/>
          <a:lstStyle/>
          <a:p>
            <a:pPr indent="0" marL="0">
              <a:buNone/>
            </a:pPr>
            <a:r>
              <a:rPr lang="en-US" sz="1500" b="1" dirty="0">
                <a:solidFill>
                  <a:schemeClr val="accent1"/>
                </a:solidFill>
              </a:rPr>
              <a:t>Odds ratio of a failed first attempt (1.0 = no effect)</a:t>
            </a:r>
            <a:endParaRPr lang="en-US" sz="1500" dirty="0"/>
          </a:p>
        </p:txBody>
      </p:sp>
      <p:graphicFrame>
        <p:nvGraphicFramePr>
          <p:cNvPr id="6" name="a02_wipe_oChart" descr=""/>
          <p:cNvGraphicFramePr/>
          <p:nvPr/>
        </p:nvGraphicFramePr>
        <p:xfrm>
          <a:off x="731520" y="2240280"/>
          <a:ext cx="7132320" cy="3749040"/>
        </p:xfrm>
        <a:graphic xmlns:a="http://schemas.openxmlformats.org/drawingml/2006/main">
          <a:graphicData uri="http://schemas.openxmlformats.org/drawingml/2006/chart">
            <c:chart xmlns:c="http://schemas.openxmlformats.org/drawingml/2006/chart" r:id="rId1"/>
          </a:graphicData>
        </a:graphic>
      </p:graphicFrame>
      <p:sp>
        <p:nvSpPr>
          <p:cNvPr id="7" name="a03_rise_d0"/>
          <p:cNvSpPr/>
          <p:nvPr/>
        </p:nvSpPr>
        <p:spPr>
          <a:xfrm>
            <a:off x="8321040" y="1645920"/>
            <a:ext cx="3291840" cy="1325880"/>
          </a:xfrm>
          <a:prstGeom prst="roundRect">
            <a:avLst>
              <a:gd name="adj" fmla="val 827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8" name="a03_rise_dIcon0_c"/>
          <p:cNvSpPr/>
          <p:nvPr/>
        </p:nvSpPr>
        <p:spPr>
          <a:xfrm>
            <a:off x="8549640" y="1965960"/>
            <a:ext cx="685800" cy="685800"/>
          </a:xfrm>
          <a:prstGeom prst="ellipse">
            <a:avLst/>
          </a:prstGeom>
          <a:solidFill>
            <a:schemeClr val="accent2"/>
          </a:solidFill>
          <a:ln/>
        </p:spPr>
      </p:sp>
      <p:pic>
        <p:nvPicPr>
          <p:cNvPr id="9" name="a03_rise_dIcon0_i" descr="preencoded.png">    </p:cNvPr>
          <p:cNvPicPr>
            <a:picLocks noChangeAspect="1"/>
          </p:cNvPicPr>
          <p:nvPr/>
        </p:nvPicPr>
        <p:blipFill>
          <a:blip r:embed="rId2"/>
          <a:stretch>
            <a:fillRect/>
          </a:stretch>
        </p:blipFill>
        <p:spPr>
          <a:xfrm>
            <a:off x="8714232" y="2130552"/>
            <a:ext cx="356616" cy="356616"/>
          </a:xfrm>
          <a:prstGeom prst="rect">
            <a:avLst/>
          </a:prstGeom>
        </p:spPr>
      </p:pic>
      <p:sp>
        <p:nvSpPr>
          <p:cNvPr id="10" name="a03_rise_dT0"/>
          <p:cNvSpPr txBox="1"/>
          <p:nvPr/>
        </p:nvSpPr>
        <p:spPr>
          <a:xfrm>
            <a:off x="9418320" y="1828800"/>
            <a:ext cx="2103120" cy="10058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7.5×  </a:t>
            </a:r>
            <a:pPr indent="0" marL="0">
              <a:buNone/>
            </a:pPr>
            <a:r>
              <a:rPr lang="en-US" sz="1500" b="1" dirty="0">
                <a:solidFill>
                  <a:schemeClr val="accent1"/>
                </a:solidFill>
              </a:rPr>
              <a:t>Age</a:t>
            </a:r>
            <a:endParaRPr lang="en-US" sz="2600" dirty="0"/>
          </a:p>
          <a:p>
            <a:pPr indent="0" marL="0">
              <a:buNone/>
            </a:pPr>
            <a:r>
              <a:rPr lang="en-US" sz="1400" dirty="0">
                <a:solidFill>
                  <a:schemeClr val="accent5"/>
                </a:solidFill>
              </a:rPr>
              <a:t>for people 75 and over</a:t>
            </a:r>
            <a:endParaRPr lang="en-US" sz="2600" dirty="0"/>
          </a:p>
        </p:txBody>
      </p:sp>
      <p:sp>
        <p:nvSpPr>
          <p:cNvPr id="11" name="a04_rise_d1"/>
          <p:cNvSpPr/>
          <p:nvPr/>
        </p:nvSpPr>
        <p:spPr>
          <a:xfrm>
            <a:off x="8321040" y="3154680"/>
            <a:ext cx="3291840" cy="1325880"/>
          </a:xfrm>
          <a:prstGeom prst="roundRect">
            <a:avLst>
              <a:gd name="adj" fmla="val 827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2" name="a04_rise_dIcon1_c"/>
          <p:cNvSpPr/>
          <p:nvPr/>
        </p:nvSpPr>
        <p:spPr>
          <a:xfrm>
            <a:off x="8549640" y="3474720"/>
            <a:ext cx="685800" cy="685800"/>
          </a:xfrm>
          <a:prstGeom prst="ellipse">
            <a:avLst/>
          </a:prstGeom>
          <a:solidFill>
            <a:schemeClr val="accent2"/>
          </a:solidFill>
          <a:ln/>
        </p:spPr>
      </p:sp>
      <p:pic>
        <p:nvPicPr>
          <p:cNvPr id="13" name="a04_rise_dIcon1_i" descr="preencoded.png">    </p:cNvPr>
          <p:cNvPicPr>
            <a:picLocks noChangeAspect="1"/>
          </p:cNvPicPr>
          <p:nvPr/>
        </p:nvPicPr>
        <p:blipFill>
          <a:blip r:embed="rId3"/>
          <a:stretch>
            <a:fillRect/>
          </a:stretch>
        </p:blipFill>
        <p:spPr>
          <a:xfrm>
            <a:off x="8714232" y="3639312"/>
            <a:ext cx="356616" cy="356616"/>
          </a:xfrm>
          <a:prstGeom prst="rect">
            <a:avLst/>
          </a:prstGeom>
        </p:spPr>
      </p:pic>
      <p:sp>
        <p:nvSpPr>
          <p:cNvPr id="14" name="a04_rise_dT1"/>
          <p:cNvSpPr txBox="1"/>
          <p:nvPr/>
        </p:nvSpPr>
        <p:spPr>
          <a:xfrm>
            <a:off x="9418320" y="3337560"/>
            <a:ext cx="2103120" cy="10058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4–5×  </a:t>
            </a:r>
            <a:pPr indent="0" marL="0">
              <a:buNone/>
            </a:pPr>
            <a:r>
              <a:rPr lang="en-US" sz="1500" b="1" dirty="0">
                <a:solidFill>
                  <a:schemeClr val="accent1"/>
                </a:solidFill>
              </a:rPr>
              <a:t>Manual work</a:t>
            </a:r>
            <a:endParaRPr lang="en-US" sz="2600" dirty="0"/>
          </a:p>
          <a:p>
            <a:pPr indent="0" marL="0">
              <a:buNone/>
            </a:pPr>
            <a:r>
              <a:rPr lang="en-US" sz="1400" dirty="0">
                <a:solidFill>
                  <a:schemeClr val="accent5"/>
                </a:solidFill>
              </a:rPr>
              <a:t>worn fingerprint ridges</a:t>
            </a:r>
            <a:endParaRPr lang="en-US" sz="2600" dirty="0"/>
          </a:p>
        </p:txBody>
      </p:sp>
      <p:sp>
        <p:nvSpPr>
          <p:cNvPr id="15" name="a05_rise_d2"/>
          <p:cNvSpPr/>
          <p:nvPr/>
        </p:nvSpPr>
        <p:spPr>
          <a:xfrm>
            <a:off x="8321040" y="4663440"/>
            <a:ext cx="3291840" cy="1325880"/>
          </a:xfrm>
          <a:prstGeom prst="roundRect">
            <a:avLst>
              <a:gd name="adj" fmla="val 8276"/>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6" name="a05_rise_dIcon2_c"/>
          <p:cNvSpPr/>
          <p:nvPr/>
        </p:nvSpPr>
        <p:spPr>
          <a:xfrm>
            <a:off x="8549640" y="4983480"/>
            <a:ext cx="685800" cy="685800"/>
          </a:xfrm>
          <a:prstGeom prst="ellipse">
            <a:avLst/>
          </a:prstGeom>
          <a:solidFill>
            <a:schemeClr val="accent2"/>
          </a:solidFill>
          <a:ln/>
        </p:spPr>
      </p:sp>
      <p:pic>
        <p:nvPicPr>
          <p:cNvPr id="17" name="a05_rise_dIcon2_i" descr="preencoded.png">    </p:cNvPr>
          <p:cNvPicPr>
            <a:picLocks noChangeAspect="1"/>
          </p:cNvPicPr>
          <p:nvPr/>
        </p:nvPicPr>
        <p:blipFill>
          <a:blip r:embed="rId4"/>
          <a:stretch>
            <a:fillRect/>
          </a:stretch>
        </p:blipFill>
        <p:spPr>
          <a:xfrm>
            <a:off x="8714232" y="5148072"/>
            <a:ext cx="356616" cy="356616"/>
          </a:xfrm>
          <a:prstGeom prst="rect">
            <a:avLst/>
          </a:prstGeom>
        </p:spPr>
      </p:pic>
      <p:sp>
        <p:nvSpPr>
          <p:cNvPr id="18" name="a05_rise_dT2"/>
          <p:cNvSpPr txBox="1"/>
          <p:nvPr/>
        </p:nvSpPr>
        <p:spPr>
          <a:xfrm>
            <a:off x="9418320" y="4846320"/>
            <a:ext cx="2103120" cy="10058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4.3×  </a:t>
            </a:r>
            <a:pPr indent="0" marL="0">
              <a:buNone/>
            </a:pPr>
            <a:r>
              <a:rPr lang="en-US" sz="1500" b="1" dirty="0">
                <a:solidFill>
                  <a:schemeClr val="accent1"/>
                </a:solidFill>
              </a:rPr>
              <a:t>Device</a:t>
            </a:r>
            <a:endParaRPr lang="en-US" sz="2600" dirty="0"/>
          </a:p>
          <a:p>
            <a:pPr indent="0" marL="0">
              <a:buNone/>
            </a:pPr>
            <a:r>
              <a:rPr lang="en-US" sz="1400" dirty="0">
                <a:solidFill>
                  <a:schemeClr val="accent5"/>
                </a:solidFill>
              </a:rPr>
              <a:t>low-quality scanners</a:t>
            </a:r>
            <a:endParaRPr lang="en-US" sz="2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77" fill="hold">
                      <p:stCondLst>
                        <p:cond delay="indefinite"/>
                        <p:cond evt="onBegin" delay="0">
                          <p:tn val="2"/>
                        </p:cond>
                      </p:stCondLst>
                      <p:childTnLst>
                        <p:par>
                          <p:cTn id="7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childTnLst>
                          </p:cTn>
                        </p:par>
                        <p:par>
                          <p:cTn id="73" fill="hold">
                            <p:stCondLst>
                              <p:cond delay="247"/>
                            </p:stCondLst>
                            <p:childTnLst>
                              <p:par>
                                <p:cTn id="9" presetID="2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700"/>
                                        <p:tgtEl>
                                          <p:spTgt spid="6"/>
                                        </p:tgtEl>
                                      </p:cBhvr>
                                    </p:animEffect>
                                  </p:childTnLst>
                                </p:cTn>
                              </p:par>
                            </p:childTnLst>
                          </p:cTn>
                        </p:par>
                        <p:par>
                          <p:cTn id="74" fill="hold">
                            <p:stCondLst>
                              <p:cond delay="632"/>
                            </p:stCondLst>
                            <p:childTnLst>
                              <p:par>
                                <p:cTn id="12" presetID="42"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50"/>
                                        <p:tgtEl>
                                          <p:spTgt spid="7"/>
                                        </p:tgtEl>
                                      </p:cBhvr>
                                    </p:animEffect>
                                    <p:anim calcmode="lin" valueType="num">
                                      <p:cBhvr additive="base">
                                        <p:cTn id="15" dur="550" fill="hold"/>
                                        <p:tgtEl>
                                          <p:spTgt spid="7"/>
                                        </p:tgtEl>
                                        <p:attrNameLst>
                                          <p:attrName>ppt_x</p:attrName>
                                        </p:attrNameLst>
                                      </p:cBhvr>
                                      <p:tavLst>
                                        <p:tav tm="0">
                                          <p:val>
                                            <p:strVal val="#ppt_x"/>
                                          </p:val>
                                        </p:tav>
                                        <p:tav tm="100000">
                                          <p:val>
                                            <p:strVal val="#ppt_x"/>
                                          </p:val>
                                        </p:tav>
                                      </p:tavLst>
                                    </p:anim>
                                    <p:anim calcmode="lin" valueType="num">
                                      <p:cBhvr additive="base">
                                        <p:cTn id="16" dur="550" fill="hold"/>
                                        <p:tgtEl>
                                          <p:spTgt spid="7"/>
                                        </p:tgtEl>
                                        <p:attrNameLst>
                                          <p:attrName>ppt_y</p:attrName>
                                        </p:attrNameLst>
                                      </p:cBhvr>
                                      <p:tavLst>
                                        <p:tav tm="0">
                                          <p:val>
                                            <p:strVal val="#ppt_y+.06"/>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50"/>
                                        <p:tgtEl>
                                          <p:spTgt spid="8"/>
                                        </p:tgtEl>
                                      </p:cBhvr>
                                    </p:animEffect>
                                    <p:anim calcmode="lin" valueType="num">
                                      <p:cBhvr additive="base">
                                        <p:cTn id="20" dur="550" fill="hold"/>
                                        <p:tgtEl>
                                          <p:spTgt spid="8"/>
                                        </p:tgtEl>
                                        <p:attrNameLst>
                                          <p:attrName>ppt_x</p:attrName>
                                        </p:attrNameLst>
                                      </p:cBhvr>
                                      <p:tavLst>
                                        <p:tav tm="0">
                                          <p:val>
                                            <p:strVal val="#ppt_x"/>
                                          </p:val>
                                        </p:tav>
                                        <p:tav tm="100000">
                                          <p:val>
                                            <p:strVal val="#ppt_x"/>
                                          </p:val>
                                        </p:tav>
                                      </p:tavLst>
                                    </p:anim>
                                    <p:anim calcmode="lin" valueType="num">
                                      <p:cBhvr additive="base">
                                        <p:cTn id="21" dur="550" fill="hold"/>
                                        <p:tgtEl>
                                          <p:spTgt spid="8"/>
                                        </p:tgtEl>
                                        <p:attrNameLst>
                                          <p:attrName>ppt_y</p:attrName>
                                        </p:attrNameLst>
                                      </p:cBhvr>
                                      <p:tavLst>
                                        <p:tav tm="0">
                                          <p:val>
                                            <p:strVal val="#ppt_y+.06"/>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50"/>
                                        <p:tgtEl>
                                          <p:spTgt spid="9"/>
                                        </p:tgtEl>
                                      </p:cBhvr>
                                    </p:animEffect>
                                    <p:anim calcmode="lin" valueType="num">
                                      <p:cBhvr additive="base">
                                        <p:cTn id="25" dur="550" fill="hold"/>
                                        <p:tgtEl>
                                          <p:spTgt spid="9"/>
                                        </p:tgtEl>
                                        <p:attrNameLst>
                                          <p:attrName>ppt_x</p:attrName>
                                        </p:attrNameLst>
                                      </p:cBhvr>
                                      <p:tavLst>
                                        <p:tav tm="0">
                                          <p:val>
                                            <p:strVal val="#ppt_x"/>
                                          </p:val>
                                        </p:tav>
                                        <p:tav tm="100000">
                                          <p:val>
                                            <p:strVal val="#ppt_x"/>
                                          </p:val>
                                        </p:tav>
                                      </p:tavLst>
                                    </p:anim>
                                    <p:anim calcmode="lin" valueType="num">
                                      <p:cBhvr additive="base">
                                        <p:cTn id="26" dur="550" fill="hold"/>
                                        <p:tgtEl>
                                          <p:spTgt spid="9"/>
                                        </p:tgtEl>
                                        <p:attrNameLst>
                                          <p:attrName>ppt_y</p:attrName>
                                        </p:attrNameLst>
                                      </p:cBhvr>
                                      <p:tavLst>
                                        <p:tav tm="0">
                                          <p:val>
                                            <p:strVal val="#ppt_y+.06"/>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50"/>
                                        <p:tgtEl>
                                          <p:spTgt spid="10"/>
                                        </p:tgtEl>
                                      </p:cBhvr>
                                    </p:animEffect>
                                    <p:anim calcmode="lin" valueType="num">
                                      <p:cBhvr additive="base">
                                        <p:cTn id="30" dur="550" fill="hold"/>
                                        <p:tgtEl>
                                          <p:spTgt spid="10"/>
                                        </p:tgtEl>
                                        <p:attrNameLst>
                                          <p:attrName>ppt_x</p:attrName>
                                        </p:attrNameLst>
                                      </p:cBhvr>
                                      <p:tavLst>
                                        <p:tav tm="0">
                                          <p:val>
                                            <p:strVal val="#ppt_x"/>
                                          </p:val>
                                        </p:tav>
                                        <p:tav tm="100000">
                                          <p:val>
                                            <p:strVal val="#ppt_x"/>
                                          </p:val>
                                        </p:tav>
                                      </p:tavLst>
                                    </p:anim>
                                    <p:anim calcmode="lin" valueType="num">
                                      <p:cBhvr additive="base">
                                        <p:cTn id="31" dur="550" fill="hold"/>
                                        <p:tgtEl>
                                          <p:spTgt spid="10"/>
                                        </p:tgtEl>
                                        <p:attrNameLst>
                                          <p:attrName>ppt_y</p:attrName>
                                        </p:attrNameLst>
                                      </p:cBhvr>
                                      <p:tavLst>
                                        <p:tav tm="0">
                                          <p:val>
                                            <p:strVal val="#ppt_y+.06"/>
                                          </p:val>
                                        </p:tav>
                                        <p:tav tm="100000">
                                          <p:val>
                                            <p:strVal val="#ppt_y"/>
                                          </p:val>
                                        </p:tav>
                                      </p:tavLst>
                                    </p:anim>
                                  </p:childTnLst>
                                </p:cTn>
                              </p:par>
                            </p:childTnLst>
                          </p:cTn>
                        </p:par>
                        <p:par>
                          <p:cTn id="75" fill="hold">
                            <p:stCondLst>
                              <p:cond delay="935"/>
                            </p:stCondLst>
                            <p:childTnLst>
                              <p:par>
                                <p:cTn id="32" presetID="42"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50"/>
                                        <p:tgtEl>
                                          <p:spTgt spid="11"/>
                                        </p:tgtEl>
                                      </p:cBhvr>
                                    </p:animEffect>
                                    <p:anim calcmode="lin" valueType="num">
                                      <p:cBhvr additive="base">
                                        <p:cTn id="35" dur="550" fill="hold"/>
                                        <p:tgtEl>
                                          <p:spTgt spid="11"/>
                                        </p:tgtEl>
                                        <p:attrNameLst>
                                          <p:attrName>ppt_x</p:attrName>
                                        </p:attrNameLst>
                                      </p:cBhvr>
                                      <p:tavLst>
                                        <p:tav tm="0">
                                          <p:val>
                                            <p:strVal val="#ppt_x"/>
                                          </p:val>
                                        </p:tav>
                                        <p:tav tm="100000">
                                          <p:val>
                                            <p:strVal val="#ppt_x"/>
                                          </p:val>
                                        </p:tav>
                                      </p:tavLst>
                                    </p:anim>
                                    <p:anim calcmode="lin" valueType="num">
                                      <p:cBhvr additive="base">
                                        <p:cTn id="36" dur="550" fill="hold"/>
                                        <p:tgtEl>
                                          <p:spTgt spid="11"/>
                                        </p:tgtEl>
                                        <p:attrNameLst>
                                          <p:attrName>ppt_y</p:attrName>
                                        </p:attrNameLst>
                                      </p:cBhvr>
                                      <p:tavLst>
                                        <p:tav tm="0">
                                          <p:val>
                                            <p:strVal val="#ppt_y+.06"/>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50"/>
                                        <p:tgtEl>
                                          <p:spTgt spid="12"/>
                                        </p:tgtEl>
                                      </p:cBhvr>
                                    </p:animEffect>
                                    <p:anim calcmode="lin" valueType="num">
                                      <p:cBhvr additive="base">
                                        <p:cTn id="40" dur="550" fill="hold"/>
                                        <p:tgtEl>
                                          <p:spTgt spid="12"/>
                                        </p:tgtEl>
                                        <p:attrNameLst>
                                          <p:attrName>ppt_x</p:attrName>
                                        </p:attrNameLst>
                                      </p:cBhvr>
                                      <p:tavLst>
                                        <p:tav tm="0">
                                          <p:val>
                                            <p:strVal val="#ppt_x"/>
                                          </p:val>
                                        </p:tav>
                                        <p:tav tm="100000">
                                          <p:val>
                                            <p:strVal val="#ppt_x"/>
                                          </p:val>
                                        </p:tav>
                                      </p:tavLst>
                                    </p:anim>
                                    <p:anim calcmode="lin" valueType="num">
                                      <p:cBhvr additive="base">
                                        <p:cTn id="41" dur="550" fill="hold"/>
                                        <p:tgtEl>
                                          <p:spTgt spid="12"/>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50"/>
                                        <p:tgtEl>
                                          <p:spTgt spid="13"/>
                                        </p:tgtEl>
                                      </p:cBhvr>
                                    </p:animEffect>
                                    <p:anim calcmode="lin" valueType="num">
                                      <p:cBhvr additive="base">
                                        <p:cTn id="45" dur="550" fill="hold"/>
                                        <p:tgtEl>
                                          <p:spTgt spid="13"/>
                                        </p:tgtEl>
                                        <p:attrNameLst>
                                          <p:attrName>ppt_x</p:attrName>
                                        </p:attrNameLst>
                                      </p:cBhvr>
                                      <p:tavLst>
                                        <p:tav tm="0">
                                          <p:val>
                                            <p:strVal val="#ppt_x"/>
                                          </p:val>
                                        </p:tav>
                                        <p:tav tm="100000">
                                          <p:val>
                                            <p:strVal val="#ppt_x"/>
                                          </p:val>
                                        </p:tav>
                                      </p:tavLst>
                                    </p:anim>
                                    <p:anim calcmode="lin" valueType="num">
                                      <p:cBhvr additive="base">
                                        <p:cTn id="46" dur="550" fill="hold"/>
                                        <p:tgtEl>
                                          <p:spTgt spid="13"/>
                                        </p:tgtEl>
                                        <p:attrNameLst>
                                          <p:attrName>ppt_y</p:attrName>
                                        </p:attrNameLst>
                                      </p:cBhvr>
                                      <p:tavLst>
                                        <p:tav tm="0">
                                          <p:val>
                                            <p:strVal val="#ppt_y+.06"/>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50"/>
                                        <p:tgtEl>
                                          <p:spTgt spid="14"/>
                                        </p:tgtEl>
                                      </p:cBhvr>
                                    </p:animEffect>
                                    <p:anim calcmode="lin" valueType="num">
                                      <p:cBhvr additive="base">
                                        <p:cTn id="50" dur="550" fill="hold"/>
                                        <p:tgtEl>
                                          <p:spTgt spid="14"/>
                                        </p:tgtEl>
                                        <p:attrNameLst>
                                          <p:attrName>ppt_x</p:attrName>
                                        </p:attrNameLst>
                                      </p:cBhvr>
                                      <p:tavLst>
                                        <p:tav tm="0">
                                          <p:val>
                                            <p:strVal val="#ppt_x"/>
                                          </p:val>
                                        </p:tav>
                                        <p:tav tm="100000">
                                          <p:val>
                                            <p:strVal val="#ppt_x"/>
                                          </p:val>
                                        </p:tav>
                                      </p:tavLst>
                                    </p:anim>
                                    <p:anim calcmode="lin" valueType="num">
                                      <p:cBhvr additive="base">
                                        <p:cTn id="51" dur="550" fill="hold"/>
                                        <p:tgtEl>
                                          <p:spTgt spid="14"/>
                                        </p:tgtEl>
                                        <p:attrNameLst>
                                          <p:attrName>ppt_y</p:attrName>
                                        </p:attrNameLst>
                                      </p:cBhvr>
                                      <p:tavLst>
                                        <p:tav tm="0">
                                          <p:val>
                                            <p:strVal val="#ppt_y+.06"/>
                                          </p:val>
                                        </p:tav>
                                        <p:tav tm="100000">
                                          <p:val>
                                            <p:strVal val="#ppt_y"/>
                                          </p:val>
                                        </p:tav>
                                      </p:tavLst>
                                    </p:anim>
                                  </p:childTnLst>
                                </p:cTn>
                              </p:par>
                            </p:childTnLst>
                          </p:cTn>
                        </p:par>
                        <p:par>
                          <p:cTn id="76" fill="hold">
                            <p:stCondLst>
                              <p:cond delay="1237"/>
                            </p:stCondLst>
                            <p:childTnLst>
                              <p:par>
                                <p:cTn id="52" presetID="42"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anim calcmode="lin" valueType="num">
                                      <p:cBhvr additive="base">
                                        <p:cTn id="55" dur="550" fill="hold"/>
                                        <p:tgtEl>
                                          <p:spTgt spid="15"/>
                                        </p:tgtEl>
                                        <p:attrNameLst>
                                          <p:attrName>ppt_x</p:attrName>
                                        </p:attrNameLst>
                                      </p:cBhvr>
                                      <p:tavLst>
                                        <p:tav tm="0">
                                          <p:val>
                                            <p:strVal val="#ppt_x"/>
                                          </p:val>
                                        </p:tav>
                                        <p:tav tm="100000">
                                          <p:val>
                                            <p:strVal val="#ppt_x"/>
                                          </p:val>
                                        </p:tav>
                                      </p:tavLst>
                                    </p:anim>
                                    <p:anim calcmode="lin" valueType="num">
                                      <p:cBhvr additive="base">
                                        <p:cTn id="56" dur="550" fill="hold"/>
                                        <p:tgtEl>
                                          <p:spTgt spid="15"/>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50"/>
                                        <p:tgtEl>
                                          <p:spTgt spid="16"/>
                                        </p:tgtEl>
                                      </p:cBhvr>
                                    </p:animEffect>
                                    <p:anim calcmode="lin" valueType="num">
                                      <p:cBhvr additive="base">
                                        <p:cTn id="60" dur="550" fill="hold"/>
                                        <p:tgtEl>
                                          <p:spTgt spid="16"/>
                                        </p:tgtEl>
                                        <p:attrNameLst>
                                          <p:attrName>ppt_x</p:attrName>
                                        </p:attrNameLst>
                                      </p:cBhvr>
                                      <p:tavLst>
                                        <p:tav tm="0">
                                          <p:val>
                                            <p:strVal val="#ppt_x"/>
                                          </p:val>
                                        </p:tav>
                                        <p:tav tm="100000">
                                          <p:val>
                                            <p:strVal val="#ppt_x"/>
                                          </p:val>
                                        </p:tav>
                                      </p:tavLst>
                                    </p:anim>
                                    <p:anim calcmode="lin" valueType="num">
                                      <p:cBhvr additive="base">
                                        <p:cTn id="61" dur="550" fill="hold"/>
                                        <p:tgtEl>
                                          <p:spTgt spid="16"/>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50"/>
                                        <p:tgtEl>
                                          <p:spTgt spid="17"/>
                                        </p:tgtEl>
                                      </p:cBhvr>
                                    </p:animEffect>
                                    <p:anim calcmode="lin" valueType="num">
                                      <p:cBhvr additive="base">
                                        <p:cTn id="65" dur="550" fill="hold"/>
                                        <p:tgtEl>
                                          <p:spTgt spid="17"/>
                                        </p:tgtEl>
                                        <p:attrNameLst>
                                          <p:attrName>ppt_x</p:attrName>
                                        </p:attrNameLst>
                                      </p:cBhvr>
                                      <p:tavLst>
                                        <p:tav tm="0">
                                          <p:val>
                                            <p:strVal val="#ppt_x"/>
                                          </p:val>
                                        </p:tav>
                                        <p:tav tm="100000">
                                          <p:val>
                                            <p:strVal val="#ppt_x"/>
                                          </p:val>
                                        </p:tav>
                                      </p:tavLst>
                                    </p:anim>
                                    <p:anim calcmode="lin" valueType="num">
                                      <p:cBhvr additive="base">
                                        <p:cTn id="66" dur="550" fill="hold"/>
                                        <p:tgtEl>
                                          <p:spTgt spid="17"/>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50"/>
                                        <p:tgtEl>
                                          <p:spTgt spid="18"/>
                                        </p:tgtEl>
                                      </p:cBhvr>
                                    </p:animEffect>
                                    <p:anim calcmode="lin" valueType="num">
                                      <p:cBhvr additive="base">
                                        <p:cTn id="70" dur="550" fill="hold"/>
                                        <p:tgtEl>
                                          <p:spTgt spid="18"/>
                                        </p:tgtEl>
                                        <p:attrNameLst>
                                          <p:attrName>ppt_x</p:attrName>
                                        </p:attrNameLst>
                                      </p:cBhvr>
                                      <p:tavLst>
                                        <p:tav tm="0">
                                          <p:val>
                                            <p:strVal val="#ppt_x"/>
                                          </p:val>
                                        </p:tav>
                                        <p:tav tm="100000">
                                          <p:val>
                                            <p:strVal val="#ppt_x"/>
                                          </p:val>
                                        </p:tav>
                                      </p:tavLst>
                                    </p:anim>
                                    <p:anim calcmode="lin" valueType="num">
                                      <p:cBhvr additive="base">
                                        <p:cTn id="71" dur="550" fill="hold"/>
                                        <p:tgtEl>
                                          <p:spTgt spid="1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AsOne/>
      </p:bldGraphic>
      <p:bldP spid="7" grpId="0" animBg="1"/>
      <p:bldP spid="8" grpId="0" animBg="1"/>
      <p:bldP spid="10" grpId="0" animBg="1"/>
      <p:bldP spid="11" grpId="0" animBg="1"/>
      <p:bldP spid="12" grpId="0" animBg="1"/>
      <p:bldP spid="14" grpId="0" animBg="1"/>
      <p:bldP spid="15" grpId="0" animBg="1"/>
      <p:bldP spid="16"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FINDING 7 · RETRIES</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Trying again does not fix it</a:t>
            </a:r>
            <a:endParaRPr lang="en-US" sz="3400" dirty="0"/>
          </a:p>
        </p:txBody>
      </p:sp>
      <p:sp>
        <p:nvSpPr>
          <p:cNvPr id="4" name="a01_fade_rCard"/>
          <p:cNvSpPr/>
          <p:nvPr/>
        </p:nvSpPr>
        <p:spPr>
          <a:xfrm>
            <a:off x="548640" y="1645920"/>
            <a:ext cx="6400800" cy="4434840"/>
          </a:xfrm>
          <a:prstGeom prst="roundRect">
            <a:avLst>
              <a:gd name="adj" fmla="val 2474"/>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5" name="a01_fade_rTitle"/>
          <p:cNvSpPr txBox="1"/>
          <p:nvPr/>
        </p:nvSpPr>
        <p:spPr>
          <a:xfrm>
            <a:off x="822960" y="1828800"/>
            <a:ext cx="5852160" cy="365760"/>
          </a:xfrm>
          <a:prstGeom prst="rect">
            <a:avLst/>
          </a:prstGeom>
          <a:noFill/>
          <a:ln/>
        </p:spPr>
        <p:txBody>
          <a:bodyPr wrap="square" lIns="0" tIns="0" rIns="0" bIns="0" rtlCol="0" anchor="t"/>
          <a:lstStyle/>
          <a:p>
            <a:pPr indent="0" marL="0">
              <a:buNone/>
            </a:pPr>
            <a:r>
              <a:rPr lang="en-US" sz="1500" b="1" dirty="0">
                <a:solidFill>
                  <a:schemeClr val="accent1"/>
                </a:solidFill>
              </a:rPr>
              <a:t>Success rate of genuine attempts</a:t>
            </a:r>
            <a:endParaRPr lang="en-US" sz="1500" dirty="0"/>
          </a:p>
        </p:txBody>
      </p:sp>
      <p:graphicFrame>
        <p:nvGraphicFramePr>
          <p:cNvPr id="6" name="a02_wipe_rChart" descr=""/>
          <p:cNvGraphicFramePr/>
          <p:nvPr/>
        </p:nvGraphicFramePr>
        <p:xfrm>
          <a:off x="731520" y="2240280"/>
          <a:ext cx="6035040" cy="3703320"/>
        </p:xfrm>
        <a:graphic xmlns:a="http://schemas.openxmlformats.org/drawingml/2006/main">
          <a:graphicData uri="http://schemas.openxmlformats.org/drawingml/2006/chart">
            <c:chart xmlns:c="http://schemas.openxmlformats.org/drawingml/2006/chart" r:id="rId1"/>
          </a:graphicData>
        </a:graphic>
      </p:graphicFrame>
      <p:sp>
        <p:nvSpPr>
          <p:cNvPr id="7" name="a03_rise_rCallout"/>
          <p:cNvSpPr/>
          <p:nvPr/>
        </p:nvSpPr>
        <p:spPr>
          <a:xfrm>
            <a:off x="7223760" y="1645920"/>
            <a:ext cx="4389120" cy="4434840"/>
          </a:xfrm>
          <a:prstGeom prst="roundRect">
            <a:avLst>
              <a:gd name="adj" fmla="val 2500"/>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8" name="a03_rise_rIcon_c"/>
          <p:cNvSpPr/>
          <p:nvPr/>
        </p:nvSpPr>
        <p:spPr>
          <a:xfrm>
            <a:off x="7543800" y="1965960"/>
            <a:ext cx="731520" cy="731520"/>
          </a:xfrm>
          <a:prstGeom prst="ellipse">
            <a:avLst/>
          </a:prstGeom>
          <a:solidFill>
            <a:schemeClr val="accent3"/>
          </a:solidFill>
          <a:ln/>
        </p:spPr>
      </p:sp>
      <p:pic>
        <p:nvPicPr>
          <p:cNvPr id="9" name="a03_rise_rIcon_i" descr="preencoded.png">    </p:cNvPr>
          <p:cNvPicPr>
            <a:picLocks noChangeAspect="1"/>
          </p:cNvPicPr>
          <p:nvPr/>
        </p:nvPicPr>
        <p:blipFill>
          <a:blip r:embed="rId2"/>
          <a:stretch>
            <a:fillRect/>
          </a:stretch>
        </p:blipFill>
        <p:spPr>
          <a:xfrm>
            <a:off x="7719365" y="2141525"/>
            <a:ext cx="380390" cy="380390"/>
          </a:xfrm>
          <a:prstGeom prst="rect">
            <a:avLst/>
          </a:prstGeom>
        </p:spPr>
      </p:pic>
      <p:sp>
        <p:nvSpPr>
          <p:cNvPr id="10" name="a04_zoom_r31"/>
          <p:cNvSpPr txBox="1"/>
          <p:nvPr/>
        </p:nvSpPr>
        <p:spPr>
          <a:xfrm>
            <a:off x="7543800" y="2834640"/>
            <a:ext cx="3840480" cy="1097280"/>
          </a:xfrm>
          <a:prstGeom prst="rect">
            <a:avLst/>
          </a:prstGeom>
          <a:noFill/>
          <a:ln/>
        </p:spPr>
        <p:txBody>
          <a:bodyPr wrap="square" lIns="0" tIns="0" rIns="0" bIns="0" rtlCol="0" anchor="t"/>
          <a:lstStyle/>
          <a:p>
            <a:pPr indent="0" marL="0">
              <a:buNone/>
            </a:pPr>
            <a:r>
              <a:rPr lang="en-US" sz="8000" b="1" dirty="0">
                <a:solidFill>
                  <a:schemeClr val="accent3"/>
                </a:solidFill>
                <a:latin typeface="Cambria" pitchFamily="34" charset="0"/>
                <a:ea typeface="Cambria" pitchFamily="34" charset="-122"/>
                <a:cs typeface="Cambria" pitchFamily="34" charset="-120"/>
              </a:rPr>
              <a:t>31</a:t>
            </a:r>
            <a:endParaRPr lang="en-US" sz="8000" dirty="0"/>
          </a:p>
        </p:txBody>
      </p:sp>
      <p:sp>
        <p:nvSpPr>
          <p:cNvPr id="11" name="a05_fade_r31T"/>
          <p:cNvSpPr txBox="1"/>
          <p:nvPr/>
        </p:nvSpPr>
        <p:spPr>
          <a:xfrm>
            <a:off x="7543800" y="3977640"/>
            <a:ext cx="3840480" cy="1920240"/>
          </a:xfrm>
          <a:prstGeom prst="rect">
            <a:avLst/>
          </a:prstGeom>
          <a:noFill/>
          <a:ln/>
        </p:spPr>
        <p:txBody>
          <a:bodyPr wrap="square" lIns="0" tIns="0" rIns="0" bIns="0" rtlCol="0" anchor="t"/>
          <a:lstStyle/>
          <a:p>
            <a:pPr indent="0" marL="0">
              <a:buNone/>
            </a:pPr>
            <a:r>
              <a:rPr lang="en-US" sz="1700" b="1" dirty="0">
                <a:solidFill>
                  <a:schemeClr val="accent1"/>
                </a:solidFill>
              </a:rPr>
              <a:t>people were denied on two or more visits.</a:t>
            </a:r>
            <a:endParaRPr lang="en-US" sz="1700" dirty="0"/>
          </a:p>
          <a:p>
            <a:pPr indent="0" marL="0">
              <a:buNone/>
            </a:pPr>
            <a:r>
              <a:rPr lang="en-US" sz="1500" dirty="0">
                <a:solidFill>
                  <a:schemeClr val="tx1"/>
                </a:solidFill>
              </a:rPr>
              <a:t>The cause, a worn fingerprint or a poor scanner, is still there on the next try. That is systematic exclusion, not bad luck.</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3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childTnLst>
                          </p:cTn>
                        </p:par>
                        <p:par>
                          <p:cTn id="36" fill="hold">
                            <p:stCondLst>
                              <p:cond delay="247"/>
                            </p:stCondLst>
                            <p:childTnLst>
                              <p:par>
                                <p:cTn id="9" presetID="2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700"/>
                                        <p:tgtEl>
                                          <p:spTgt spid="6"/>
                                        </p:tgtEl>
                                      </p:cBhvr>
                                    </p:animEffect>
                                  </p:childTnLst>
                                </p:cTn>
                              </p:par>
                            </p:childTnLst>
                          </p:cTn>
                        </p:par>
                        <p:par>
                          <p:cTn id="37" fill="hold">
                            <p:stCondLst>
                              <p:cond delay="632"/>
                            </p:stCondLst>
                            <p:childTnLst>
                              <p:par>
                                <p:cTn id="12" presetID="42"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50"/>
                                        <p:tgtEl>
                                          <p:spTgt spid="7"/>
                                        </p:tgtEl>
                                      </p:cBhvr>
                                    </p:animEffect>
                                    <p:anim calcmode="lin" valueType="num">
                                      <p:cBhvr additive="base">
                                        <p:cTn id="15" dur="550" fill="hold"/>
                                        <p:tgtEl>
                                          <p:spTgt spid="7"/>
                                        </p:tgtEl>
                                        <p:attrNameLst>
                                          <p:attrName>ppt_x</p:attrName>
                                        </p:attrNameLst>
                                      </p:cBhvr>
                                      <p:tavLst>
                                        <p:tav tm="0">
                                          <p:val>
                                            <p:strVal val="#ppt_x"/>
                                          </p:val>
                                        </p:tav>
                                        <p:tav tm="100000">
                                          <p:val>
                                            <p:strVal val="#ppt_x"/>
                                          </p:val>
                                        </p:tav>
                                      </p:tavLst>
                                    </p:anim>
                                    <p:anim calcmode="lin" valueType="num">
                                      <p:cBhvr additive="base">
                                        <p:cTn id="16" dur="550" fill="hold"/>
                                        <p:tgtEl>
                                          <p:spTgt spid="7"/>
                                        </p:tgtEl>
                                        <p:attrNameLst>
                                          <p:attrName>ppt_y</p:attrName>
                                        </p:attrNameLst>
                                      </p:cBhvr>
                                      <p:tavLst>
                                        <p:tav tm="0">
                                          <p:val>
                                            <p:strVal val="#ppt_y+.06"/>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50"/>
                                        <p:tgtEl>
                                          <p:spTgt spid="8"/>
                                        </p:tgtEl>
                                      </p:cBhvr>
                                    </p:animEffect>
                                    <p:anim calcmode="lin" valueType="num">
                                      <p:cBhvr additive="base">
                                        <p:cTn id="20" dur="550" fill="hold"/>
                                        <p:tgtEl>
                                          <p:spTgt spid="8"/>
                                        </p:tgtEl>
                                        <p:attrNameLst>
                                          <p:attrName>ppt_x</p:attrName>
                                        </p:attrNameLst>
                                      </p:cBhvr>
                                      <p:tavLst>
                                        <p:tav tm="0">
                                          <p:val>
                                            <p:strVal val="#ppt_x"/>
                                          </p:val>
                                        </p:tav>
                                        <p:tav tm="100000">
                                          <p:val>
                                            <p:strVal val="#ppt_x"/>
                                          </p:val>
                                        </p:tav>
                                      </p:tavLst>
                                    </p:anim>
                                    <p:anim calcmode="lin" valueType="num">
                                      <p:cBhvr additive="base">
                                        <p:cTn id="21" dur="550" fill="hold"/>
                                        <p:tgtEl>
                                          <p:spTgt spid="8"/>
                                        </p:tgtEl>
                                        <p:attrNameLst>
                                          <p:attrName>ppt_y</p:attrName>
                                        </p:attrNameLst>
                                      </p:cBhvr>
                                      <p:tavLst>
                                        <p:tav tm="0">
                                          <p:val>
                                            <p:strVal val="#ppt_y+.06"/>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50"/>
                                        <p:tgtEl>
                                          <p:spTgt spid="9"/>
                                        </p:tgtEl>
                                      </p:cBhvr>
                                    </p:animEffect>
                                    <p:anim calcmode="lin" valueType="num">
                                      <p:cBhvr additive="base">
                                        <p:cTn id="25" dur="550" fill="hold"/>
                                        <p:tgtEl>
                                          <p:spTgt spid="9"/>
                                        </p:tgtEl>
                                        <p:attrNameLst>
                                          <p:attrName>ppt_x</p:attrName>
                                        </p:attrNameLst>
                                      </p:cBhvr>
                                      <p:tavLst>
                                        <p:tav tm="0">
                                          <p:val>
                                            <p:strVal val="#ppt_x"/>
                                          </p:val>
                                        </p:tav>
                                        <p:tav tm="100000">
                                          <p:val>
                                            <p:strVal val="#ppt_x"/>
                                          </p:val>
                                        </p:tav>
                                      </p:tavLst>
                                    </p:anim>
                                    <p:anim calcmode="lin" valueType="num">
                                      <p:cBhvr additive="base">
                                        <p:cTn id="26" dur="550" fill="hold"/>
                                        <p:tgtEl>
                                          <p:spTgt spid="9"/>
                                        </p:tgtEl>
                                        <p:attrNameLst>
                                          <p:attrName>ppt_y</p:attrName>
                                        </p:attrNameLst>
                                      </p:cBhvr>
                                      <p:tavLst>
                                        <p:tav tm="0">
                                          <p:val>
                                            <p:strVal val="#ppt_y+.06"/>
                                          </p:val>
                                        </p:tav>
                                        <p:tav tm="100000">
                                          <p:val>
                                            <p:strVal val="#ppt_y"/>
                                          </p:val>
                                        </p:tav>
                                      </p:tavLst>
                                    </p:anim>
                                  </p:childTnLst>
                                </p:cTn>
                              </p:par>
                            </p:childTnLst>
                          </p:cTn>
                        </p:par>
                        <p:par>
                          <p:cTn id="38" fill="hold">
                            <p:stCondLst>
                              <p:cond delay="935"/>
                            </p:stCondLst>
                            <p:childTnLst>
                              <p:par>
                                <p:cTn id="27" presetID="53" presetClass="entr" presetSubtype="16"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anim calcmode="lin" valueType="num">
                                      <p:cBhvr additive="base">
                                        <p:cTn id="30" dur="450" fill="hold"/>
                                        <p:tgtEl>
                                          <p:spTgt spid="10"/>
                                        </p:tgtEl>
                                        <p:attrNameLst>
                                          <p:attrName>ppt_w</p:attrName>
                                        </p:attrNameLst>
                                      </p:cBhvr>
                                      <p:tavLst>
                                        <p:tav tm="0">
                                          <p:val>
                                            <p:strVal val="#ppt_w*0.6"/>
                                          </p:val>
                                        </p:tav>
                                        <p:tav tm="100000">
                                          <p:val>
                                            <p:strVal val="#ppt_w"/>
                                          </p:val>
                                        </p:tav>
                                      </p:tavLst>
                                    </p:anim>
                                    <p:anim calcmode="lin" valueType="num">
                                      <p:cBhvr additive="base">
                                        <p:cTn id="31" dur="450" fill="hold"/>
                                        <p:tgtEl>
                                          <p:spTgt spid="10"/>
                                        </p:tgtEl>
                                        <p:attrNameLst>
                                          <p:attrName>ppt_h</p:attrName>
                                        </p:attrNameLst>
                                      </p:cBhvr>
                                      <p:tavLst>
                                        <p:tav tm="0">
                                          <p:val>
                                            <p:strVal val="#ppt_h*0.6"/>
                                          </p:val>
                                        </p:tav>
                                        <p:tav tm="100000">
                                          <p:val>
                                            <p:strVal val="#ppt_h"/>
                                          </p:val>
                                        </p:tav>
                                      </p:tavLst>
                                    </p:anim>
                                  </p:childTnLst>
                                </p:cTn>
                              </p:par>
                            </p:childTnLst>
                          </p:cTn>
                        </p:par>
                        <p:par>
                          <p:cTn id="39" fill="hold">
                            <p:stCondLst>
                              <p:cond delay="1182"/>
                            </p:stCondLst>
                            <p:childTnLst>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AsOne/>
      </p:bldGraphic>
      <p:bldP spid="7" grpId="0" animBg="1"/>
      <p:bldP spid="8" grpId="0" animBg="1"/>
      <p:bldP spid="10"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LIVE DEMO</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The simulator: same rules, different lives</a:t>
            </a:r>
            <a:endParaRPr lang="en-US" sz="3400" dirty="0"/>
          </a:p>
        </p:txBody>
      </p:sp>
      <p:sp>
        <p:nvSpPr>
          <p:cNvPr id="4" name="a01_rise_sim_frame"/>
          <p:cNvSpPr/>
          <p:nvPr/>
        </p:nvSpPr>
        <p:spPr>
          <a:xfrm>
            <a:off x="576072" y="1627632"/>
            <a:ext cx="6711696" cy="4242816"/>
          </a:xfrm>
          <a:prstGeom prst="roundRect">
            <a:avLst>
              <a:gd name="adj" fmla="val 2155"/>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pic>
        <p:nvPicPr>
          <p:cNvPr id="5" name="a01_rise_sim_img" descr="Screenshot of the simulator screen">    </p:cNvPr>
          <p:cNvPicPr>
            <a:picLocks noChangeAspect="1"/>
          </p:cNvPicPr>
          <p:nvPr/>
        </p:nvPicPr>
        <p:blipFill>
          <a:blip r:embed="rId1"/>
          <a:stretch>
            <a:fillRect/>
          </a:stretch>
        </p:blipFill>
        <p:spPr>
          <a:xfrm>
            <a:off x="640080" y="1691640"/>
            <a:ext cx="6583680" cy="4114800"/>
          </a:xfrm>
          <a:prstGeom prst="rect">
            <a:avLst/>
          </a:prstGeom>
        </p:spPr>
      </p:pic>
      <p:sp>
        <p:nvSpPr>
          <p:cNvPr id="6" name="a02_rise_p1"/>
          <p:cNvSpPr/>
          <p:nvPr/>
        </p:nvSpPr>
        <p:spPr>
          <a:xfrm>
            <a:off x="7680960" y="1645920"/>
            <a:ext cx="3931920" cy="2103120"/>
          </a:xfrm>
          <a:prstGeom prst="roundRect">
            <a:avLst>
              <a:gd name="adj" fmla="val 5217"/>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7" name="a02_rise_p1T"/>
          <p:cNvSpPr txBox="1"/>
          <p:nvPr/>
        </p:nvSpPr>
        <p:spPr>
          <a:xfrm>
            <a:off x="7955280" y="1783080"/>
            <a:ext cx="3474720" cy="182880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56.9%</a:t>
            </a:r>
            <a:endParaRPr lang="en-US" sz="4800" dirty="0"/>
          </a:p>
          <a:p>
            <a:pPr indent="0" marL="0">
              <a:buNone/>
            </a:pPr>
            <a:r>
              <a:rPr lang="en-US" sz="1400" dirty="0">
                <a:solidFill>
                  <a:schemeClr val="tx1"/>
                </a:solidFill>
              </a:rPr>
              <a:t>Farmer, 72, remote area, low-quality scanner, poor network, dusty conditions</a:t>
            </a:r>
            <a:endParaRPr lang="en-US" sz="4800" dirty="0"/>
          </a:p>
        </p:txBody>
      </p:sp>
      <p:sp>
        <p:nvSpPr>
          <p:cNvPr id="8" name="a03_rise_p2"/>
          <p:cNvSpPr/>
          <p:nvPr/>
        </p:nvSpPr>
        <p:spPr>
          <a:xfrm>
            <a:off x="7680960" y="3931920"/>
            <a:ext cx="3931920" cy="2103120"/>
          </a:xfrm>
          <a:prstGeom prst="roundRect">
            <a:avLst>
              <a:gd name="adj" fmla="val 5217"/>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9" name="a03_rise_p2T"/>
          <p:cNvSpPr txBox="1"/>
          <p:nvPr/>
        </p:nvSpPr>
        <p:spPr>
          <a:xfrm>
            <a:off x="7955280" y="4069080"/>
            <a:ext cx="3474720" cy="182880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0.0%</a:t>
            </a:r>
            <a:endParaRPr lang="en-US" sz="4800" dirty="0"/>
          </a:p>
          <a:p>
            <a:pPr indent="0" marL="0">
              <a:buNone/>
            </a:pPr>
            <a:r>
              <a:rPr lang="en-US" sz="1400" dirty="0">
                <a:solidFill>
                  <a:schemeClr val="tx1"/>
                </a:solidFill>
              </a:rPr>
              <a:t>Office worker, 25, urban area, high-quality scanner, good network</a:t>
            </a:r>
            <a:endParaRPr lang="en-US" sz="4800" dirty="0"/>
          </a:p>
        </p:txBody>
      </p:sp>
      <p:sp>
        <p:nvSpPr>
          <p:cNvPr id="10" name="a04_fade_simFoot"/>
          <p:cNvSpPr txBox="1"/>
          <p:nvPr/>
        </p:nvSpPr>
        <p:spPr>
          <a:xfrm>
            <a:off x="548640" y="5989320"/>
            <a:ext cx="7315200" cy="274320"/>
          </a:xfrm>
          <a:prstGeom prst="rect">
            <a:avLst/>
          </a:prstGeom>
          <a:noFill/>
          <a:ln/>
        </p:spPr>
        <p:txBody>
          <a:bodyPr wrap="square" lIns="0" tIns="0" rIns="0" bIns="0" rtlCol="0" anchor="t"/>
          <a:lstStyle/>
          <a:p>
            <a:pPr indent="0" marL="0">
              <a:buNone/>
            </a:pPr>
            <a:r>
              <a:rPr lang="en-US" sz="1100" dirty="0">
                <a:solidFill>
                  <a:schemeClr val="accent5"/>
                </a:solidFill>
              </a:rPr>
              <a:t>Share of visits denied, estimated over 1,000 simulated visits each.</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36"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additive="base">
                                        <p:cTn id="6" dur="550" fill="hold"/>
                                        <p:tgtEl>
                                          <p:spTgt spid="4"/>
                                        </p:tgtEl>
                                        <p:attrNameLst>
                                          <p:attrName>ppt_x</p:attrName>
                                        </p:attrNameLst>
                                      </p:cBhvr>
                                      <p:tavLst>
                                        <p:tav tm="0">
                                          <p:val>
                                            <p:strVal val="#ppt_x"/>
                                          </p:val>
                                        </p:tav>
                                        <p:tav tm="100000">
                                          <p:val>
                                            <p:strVal val="#ppt_x"/>
                                          </p:val>
                                        </p:tav>
                                      </p:tavLst>
                                    </p:anim>
                                    <p:anim calcmode="lin" valueType="num">
                                      <p:cBhvr additive="base">
                                        <p:cTn id="7" dur="550" fill="hold"/>
                                        <p:tgtEl>
                                          <p:spTgt spid="4"/>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additive="base">
                                        <p:cTn id="11" dur="550" fill="hold"/>
                                        <p:tgtEl>
                                          <p:spTgt spid="5"/>
                                        </p:tgtEl>
                                        <p:attrNameLst>
                                          <p:attrName>ppt_x</p:attrName>
                                        </p:attrNameLst>
                                      </p:cBhvr>
                                      <p:tavLst>
                                        <p:tav tm="0">
                                          <p:val>
                                            <p:strVal val="#ppt_x"/>
                                          </p:val>
                                        </p:tav>
                                        <p:tav tm="100000">
                                          <p:val>
                                            <p:strVal val="#ppt_x"/>
                                          </p:val>
                                        </p:tav>
                                      </p:tavLst>
                                    </p:anim>
                                    <p:anim calcmode="lin" valueType="num">
                                      <p:cBhvr additive="base">
                                        <p:cTn id="12" dur="550" fill="hold"/>
                                        <p:tgtEl>
                                          <p:spTgt spid="5"/>
                                        </p:tgtEl>
                                        <p:attrNameLst>
                                          <p:attrName>ppt_y</p:attrName>
                                        </p:attrNameLst>
                                      </p:cBhvr>
                                      <p:tavLst>
                                        <p:tav tm="0">
                                          <p:val>
                                            <p:strVal val="#ppt_y+.06"/>
                                          </p:val>
                                        </p:tav>
                                        <p:tav tm="100000">
                                          <p:val>
                                            <p:strVal val="#ppt_y"/>
                                          </p:val>
                                        </p:tav>
                                      </p:tavLst>
                                    </p:anim>
                                  </p:childTnLst>
                                </p:cTn>
                              </p:par>
                            </p:childTnLst>
                          </p:cTn>
                        </p:par>
                        <p:par>
                          <p:cTn id="37" fill="hold">
                            <p:stCondLst>
                              <p:cond delay="302"/>
                            </p:stCondLst>
                            <p:childTnLst>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50"/>
                                        <p:tgtEl>
                                          <p:spTgt spid="6"/>
                                        </p:tgtEl>
                                      </p:cBhvr>
                                    </p:animEffect>
                                    <p:anim calcmode="lin" valueType="num">
                                      <p:cBhvr additive="base">
                                        <p:cTn id="16" dur="550" fill="hold"/>
                                        <p:tgtEl>
                                          <p:spTgt spid="6"/>
                                        </p:tgtEl>
                                        <p:attrNameLst>
                                          <p:attrName>ppt_x</p:attrName>
                                        </p:attrNameLst>
                                      </p:cBhvr>
                                      <p:tavLst>
                                        <p:tav tm="0">
                                          <p:val>
                                            <p:strVal val="#ppt_x"/>
                                          </p:val>
                                        </p:tav>
                                        <p:tav tm="100000">
                                          <p:val>
                                            <p:strVal val="#ppt_x"/>
                                          </p:val>
                                        </p:tav>
                                      </p:tavLst>
                                    </p:anim>
                                    <p:anim calcmode="lin" valueType="num">
                                      <p:cBhvr additive="base">
                                        <p:cTn id="17" dur="55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50"/>
                                        <p:tgtEl>
                                          <p:spTgt spid="7"/>
                                        </p:tgtEl>
                                      </p:cBhvr>
                                    </p:animEffect>
                                    <p:anim calcmode="lin" valueType="num">
                                      <p:cBhvr additive="base">
                                        <p:cTn id="21" dur="550" fill="hold"/>
                                        <p:tgtEl>
                                          <p:spTgt spid="7"/>
                                        </p:tgtEl>
                                        <p:attrNameLst>
                                          <p:attrName>ppt_x</p:attrName>
                                        </p:attrNameLst>
                                      </p:cBhvr>
                                      <p:tavLst>
                                        <p:tav tm="0">
                                          <p:val>
                                            <p:strVal val="#ppt_x"/>
                                          </p:val>
                                        </p:tav>
                                        <p:tav tm="100000">
                                          <p:val>
                                            <p:strVal val="#ppt_x"/>
                                          </p:val>
                                        </p:tav>
                                      </p:tavLst>
                                    </p:anim>
                                    <p:anim calcmode="lin" valueType="num">
                                      <p:cBhvr additive="base">
                                        <p:cTn id="22" dur="550" fill="hold"/>
                                        <p:tgtEl>
                                          <p:spTgt spid="7"/>
                                        </p:tgtEl>
                                        <p:attrNameLst>
                                          <p:attrName>ppt_y</p:attrName>
                                        </p:attrNameLst>
                                      </p:cBhvr>
                                      <p:tavLst>
                                        <p:tav tm="0">
                                          <p:val>
                                            <p:strVal val="#ppt_y+.06"/>
                                          </p:val>
                                        </p:tav>
                                        <p:tav tm="100000">
                                          <p:val>
                                            <p:strVal val="#ppt_y"/>
                                          </p:val>
                                        </p:tav>
                                      </p:tavLst>
                                    </p:anim>
                                  </p:childTnLst>
                                </p:cTn>
                              </p:par>
                            </p:childTnLst>
                          </p:cTn>
                        </p:par>
                        <p:par>
                          <p:cTn id="38" fill="hold">
                            <p:stCondLst>
                              <p:cond delay="605"/>
                            </p:stCondLst>
                            <p:childTnLst>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50"/>
                                        <p:tgtEl>
                                          <p:spTgt spid="8"/>
                                        </p:tgtEl>
                                      </p:cBhvr>
                                    </p:animEffect>
                                    <p:anim calcmode="lin" valueType="num">
                                      <p:cBhvr additive="base">
                                        <p:cTn id="26" dur="550" fill="hold"/>
                                        <p:tgtEl>
                                          <p:spTgt spid="8"/>
                                        </p:tgtEl>
                                        <p:attrNameLst>
                                          <p:attrName>ppt_x</p:attrName>
                                        </p:attrNameLst>
                                      </p:cBhvr>
                                      <p:tavLst>
                                        <p:tav tm="0">
                                          <p:val>
                                            <p:strVal val="#ppt_x"/>
                                          </p:val>
                                        </p:tav>
                                        <p:tav tm="100000">
                                          <p:val>
                                            <p:strVal val="#ppt_x"/>
                                          </p:val>
                                        </p:tav>
                                      </p:tavLst>
                                    </p:anim>
                                    <p:anim calcmode="lin" valueType="num">
                                      <p:cBhvr additive="base">
                                        <p:cTn id="27" dur="55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anim calcmode="lin" valueType="num">
                                      <p:cBhvr additive="base">
                                        <p:cTn id="31" dur="550" fill="hold"/>
                                        <p:tgtEl>
                                          <p:spTgt spid="9"/>
                                        </p:tgtEl>
                                        <p:attrNameLst>
                                          <p:attrName>ppt_x</p:attrName>
                                        </p:attrNameLst>
                                      </p:cBhvr>
                                      <p:tavLst>
                                        <p:tav tm="0">
                                          <p:val>
                                            <p:strVal val="#ppt_x"/>
                                          </p:val>
                                        </p:tav>
                                        <p:tav tm="100000">
                                          <p:val>
                                            <p:strVal val="#ppt_x"/>
                                          </p:val>
                                        </p:tav>
                                      </p:tavLst>
                                    </p:anim>
                                    <p:anim calcmode="lin" valueType="num">
                                      <p:cBhvr additive="base">
                                        <p:cTn id="32" dur="550" fill="hold"/>
                                        <p:tgtEl>
                                          <p:spTgt spid="9"/>
                                        </p:tgtEl>
                                        <p:attrNameLst>
                                          <p:attrName>ppt_y</p:attrName>
                                        </p:attrNameLst>
                                      </p:cBhvr>
                                      <p:tavLst>
                                        <p:tav tm="0">
                                          <p:val>
                                            <p:strVal val="#ppt_y+.06"/>
                                          </p:val>
                                        </p:tav>
                                        <p:tav tm="100000">
                                          <p:val>
                                            <p:strVal val="#ppt_y"/>
                                          </p:val>
                                        </p:tav>
                                      </p:tavLst>
                                    </p:anim>
                                  </p:childTnLst>
                                </p:cTn>
                              </p:par>
                            </p:childTnLst>
                          </p:cTn>
                        </p:par>
                        <p:par>
                          <p:cTn id="39" fill="hold">
                            <p:stCondLst>
                              <p:cond delay="907"/>
                            </p:stCondLst>
                            <p:childTnLst>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SOURCES OF BIAS</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Where bias enters the authentication pipeline</a:t>
            </a:r>
            <a:endParaRPr lang="en-US" sz="3400" dirty="0"/>
          </a:p>
        </p:txBody>
      </p:sp>
      <p:sp>
        <p:nvSpPr>
          <p:cNvPr id="4" name="a01_rise_st0"/>
          <p:cNvSpPr/>
          <p:nvPr/>
        </p:nvSpPr>
        <p:spPr>
          <a:xfrm>
            <a:off x="548640" y="1645920"/>
            <a:ext cx="1993392" cy="3291840"/>
          </a:xfrm>
          <a:prstGeom prst="roundRect">
            <a:avLst>
              <a:gd name="adj" fmla="val 5505"/>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5" name="a01_rise_stIcon0_c"/>
          <p:cNvSpPr/>
          <p:nvPr/>
        </p:nvSpPr>
        <p:spPr>
          <a:xfrm>
            <a:off x="777240" y="1874520"/>
            <a:ext cx="548640" cy="548640"/>
          </a:xfrm>
          <a:prstGeom prst="ellipse">
            <a:avLst/>
          </a:prstGeom>
          <a:solidFill>
            <a:schemeClr val="accent1"/>
          </a:solidFill>
          <a:ln/>
        </p:spPr>
      </p:sp>
      <p:pic>
        <p:nvPicPr>
          <p:cNvPr id="6" name="a01_rise_stIcon0_i" descr="preencoded.png">    </p:cNvPr>
          <p:cNvPicPr>
            <a:picLocks noChangeAspect="1"/>
          </p:cNvPicPr>
          <p:nvPr/>
        </p:nvPicPr>
        <p:blipFill>
          <a:blip r:embed="rId1"/>
          <a:stretch>
            <a:fillRect/>
          </a:stretch>
        </p:blipFill>
        <p:spPr>
          <a:xfrm>
            <a:off x="908914" y="2006194"/>
            <a:ext cx="285293" cy="285293"/>
          </a:xfrm>
          <a:prstGeom prst="rect">
            <a:avLst/>
          </a:prstGeom>
        </p:spPr>
      </p:pic>
      <p:sp>
        <p:nvSpPr>
          <p:cNvPr id="7" name="a01_rise_stName0"/>
          <p:cNvSpPr txBox="1"/>
          <p:nvPr/>
        </p:nvSpPr>
        <p:spPr>
          <a:xfrm>
            <a:off x="777240" y="2514600"/>
            <a:ext cx="1645920" cy="365760"/>
          </a:xfrm>
          <a:prstGeom prst="rect">
            <a:avLst/>
          </a:prstGeom>
          <a:noFill/>
          <a:ln/>
        </p:spPr>
        <p:txBody>
          <a:bodyPr wrap="square" lIns="0" tIns="0" rIns="0" bIns="0" rtlCol="0" anchor="t"/>
          <a:lstStyle/>
          <a:p>
            <a:pPr indent="0" marL="0">
              <a:buNone/>
            </a:pPr>
            <a:r>
              <a:rPr lang="en-US" sz="1600" b="1" dirty="0">
                <a:solidFill>
                  <a:schemeClr val="accent1"/>
                </a:solidFill>
              </a:rPr>
              <a:t>1. Collect</a:t>
            </a:r>
            <a:endParaRPr lang="en-US" sz="1600" dirty="0"/>
          </a:p>
        </p:txBody>
      </p:sp>
      <p:sp>
        <p:nvSpPr>
          <p:cNvPr id="8" name="a01_rise_stChip0"/>
          <p:cNvSpPr/>
          <p:nvPr/>
        </p:nvSpPr>
        <p:spPr>
          <a:xfrm>
            <a:off x="777240" y="2926080"/>
            <a:ext cx="1554480" cy="329184"/>
          </a:xfrm>
          <a:prstGeom prst="roundRect">
            <a:avLst>
              <a:gd name="adj" fmla="val 50000"/>
            </a:avLst>
          </a:prstGeom>
          <a:solidFill>
            <a:schemeClr val="accent3">
              <a:alpha val="10000"/>
            </a:schemeClr>
          </a:solidFill>
          <a:ln/>
        </p:spPr>
      </p:sp>
      <p:sp>
        <p:nvSpPr>
          <p:cNvPr id="9" name="a01_rise_stKind0"/>
          <p:cNvSpPr txBox="1"/>
          <p:nvPr/>
        </p:nvSpPr>
        <p:spPr>
          <a:xfrm>
            <a:off x="777240" y="2926080"/>
            <a:ext cx="1554480" cy="329184"/>
          </a:xfrm>
          <a:prstGeom prst="rect">
            <a:avLst/>
          </a:prstGeom>
          <a:noFill/>
          <a:ln/>
        </p:spPr>
        <p:txBody>
          <a:bodyPr wrap="square" lIns="0" tIns="0" rIns="0" bIns="0" rtlCol="0" anchor="ctr"/>
          <a:lstStyle/>
          <a:p>
            <a:pPr algn="ctr" indent="0" marL="0">
              <a:buNone/>
            </a:pPr>
            <a:r>
              <a:rPr lang="en-US" sz="1200" b="1" dirty="0">
                <a:solidFill>
                  <a:srgbClr val="B71C1C"/>
                </a:solidFill>
              </a:rPr>
              <a:t>Measurement bias</a:t>
            </a:r>
            <a:endParaRPr lang="en-US" sz="1200" dirty="0"/>
          </a:p>
        </p:txBody>
      </p:sp>
      <p:sp>
        <p:nvSpPr>
          <p:cNvPr id="10" name="a01_rise_stBody0"/>
          <p:cNvSpPr txBox="1"/>
          <p:nvPr/>
        </p:nvSpPr>
        <p:spPr>
          <a:xfrm>
            <a:off x="777240" y="3383280"/>
            <a:ext cx="1600200" cy="1463040"/>
          </a:xfrm>
          <a:prstGeom prst="rect">
            <a:avLst/>
          </a:prstGeom>
          <a:noFill/>
          <a:ln/>
        </p:spPr>
        <p:txBody>
          <a:bodyPr wrap="square" lIns="0" tIns="0" rIns="0" bIns="0" rtlCol="0" anchor="t"/>
          <a:lstStyle/>
          <a:p>
            <a:pPr indent="0" marL="0">
              <a:buNone/>
            </a:pPr>
            <a:r>
              <a:rPr lang="en-US" sz="1400" dirty="0">
                <a:solidFill>
                  <a:schemeClr val="tx1"/>
                </a:solidFill>
              </a:rPr>
              <a:t>Scanners capture worn fingers poorly: manual work costs 12 to 20 quality points.</a:t>
            </a:r>
            <a:endParaRPr lang="en-US" sz="1400" dirty="0"/>
          </a:p>
        </p:txBody>
      </p:sp>
      <p:sp>
        <p:nvSpPr>
          <p:cNvPr id="11" name="a02_wipe_stArrow0"/>
          <p:cNvSpPr/>
          <p:nvPr/>
        </p:nvSpPr>
        <p:spPr>
          <a:xfrm>
            <a:off x="2560320" y="2148840"/>
            <a:ext cx="237744" cy="0"/>
          </a:xfrm>
          <a:prstGeom prst="line">
            <a:avLst/>
          </a:prstGeom>
          <a:noFill/>
          <a:ln w="31750">
            <a:solidFill>
              <a:schemeClr val="accent2"/>
            </a:solidFill>
            <a:prstDash val="solid"/>
            <a:tailEnd type="triangle"/>
          </a:ln>
        </p:spPr>
      </p:sp>
      <p:sp>
        <p:nvSpPr>
          <p:cNvPr id="12" name="a03_rise_st1"/>
          <p:cNvSpPr/>
          <p:nvPr/>
        </p:nvSpPr>
        <p:spPr>
          <a:xfrm>
            <a:off x="2816352" y="1645920"/>
            <a:ext cx="1993392" cy="3291840"/>
          </a:xfrm>
          <a:prstGeom prst="roundRect">
            <a:avLst>
              <a:gd name="adj" fmla="val 5505"/>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3" name="a03_rise_stIcon1_c"/>
          <p:cNvSpPr/>
          <p:nvPr/>
        </p:nvSpPr>
        <p:spPr>
          <a:xfrm>
            <a:off x="3044952" y="1874520"/>
            <a:ext cx="548640" cy="548640"/>
          </a:xfrm>
          <a:prstGeom prst="ellipse">
            <a:avLst/>
          </a:prstGeom>
          <a:solidFill>
            <a:schemeClr val="accent1"/>
          </a:solidFill>
          <a:ln/>
        </p:spPr>
      </p:sp>
      <p:pic>
        <p:nvPicPr>
          <p:cNvPr id="14" name="a03_rise_stIcon1_i" descr="preencoded.png">    </p:cNvPr>
          <p:cNvPicPr>
            <a:picLocks noChangeAspect="1"/>
          </p:cNvPicPr>
          <p:nvPr/>
        </p:nvPicPr>
        <p:blipFill>
          <a:blip r:embed="rId2"/>
          <a:stretch>
            <a:fillRect/>
          </a:stretch>
        </p:blipFill>
        <p:spPr>
          <a:xfrm>
            <a:off x="3176626" y="2006194"/>
            <a:ext cx="285293" cy="285293"/>
          </a:xfrm>
          <a:prstGeom prst="rect">
            <a:avLst/>
          </a:prstGeom>
        </p:spPr>
      </p:pic>
      <p:sp>
        <p:nvSpPr>
          <p:cNvPr id="15" name="a03_rise_stName1"/>
          <p:cNvSpPr txBox="1"/>
          <p:nvPr/>
        </p:nvSpPr>
        <p:spPr>
          <a:xfrm>
            <a:off x="3044952" y="2514600"/>
            <a:ext cx="1645920" cy="365760"/>
          </a:xfrm>
          <a:prstGeom prst="rect">
            <a:avLst/>
          </a:prstGeom>
          <a:noFill/>
          <a:ln/>
        </p:spPr>
        <p:txBody>
          <a:bodyPr wrap="square" lIns="0" tIns="0" rIns="0" bIns="0" rtlCol="0" anchor="t"/>
          <a:lstStyle/>
          <a:p>
            <a:pPr indent="0" marL="0">
              <a:buNone/>
            </a:pPr>
            <a:r>
              <a:rPr lang="en-US" sz="1600" b="1" dirty="0">
                <a:solidFill>
                  <a:schemeClr val="accent1"/>
                </a:solidFill>
              </a:rPr>
              <a:t>2. Set the objective</a:t>
            </a:r>
            <a:endParaRPr lang="en-US" sz="1600" dirty="0"/>
          </a:p>
        </p:txBody>
      </p:sp>
      <p:sp>
        <p:nvSpPr>
          <p:cNvPr id="16" name="a03_rise_stChip1"/>
          <p:cNvSpPr/>
          <p:nvPr/>
        </p:nvSpPr>
        <p:spPr>
          <a:xfrm>
            <a:off x="3044952" y="2926080"/>
            <a:ext cx="1554480" cy="329184"/>
          </a:xfrm>
          <a:prstGeom prst="roundRect">
            <a:avLst>
              <a:gd name="adj" fmla="val 50000"/>
            </a:avLst>
          </a:prstGeom>
          <a:solidFill>
            <a:schemeClr val="accent3">
              <a:alpha val="10000"/>
            </a:schemeClr>
          </a:solidFill>
          <a:ln/>
        </p:spPr>
      </p:sp>
      <p:sp>
        <p:nvSpPr>
          <p:cNvPr id="17" name="a03_rise_stKind1"/>
          <p:cNvSpPr txBox="1"/>
          <p:nvPr/>
        </p:nvSpPr>
        <p:spPr>
          <a:xfrm>
            <a:off x="3044952" y="2926080"/>
            <a:ext cx="1554480" cy="329184"/>
          </a:xfrm>
          <a:prstGeom prst="rect">
            <a:avLst/>
          </a:prstGeom>
          <a:noFill/>
          <a:ln/>
        </p:spPr>
        <p:txBody>
          <a:bodyPr wrap="square" lIns="0" tIns="0" rIns="0" bIns="0" rtlCol="0" anchor="ctr"/>
          <a:lstStyle/>
          <a:p>
            <a:pPr algn="ctr" indent="0" marL="0">
              <a:buNone/>
            </a:pPr>
            <a:r>
              <a:rPr lang="en-US" sz="1200" b="1" dirty="0">
                <a:solidFill>
                  <a:srgbClr val="B71C1C"/>
                </a:solidFill>
              </a:rPr>
              <a:t>Evaluation bias</a:t>
            </a:r>
            <a:endParaRPr lang="en-US" sz="1200" dirty="0"/>
          </a:p>
        </p:txBody>
      </p:sp>
      <p:sp>
        <p:nvSpPr>
          <p:cNvPr id="18" name="a03_rise_stBody1"/>
          <p:cNvSpPr txBox="1"/>
          <p:nvPr/>
        </p:nvSpPr>
        <p:spPr>
          <a:xfrm>
            <a:off x="3044952" y="3383280"/>
            <a:ext cx="1600200" cy="1463040"/>
          </a:xfrm>
          <a:prstGeom prst="rect">
            <a:avLst/>
          </a:prstGeom>
          <a:noFill/>
          <a:ln/>
        </p:spPr>
        <p:txBody>
          <a:bodyPr wrap="square" lIns="0" tIns="0" rIns="0" bIns="0" rtlCol="0" anchor="t"/>
          <a:lstStyle/>
          <a:p>
            <a:pPr indent="0" marL="0">
              <a:buNone/>
            </a:pPr>
            <a:r>
              <a:rPr lang="en-US" sz="1400" dirty="0">
                <a:solidFill>
                  <a:schemeClr val="tx1"/>
                </a:solidFill>
              </a:rPr>
              <a:t>One threshold (0.60) tuned for security: FAR 0.6%, but FRR 24.3%.</a:t>
            </a:r>
            <a:endParaRPr lang="en-US" sz="1400" dirty="0"/>
          </a:p>
        </p:txBody>
      </p:sp>
      <p:sp>
        <p:nvSpPr>
          <p:cNvPr id="19" name="a04_wipe_stArrow1"/>
          <p:cNvSpPr/>
          <p:nvPr/>
        </p:nvSpPr>
        <p:spPr>
          <a:xfrm>
            <a:off x="4828032" y="2148840"/>
            <a:ext cx="237744" cy="0"/>
          </a:xfrm>
          <a:prstGeom prst="line">
            <a:avLst/>
          </a:prstGeom>
          <a:noFill/>
          <a:ln w="31750">
            <a:solidFill>
              <a:schemeClr val="accent2"/>
            </a:solidFill>
            <a:prstDash val="solid"/>
            <a:tailEnd type="triangle"/>
          </a:ln>
        </p:spPr>
      </p:sp>
      <p:sp>
        <p:nvSpPr>
          <p:cNvPr id="20" name="a05_rise_st2"/>
          <p:cNvSpPr/>
          <p:nvPr/>
        </p:nvSpPr>
        <p:spPr>
          <a:xfrm>
            <a:off x="5084064" y="1645920"/>
            <a:ext cx="1993392" cy="3291840"/>
          </a:xfrm>
          <a:prstGeom prst="roundRect">
            <a:avLst>
              <a:gd name="adj" fmla="val 5505"/>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21" name="a05_rise_stIcon2_c"/>
          <p:cNvSpPr/>
          <p:nvPr/>
        </p:nvSpPr>
        <p:spPr>
          <a:xfrm>
            <a:off x="5312664" y="1874520"/>
            <a:ext cx="548640" cy="548640"/>
          </a:xfrm>
          <a:prstGeom prst="ellipse">
            <a:avLst/>
          </a:prstGeom>
          <a:solidFill>
            <a:schemeClr val="accent1"/>
          </a:solidFill>
          <a:ln/>
        </p:spPr>
      </p:sp>
      <p:pic>
        <p:nvPicPr>
          <p:cNvPr id="22" name="a05_rise_stIcon2_i" descr="preencoded.png">    </p:cNvPr>
          <p:cNvPicPr>
            <a:picLocks noChangeAspect="1"/>
          </p:cNvPicPr>
          <p:nvPr/>
        </p:nvPicPr>
        <p:blipFill>
          <a:blip r:embed="rId3"/>
          <a:stretch>
            <a:fillRect/>
          </a:stretch>
        </p:blipFill>
        <p:spPr>
          <a:xfrm>
            <a:off x="5444338" y="2006194"/>
            <a:ext cx="285293" cy="285293"/>
          </a:xfrm>
          <a:prstGeom prst="rect">
            <a:avLst/>
          </a:prstGeom>
        </p:spPr>
      </p:pic>
      <p:sp>
        <p:nvSpPr>
          <p:cNvPr id="23" name="a05_rise_stName2"/>
          <p:cNvSpPr txBox="1"/>
          <p:nvPr/>
        </p:nvSpPr>
        <p:spPr>
          <a:xfrm>
            <a:off x="5312664" y="2514600"/>
            <a:ext cx="1645920" cy="365760"/>
          </a:xfrm>
          <a:prstGeom prst="rect">
            <a:avLst/>
          </a:prstGeom>
          <a:noFill/>
          <a:ln/>
        </p:spPr>
        <p:txBody>
          <a:bodyPr wrap="square" lIns="0" tIns="0" rIns="0" bIns="0" rtlCol="0" anchor="t"/>
          <a:lstStyle/>
          <a:p>
            <a:pPr indent="0" marL="0">
              <a:buNone/>
            </a:pPr>
            <a:r>
              <a:rPr lang="en-US" sz="1600" b="1" dirty="0">
                <a:solidFill>
                  <a:schemeClr val="accent1"/>
                </a:solidFill>
              </a:rPr>
              <a:t>3. Deploy</a:t>
            </a:r>
            <a:endParaRPr lang="en-US" sz="1600" dirty="0"/>
          </a:p>
        </p:txBody>
      </p:sp>
      <p:sp>
        <p:nvSpPr>
          <p:cNvPr id="24" name="a05_rise_stChip2"/>
          <p:cNvSpPr/>
          <p:nvPr/>
        </p:nvSpPr>
        <p:spPr>
          <a:xfrm>
            <a:off x="5312664" y="2926080"/>
            <a:ext cx="1554480" cy="329184"/>
          </a:xfrm>
          <a:prstGeom prst="roundRect">
            <a:avLst>
              <a:gd name="adj" fmla="val 50000"/>
            </a:avLst>
          </a:prstGeom>
          <a:solidFill>
            <a:schemeClr val="accent3">
              <a:alpha val="10000"/>
            </a:schemeClr>
          </a:solidFill>
          <a:ln/>
        </p:spPr>
      </p:sp>
      <p:sp>
        <p:nvSpPr>
          <p:cNvPr id="25" name="a05_rise_stKind2"/>
          <p:cNvSpPr txBox="1"/>
          <p:nvPr/>
        </p:nvSpPr>
        <p:spPr>
          <a:xfrm>
            <a:off x="5312664" y="2926080"/>
            <a:ext cx="1554480" cy="329184"/>
          </a:xfrm>
          <a:prstGeom prst="rect">
            <a:avLst/>
          </a:prstGeom>
          <a:noFill/>
          <a:ln/>
        </p:spPr>
        <p:txBody>
          <a:bodyPr wrap="square" lIns="0" tIns="0" rIns="0" bIns="0" rtlCol="0" anchor="ctr"/>
          <a:lstStyle/>
          <a:p>
            <a:pPr algn="ctr" indent="0" marL="0">
              <a:buNone/>
            </a:pPr>
            <a:r>
              <a:rPr lang="en-US" sz="1200" b="1" dirty="0">
                <a:solidFill>
                  <a:srgbClr val="B71C1C"/>
                </a:solidFill>
              </a:rPr>
              <a:t>Deployment bias</a:t>
            </a:r>
            <a:endParaRPr lang="en-US" sz="1200" dirty="0"/>
          </a:p>
        </p:txBody>
      </p:sp>
      <p:sp>
        <p:nvSpPr>
          <p:cNvPr id="26" name="a05_rise_stBody2"/>
          <p:cNvSpPr txBox="1"/>
          <p:nvPr/>
        </p:nvSpPr>
        <p:spPr>
          <a:xfrm>
            <a:off x="5312664" y="3383280"/>
            <a:ext cx="1600200" cy="1463040"/>
          </a:xfrm>
          <a:prstGeom prst="rect">
            <a:avLst/>
          </a:prstGeom>
          <a:noFill/>
          <a:ln/>
        </p:spPr>
        <p:txBody>
          <a:bodyPr wrap="square" lIns="0" tIns="0" rIns="0" bIns="0" rtlCol="0" anchor="t"/>
          <a:lstStyle/>
          <a:p>
            <a:pPr indent="0" marL="0">
              <a:buNone/>
            </a:pPr>
            <a:r>
              <a:rPr lang="en-US" sz="1400" dirty="0">
                <a:solidFill>
                  <a:schemeClr val="tx1"/>
                </a:solidFill>
              </a:rPr>
              <a:t>Remote areas are given Low devices on 57% of visits; cities on 12%.</a:t>
            </a:r>
            <a:endParaRPr lang="en-US" sz="1400" dirty="0"/>
          </a:p>
        </p:txBody>
      </p:sp>
      <p:sp>
        <p:nvSpPr>
          <p:cNvPr id="27" name="a06_wipe_stArrow2"/>
          <p:cNvSpPr/>
          <p:nvPr/>
        </p:nvSpPr>
        <p:spPr>
          <a:xfrm>
            <a:off x="7095744" y="2148840"/>
            <a:ext cx="237744" cy="0"/>
          </a:xfrm>
          <a:prstGeom prst="line">
            <a:avLst/>
          </a:prstGeom>
          <a:noFill/>
          <a:ln w="31750">
            <a:solidFill>
              <a:schemeClr val="accent2"/>
            </a:solidFill>
            <a:prstDash val="solid"/>
            <a:tailEnd type="triangle"/>
          </a:ln>
        </p:spPr>
      </p:sp>
      <p:sp>
        <p:nvSpPr>
          <p:cNvPr id="28" name="a07_rise_st3"/>
          <p:cNvSpPr/>
          <p:nvPr/>
        </p:nvSpPr>
        <p:spPr>
          <a:xfrm>
            <a:off x="7351776" y="1645920"/>
            <a:ext cx="1993392" cy="3291840"/>
          </a:xfrm>
          <a:prstGeom prst="roundRect">
            <a:avLst>
              <a:gd name="adj" fmla="val 5505"/>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29" name="a07_rise_stIcon3_c"/>
          <p:cNvSpPr/>
          <p:nvPr/>
        </p:nvSpPr>
        <p:spPr>
          <a:xfrm>
            <a:off x="7580376" y="1874520"/>
            <a:ext cx="548640" cy="548640"/>
          </a:xfrm>
          <a:prstGeom prst="ellipse">
            <a:avLst/>
          </a:prstGeom>
          <a:solidFill>
            <a:schemeClr val="accent3"/>
          </a:solidFill>
          <a:ln/>
        </p:spPr>
      </p:sp>
      <p:pic>
        <p:nvPicPr>
          <p:cNvPr id="30" name="a07_rise_stIcon3_i" descr="preencoded.png">    </p:cNvPr>
          <p:cNvPicPr>
            <a:picLocks noChangeAspect="1"/>
          </p:cNvPicPr>
          <p:nvPr/>
        </p:nvPicPr>
        <p:blipFill>
          <a:blip r:embed="rId4"/>
          <a:stretch>
            <a:fillRect/>
          </a:stretch>
        </p:blipFill>
        <p:spPr>
          <a:xfrm>
            <a:off x="7712050" y="2006194"/>
            <a:ext cx="285293" cy="285293"/>
          </a:xfrm>
          <a:prstGeom prst="rect">
            <a:avLst/>
          </a:prstGeom>
        </p:spPr>
      </p:pic>
      <p:sp>
        <p:nvSpPr>
          <p:cNvPr id="31" name="a07_rise_stName3"/>
          <p:cNvSpPr txBox="1"/>
          <p:nvPr/>
        </p:nvSpPr>
        <p:spPr>
          <a:xfrm>
            <a:off x="7580376" y="2514600"/>
            <a:ext cx="1645920" cy="365760"/>
          </a:xfrm>
          <a:prstGeom prst="rect">
            <a:avLst/>
          </a:prstGeom>
          <a:noFill/>
          <a:ln/>
        </p:spPr>
        <p:txBody>
          <a:bodyPr wrap="square" lIns="0" tIns="0" rIns="0" bIns="0" rtlCol="0" anchor="t"/>
          <a:lstStyle/>
          <a:p>
            <a:pPr indent="0" marL="0">
              <a:buNone/>
            </a:pPr>
            <a:r>
              <a:rPr lang="en-US" sz="1600" b="1" dirty="0">
                <a:solidFill>
                  <a:schemeClr val="accent1"/>
                </a:solidFill>
              </a:rPr>
              <a:t>4. People feel it</a:t>
            </a:r>
            <a:endParaRPr lang="en-US" sz="1600" dirty="0"/>
          </a:p>
        </p:txBody>
      </p:sp>
      <p:sp>
        <p:nvSpPr>
          <p:cNvPr id="32" name="a07_rise_stChip3"/>
          <p:cNvSpPr/>
          <p:nvPr/>
        </p:nvSpPr>
        <p:spPr>
          <a:xfrm>
            <a:off x="7580376" y="2926080"/>
            <a:ext cx="1554480" cy="329184"/>
          </a:xfrm>
          <a:prstGeom prst="roundRect">
            <a:avLst>
              <a:gd name="adj" fmla="val 50000"/>
            </a:avLst>
          </a:prstGeom>
          <a:solidFill>
            <a:schemeClr val="accent3">
              <a:alpha val="10000"/>
            </a:schemeClr>
          </a:solidFill>
          <a:ln/>
        </p:spPr>
      </p:sp>
      <p:sp>
        <p:nvSpPr>
          <p:cNvPr id="33" name="a07_rise_stKind3"/>
          <p:cNvSpPr txBox="1"/>
          <p:nvPr/>
        </p:nvSpPr>
        <p:spPr>
          <a:xfrm>
            <a:off x="7580376" y="2926080"/>
            <a:ext cx="1554480" cy="329184"/>
          </a:xfrm>
          <a:prstGeom prst="rect">
            <a:avLst/>
          </a:prstGeom>
          <a:noFill/>
          <a:ln/>
        </p:spPr>
        <p:txBody>
          <a:bodyPr wrap="square" lIns="0" tIns="0" rIns="0" bIns="0" rtlCol="0" anchor="ctr"/>
          <a:lstStyle/>
          <a:p>
            <a:pPr algn="ctr" indent="0" marL="0">
              <a:buNone/>
            </a:pPr>
            <a:r>
              <a:rPr lang="en-US" sz="1200" b="1" dirty="0">
                <a:solidFill>
                  <a:srgbClr val="B71C1C"/>
                </a:solidFill>
              </a:rPr>
              <a:t>Disparate impact</a:t>
            </a:r>
            <a:endParaRPr lang="en-US" sz="1200" dirty="0"/>
          </a:p>
        </p:txBody>
      </p:sp>
      <p:sp>
        <p:nvSpPr>
          <p:cNvPr id="34" name="a07_rise_stBody3"/>
          <p:cNvSpPr txBox="1"/>
          <p:nvPr/>
        </p:nvSpPr>
        <p:spPr>
          <a:xfrm>
            <a:off x="7580376" y="3383280"/>
            <a:ext cx="1600200" cy="1463040"/>
          </a:xfrm>
          <a:prstGeom prst="rect">
            <a:avLst/>
          </a:prstGeom>
          <a:noFill/>
          <a:ln/>
        </p:spPr>
        <p:txBody>
          <a:bodyPr wrap="square" lIns="0" tIns="0" rIns="0" bIns="0" rtlCol="0" anchor="t"/>
          <a:lstStyle/>
          <a:p>
            <a:pPr indent="0" marL="0">
              <a:buNone/>
            </a:pPr>
            <a:r>
              <a:rPr lang="en-US" sz="1400" dirty="0">
                <a:solidFill>
                  <a:schemeClr val="tx1"/>
                </a:solidFill>
              </a:rPr>
              <a:t>Denied: 21.7% of visits for 75+, 5.8% for farmers, 0.1% for office workers.</a:t>
            </a:r>
            <a:endParaRPr lang="en-US" sz="1400" dirty="0"/>
          </a:p>
        </p:txBody>
      </p:sp>
      <p:sp>
        <p:nvSpPr>
          <p:cNvPr id="35" name="a08_wipe_stArrow3"/>
          <p:cNvSpPr/>
          <p:nvPr/>
        </p:nvSpPr>
        <p:spPr>
          <a:xfrm>
            <a:off x="9363456" y="2148840"/>
            <a:ext cx="237744" cy="0"/>
          </a:xfrm>
          <a:prstGeom prst="line">
            <a:avLst/>
          </a:prstGeom>
          <a:noFill/>
          <a:ln w="31750">
            <a:solidFill>
              <a:schemeClr val="accent2"/>
            </a:solidFill>
            <a:prstDash val="solid"/>
            <a:tailEnd type="triangle"/>
          </a:ln>
        </p:spPr>
      </p:sp>
      <p:sp>
        <p:nvSpPr>
          <p:cNvPr id="36" name="a09_rise_st4"/>
          <p:cNvSpPr/>
          <p:nvPr/>
        </p:nvSpPr>
        <p:spPr>
          <a:xfrm>
            <a:off x="9619488" y="1645920"/>
            <a:ext cx="1993392" cy="3291840"/>
          </a:xfrm>
          <a:prstGeom prst="roundRect">
            <a:avLst>
              <a:gd name="adj" fmla="val 5505"/>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37" name="a09_rise_stIcon4_c"/>
          <p:cNvSpPr/>
          <p:nvPr/>
        </p:nvSpPr>
        <p:spPr>
          <a:xfrm>
            <a:off x="9848088" y="1874520"/>
            <a:ext cx="548640" cy="548640"/>
          </a:xfrm>
          <a:prstGeom prst="ellipse">
            <a:avLst/>
          </a:prstGeom>
          <a:solidFill>
            <a:schemeClr val="accent1"/>
          </a:solidFill>
          <a:ln/>
        </p:spPr>
      </p:sp>
      <p:pic>
        <p:nvPicPr>
          <p:cNvPr id="38" name="a09_rise_stIcon4_i" descr="preencoded.png">    </p:cNvPr>
          <p:cNvPicPr>
            <a:picLocks noChangeAspect="1"/>
          </p:cNvPicPr>
          <p:nvPr/>
        </p:nvPicPr>
        <p:blipFill>
          <a:blip r:embed="rId5"/>
          <a:stretch>
            <a:fillRect/>
          </a:stretch>
        </p:blipFill>
        <p:spPr>
          <a:xfrm>
            <a:off x="9979762" y="2006194"/>
            <a:ext cx="285293" cy="285293"/>
          </a:xfrm>
          <a:prstGeom prst="rect">
            <a:avLst/>
          </a:prstGeom>
        </p:spPr>
      </p:pic>
      <p:sp>
        <p:nvSpPr>
          <p:cNvPr id="39" name="a09_rise_stName4"/>
          <p:cNvSpPr txBox="1"/>
          <p:nvPr/>
        </p:nvSpPr>
        <p:spPr>
          <a:xfrm>
            <a:off x="9848088" y="2514600"/>
            <a:ext cx="1645920" cy="365760"/>
          </a:xfrm>
          <a:prstGeom prst="rect">
            <a:avLst/>
          </a:prstGeom>
          <a:noFill/>
          <a:ln/>
        </p:spPr>
        <p:txBody>
          <a:bodyPr wrap="square" lIns="0" tIns="0" rIns="0" bIns="0" rtlCol="0" anchor="t"/>
          <a:lstStyle/>
          <a:p>
            <a:pPr indent="0" marL="0">
              <a:buNone/>
            </a:pPr>
            <a:r>
              <a:rPr lang="en-US" sz="1600" b="1" dirty="0">
                <a:solidFill>
                  <a:schemeClr val="accent1"/>
                </a:solidFill>
              </a:rPr>
              <a:t>5. Feedback</a:t>
            </a:r>
            <a:endParaRPr lang="en-US" sz="1600" dirty="0"/>
          </a:p>
        </p:txBody>
      </p:sp>
      <p:sp>
        <p:nvSpPr>
          <p:cNvPr id="40" name="a09_rise_stChip4"/>
          <p:cNvSpPr/>
          <p:nvPr/>
        </p:nvSpPr>
        <p:spPr>
          <a:xfrm>
            <a:off x="9848088" y="2926080"/>
            <a:ext cx="1554480" cy="329184"/>
          </a:xfrm>
          <a:prstGeom prst="roundRect">
            <a:avLst>
              <a:gd name="adj" fmla="val 50000"/>
            </a:avLst>
          </a:prstGeom>
          <a:solidFill>
            <a:schemeClr val="accent3">
              <a:alpha val="10000"/>
            </a:schemeClr>
          </a:solidFill>
          <a:ln/>
        </p:spPr>
      </p:sp>
      <p:sp>
        <p:nvSpPr>
          <p:cNvPr id="41" name="a09_rise_stKind4"/>
          <p:cNvSpPr txBox="1"/>
          <p:nvPr/>
        </p:nvSpPr>
        <p:spPr>
          <a:xfrm>
            <a:off x="9848088" y="2926080"/>
            <a:ext cx="1554480" cy="329184"/>
          </a:xfrm>
          <a:prstGeom prst="rect">
            <a:avLst/>
          </a:prstGeom>
          <a:noFill/>
          <a:ln/>
        </p:spPr>
        <p:txBody>
          <a:bodyPr wrap="square" lIns="0" tIns="0" rIns="0" bIns="0" rtlCol="0" anchor="ctr"/>
          <a:lstStyle/>
          <a:p>
            <a:pPr algn="ctr" indent="0" marL="0">
              <a:buNone/>
            </a:pPr>
            <a:r>
              <a:rPr lang="en-US" sz="1200" b="1" dirty="0">
                <a:solidFill>
                  <a:srgbClr val="B71C1C"/>
                </a:solidFill>
              </a:rPr>
              <a:t>Hidden exclusion</a:t>
            </a:r>
            <a:endParaRPr lang="en-US" sz="1200" dirty="0"/>
          </a:p>
        </p:txBody>
      </p:sp>
      <p:sp>
        <p:nvSpPr>
          <p:cNvPr id="42" name="a09_rise_stBody4"/>
          <p:cNvSpPr txBox="1"/>
          <p:nvPr/>
        </p:nvSpPr>
        <p:spPr>
          <a:xfrm>
            <a:off x="9848088" y="3383280"/>
            <a:ext cx="1600200" cy="1463040"/>
          </a:xfrm>
          <a:prstGeom prst="rect">
            <a:avLst/>
          </a:prstGeom>
          <a:noFill/>
          <a:ln/>
        </p:spPr>
        <p:txBody>
          <a:bodyPr wrap="square" lIns="0" tIns="0" rIns="0" bIns="0" rtlCol="0" anchor="t"/>
          <a:lstStyle/>
          <a:p>
            <a:pPr indent="0" marL="0">
              <a:buNone/>
            </a:pPr>
            <a:r>
              <a:rPr lang="en-US" sz="1400" dirty="0">
                <a:solidFill>
                  <a:schemeClr val="tx1"/>
                </a:solidFill>
              </a:rPr>
              <a:t>People who give up after repeated denials leave no trace in the logs.</a:t>
            </a:r>
            <a:endParaRPr lang="en-US" sz="1400" dirty="0"/>
          </a:p>
        </p:txBody>
      </p:sp>
      <p:sp>
        <p:nvSpPr>
          <p:cNvPr id="43" name="a10_fade_loopA"/>
          <p:cNvSpPr/>
          <p:nvPr/>
        </p:nvSpPr>
        <p:spPr>
          <a:xfrm>
            <a:off x="10616184" y="4937760"/>
            <a:ext cx="0" cy="201168"/>
          </a:xfrm>
          <a:prstGeom prst="line">
            <a:avLst/>
          </a:prstGeom>
          <a:noFill/>
          <a:ln w="31750">
            <a:solidFill>
              <a:schemeClr val="accent2"/>
            </a:solidFill>
            <a:prstDash val="solid"/>
          </a:ln>
        </p:spPr>
      </p:sp>
      <p:sp>
        <p:nvSpPr>
          <p:cNvPr id="44" name="a10_fade_loopB"/>
          <p:cNvSpPr/>
          <p:nvPr/>
        </p:nvSpPr>
        <p:spPr>
          <a:xfrm>
            <a:off x="1545336" y="5138928"/>
            <a:ext cx="9070848" cy="0"/>
          </a:xfrm>
          <a:prstGeom prst="line">
            <a:avLst/>
          </a:prstGeom>
          <a:noFill/>
          <a:ln w="31750">
            <a:solidFill>
              <a:schemeClr val="accent2"/>
            </a:solidFill>
            <a:prstDash val="solid"/>
          </a:ln>
        </p:spPr>
      </p:sp>
      <p:sp>
        <p:nvSpPr>
          <p:cNvPr id="45" name="a10_fade_loopC"/>
          <p:cNvSpPr/>
          <p:nvPr/>
        </p:nvSpPr>
        <p:spPr>
          <a:xfrm>
            <a:off x="1545336" y="4937760"/>
            <a:ext cx="0" cy="201168"/>
          </a:xfrm>
          <a:prstGeom prst="line">
            <a:avLst/>
          </a:prstGeom>
          <a:noFill/>
          <a:ln w="31750">
            <a:solidFill>
              <a:schemeClr val="accent2"/>
            </a:solidFill>
            <a:prstDash val="solid"/>
            <a:headEnd type="triangle"/>
          </a:ln>
        </p:spPr>
      </p:sp>
      <p:sp>
        <p:nvSpPr>
          <p:cNvPr id="46" name="a10_fade_loopT"/>
          <p:cNvSpPr txBox="1"/>
          <p:nvPr/>
        </p:nvSpPr>
        <p:spPr>
          <a:xfrm>
            <a:off x="3840480" y="5175504"/>
            <a:ext cx="4572000" cy="256032"/>
          </a:xfrm>
          <a:prstGeom prst="rect">
            <a:avLst/>
          </a:prstGeom>
          <a:noFill/>
          <a:ln/>
        </p:spPr>
        <p:txBody>
          <a:bodyPr wrap="square" lIns="0" tIns="0" rIns="0" bIns="0" rtlCol="0" anchor="t"/>
          <a:lstStyle/>
          <a:p>
            <a:pPr algn="ctr" indent="0" marL="0">
              <a:buNone/>
            </a:pPr>
            <a:r>
              <a:rPr lang="en-US" sz="1200" dirty="0">
                <a:solidFill>
                  <a:schemeClr val="accent5"/>
                </a:solidFill>
              </a:rPr>
              <a:t>feedback loop: the data never shows who stopped coming</a:t>
            </a:r>
            <a:endParaRPr lang="en-US" sz="1200" dirty="0"/>
          </a:p>
        </p:txBody>
      </p:sp>
      <p:sp>
        <p:nvSpPr>
          <p:cNvPr id="47" name="a11_rise_mr0"/>
          <p:cNvSpPr/>
          <p:nvPr/>
        </p:nvSpPr>
        <p:spPr>
          <a:xfrm>
            <a:off x="548640" y="5504688"/>
            <a:ext cx="5394960" cy="749808"/>
          </a:xfrm>
          <a:prstGeom prst="roundRect">
            <a:avLst>
              <a:gd name="adj" fmla="val 14634"/>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48" name="a11_rise_mrT0"/>
          <p:cNvSpPr txBox="1"/>
          <p:nvPr/>
        </p:nvSpPr>
        <p:spPr>
          <a:xfrm>
            <a:off x="777240" y="5532120"/>
            <a:ext cx="4983480" cy="694944"/>
          </a:xfrm>
          <a:prstGeom prst="rect">
            <a:avLst/>
          </a:prstGeom>
          <a:noFill/>
          <a:ln/>
        </p:spPr>
        <p:txBody>
          <a:bodyPr wrap="square" lIns="0" tIns="0" rIns="0" bIns="0" rtlCol="0" anchor="ctr"/>
          <a:lstStyle/>
          <a:p>
            <a:pPr indent="0" marL="0">
              <a:buNone/>
            </a:pPr>
            <a:r>
              <a:rPr lang="en-US" sz="1500" b="1" dirty="0">
                <a:solidFill>
                  <a:schemeClr val="accent1"/>
                </a:solidFill>
              </a:rPr>
              <a:t>Measure bias.  </a:t>
            </a:r>
            <a:pPr indent="0" marL="0">
              <a:buNone/>
            </a:pPr>
            <a:r>
              <a:rPr lang="en-US" sz="1400" dirty="0">
                <a:solidFill>
                  <a:schemeClr val="tx1"/>
                </a:solidFill>
              </a:rPr>
              <a:t>Subgroup denial rates, the four-fifths rule, chi-square and odds ratios: this project.</a:t>
            </a:r>
            <a:endParaRPr lang="en-US" sz="1500" dirty="0"/>
          </a:p>
        </p:txBody>
      </p:sp>
      <p:sp>
        <p:nvSpPr>
          <p:cNvPr id="49" name="a12_rise_mr1"/>
          <p:cNvSpPr/>
          <p:nvPr/>
        </p:nvSpPr>
        <p:spPr>
          <a:xfrm>
            <a:off x="6217920" y="5504688"/>
            <a:ext cx="5394960" cy="749808"/>
          </a:xfrm>
          <a:prstGeom prst="roundRect">
            <a:avLst>
              <a:gd name="adj" fmla="val 14634"/>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50" name="a12_rise_mrT1"/>
          <p:cNvSpPr txBox="1"/>
          <p:nvPr/>
        </p:nvSpPr>
        <p:spPr>
          <a:xfrm>
            <a:off x="6446520" y="5532120"/>
            <a:ext cx="4983480" cy="694944"/>
          </a:xfrm>
          <a:prstGeom prst="rect">
            <a:avLst/>
          </a:prstGeom>
          <a:noFill/>
          <a:ln/>
        </p:spPr>
        <p:txBody>
          <a:bodyPr wrap="square" lIns="0" tIns="0" rIns="0" bIns="0" rtlCol="0" anchor="ctr"/>
          <a:lstStyle/>
          <a:p>
            <a:pPr indent="0" marL="0">
              <a:buNone/>
            </a:pPr>
            <a:r>
              <a:rPr lang="en-US" sz="1500" b="1" dirty="0">
                <a:solidFill>
                  <a:schemeClr val="accent4"/>
                </a:solidFill>
              </a:rPr>
              <a:t>Remove bias.  </a:t>
            </a:r>
            <a:pPr indent="0" marL="0">
              <a:buNone/>
            </a:pPr>
            <a:r>
              <a:rPr lang="en-US" sz="1400" dirty="0">
                <a:solidFill>
                  <a:schemeClr val="tx1"/>
                </a:solidFill>
              </a:rPr>
              <a:t>Better devices, fallbacks, exemptions and public audits: our recommendations.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234" fill="hold">
                      <p:stCondLst>
                        <p:cond delay="indefinite"/>
                        <p:cond evt="onBegin" delay="0">
                          <p:tn val="2"/>
                        </p:cond>
                      </p:stCondLst>
                      <p:childTnLst>
                        <p:par>
                          <p:cTn id="222"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additive="base">
                                        <p:cTn id="6" dur="550" fill="hold"/>
                                        <p:tgtEl>
                                          <p:spTgt spid="4"/>
                                        </p:tgtEl>
                                        <p:attrNameLst>
                                          <p:attrName>ppt_x</p:attrName>
                                        </p:attrNameLst>
                                      </p:cBhvr>
                                      <p:tavLst>
                                        <p:tav tm="0">
                                          <p:val>
                                            <p:strVal val="#ppt_x"/>
                                          </p:val>
                                        </p:tav>
                                        <p:tav tm="100000">
                                          <p:val>
                                            <p:strVal val="#ppt_x"/>
                                          </p:val>
                                        </p:tav>
                                      </p:tavLst>
                                    </p:anim>
                                    <p:anim calcmode="lin" valueType="num">
                                      <p:cBhvr additive="base">
                                        <p:cTn id="7" dur="550" fill="hold"/>
                                        <p:tgtEl>
                                          <p:spTgt spid="4"/>
                                        </p:tgtEl>
                                        <p:attrNameLst>
                                          <p:attrName>ppt_y</p:attrName>
                                        </p:attrNameLst>
                                      </p:cBhvr>
                                      <p:tavLst>
                                        <p:tav tm="0">
                                          <p:val>
                                            <p:strVal val="#ppt_y+.06"/>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additive="base">
                                        <p:cTn id="11" dur="550" fill="hold"/>
                                        <p:tgtEl>
                                          <p:spTgt spid="5"/>
                                        </p:tgtEl>
                                        <p:attrNameLst>
                                          <p:attrName>ppt_x</p:attrName>
                                        </p:attrNameLst>
                                      </p:cBhvr>
                                      <p:tavLst>
                                        <p:tav tm="0">
                                          <p:val>
                                            <p:strVal val="#ppt_x"/>
                                          </p:val>
                                        </p:tav>
                                        <p:tav tm="100000">
                                          <p:val>
                                            <p:strVal val="#ppt_x"/>
                                          </p:val>
                                        </p:tav>
                                      </p:tavLst>
                                    </p:anim>
                                    <p:anim calcmode="lin" valueType="num">
                                      <p:cBhvr additive="base">
                                        <p:cTn id="12" dur="550" fill="hold"/>
                                        <p:tgtEl>
                                          <p:spTgt spid="5"/>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50"/>
                                        <p:tgtEl>
                                          <p:spTgt spid="6"/>
                                        </p:tgtEl>
                                      </p:cBhvr>
                                    </p:animEffect>
                                    <p:anim calcmode="lin" valueType="num">
                                      <p:cBhvr additive="base">
                                        <p:cTn id="16" dur="550" fill="hold"/>
                                        <p:tgtEl>
                                          <p:spTgt spid="6"/>
                                        </p:tgtEl>
                                        <p:attrNameLst>
                                          <p:attrName>ppt_x</p:attrName>
                                        </p:attrNameLst>
                                      </p:cBhvr>
                                      <p:tavLst>
                                        <p:tav tm="0">
                                          <p:val>
                                            <p:strVal val="#ppt_x"/>
                                          </p:val>
                                        </p:tav>
                                        <p:tav tm="100000">
                                          <p:val>
                                            <p:strVal val="#ppt_x"/>
                                          </p:val>
                                        </p:tav>
                                      </p:tavLst>
                                    </p:anim>
                                    <p:anim calcmode="lin" valueType="num">
                                      <p:cBhvr additive="base">
                                        <p:cTn id="17" dur="55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50"/>
                                        <p:tgtEl>
                                          <p:spTgt spid="7"/>
                                        </p:tgtEl>
                                      </p:cBhvr>
                                    </p:animEffect>
                                    <p:anim calcmode="lin" valueType="num">
                                      <p:cBhvr additive="base">
                                        <p:cTn id="21" dur="550" fill="hold"/>
                                        <p:tgtEl>
                                          <p:spTgt spid="7"/>
                                        </p:tgtEl>
                                        <p:attrNameLst>
                                          <p:attrName>ppt_x</p:attrName>
                                        </p:attrNameLst>
                                      </p:cBhvr>
                                      <p:tavLst>
                                        <p:tav tm="0">
                                          <p:val>
                                            <p:strVal val="#ppt_x"/>
                                          </p:val>
                                        </p:tav>
                                        <p:tav tm="100000">
                                          <p:val>
                                            <p:strVal val="#ppt_x"/>
                                          </p:val>
                                        </p:tav>
                                      </p:tavLst>
                                    </p:anim>
                                    <p:anim calcmode="lin" valueType="num">
                                      <p:cBhvr additive="base">
                                        <p:cTn id="22" dur="55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50"/>
                                        <p:tgtEl>
                                          <p:spTgt spid="8"/>
                                        </p:tgtEl>
                                      </p:cBhvr>
                                    </p:animEffect>
                                    <p:anim calcmode="lin" valueType="num">
                                      <p:cBhvr additive="base">
                                        <p:cTn id="26" dur="550" fill="hold"/>
                                        <p:tgtEl>
                                          <p:spTgt spid="8"/>
                                        </p:tgtEl>
                                        <p:attrNameLst>
                                          <p:attrName>ppt_x</p:attrName>
                                        </p:attrNameLst>
                                      </p:cBhvr>
                                      <p:tavLst>
                                        <p:tav tm="0">
                                          <p:val>
                                            <p:strVal val="#ppt_x"/>
                                          </p:val>
                                        </p:tav>
                                        <p:tav tm="100000">
                                          <p:val>
                                            <p:strVal val="#ppt_x"/>
                                          </p:val>
                                        </p:tav>
                                      </p:tavLst>
                                    </p:anim>
                                    <p:anim calcmode="lin" valueType="num">
                                      <p:cBhvr additive="base">
                                        <p:cTn id="27" dur="55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anim calcmode="lin" valueType="num">
                                      <p:cBhvr additive="base">
                                        <p:cTn id="31" dur="550" fill="hold"/>
                                        <p:tgtEl>
                                          <p:spTgt spid="9"/>
                                        </p:tgtEl>
                                        <p:attrNameLst>
                                          <p:attrName>ppt_x</p:attrName>
                                        </p:attrNameLst>
                                      </p:cBhvr>
                                      <p:tavLst>
                                        <p:tav tm="0">
                                          <p:val>
                                            <p:strVal val="#ppt_x"/>
                                          </p:val>
                                        </p:tav>
                                        <p:tav tm="100000">
                                          <p:val>
                                            <p:strVal val="#ppt_x"/>
                                          </p:val>
                                        </p:tav>
                                      </p:tavLst>
                                    </p:anim>
                                    <p:anim calcmode="lin" valueType="num">
                                      <p:cBhvr additive="base">
                                        <p:cTn id="32" dur="550" fill="hold"/>
                                        <p:tgtEl>
                                          <p:spTgt spid="9"/>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50"/>
                                        <p:tgtEl>
                                          <p:spTgt spid="10"/>
                                        </p:tgtEl>
                                      </p:cBhvr>
                                    </p:animEffect>
                                    <p:anim calcmode="lin" valueType="num">
                                      <p:cBhvr additive="base">
                                        <p:cTn id="36" dur="550" fill="hold"/>
                                        <p:tgtEl>
                                          <p:spTgt spid="10"/>
                                        </p:tgtEl>
                                        <p:attrNameLst>
                                          <p:attrName>ppt_x</p:attrName>
                                        </p:attrNameLst>
                                      </p:cBhvr>
                                      <p:tavLst>
                                        <p:tav tm="0">
                                          <p:val>
                                            <p:strVal val="#ppt_x"/>
                                          </p:val>
                                        </p:tav>
                                        <p:tav tm="100000">
                                          <p:val>
                                            <p:strVal val="#ppt_x"/>
                                          </p:val>
                                        </p:tav>
                                      </p:tavLst>
                                    </p:anim>
                                    <p:anim calcmode="lin" valueType="num">
                                      <p:cBhvr additive="base">
                                        <p:cTn id="37" dur="550" fill="hold"/>
                                        <p:tgtEl>
                                          <p:spTgt spid="10"/>
                                        </p:tgtEl>
                                        <p:attrNameLst>
                                          <p:attrName>ppt_y</p:attrName>
                                        </p:attrNameLst>
                                      </p:cBhvr>
                                      <p:tavLst>
                                        <p:tav tm="0">
                                          <p:val>
                                            <p:strVal val="#ppt_y+.06"/>
                                          </p:val>
                                        </p:tav>
                                        <p:tav tm="100000">
                                          <p:val>
                                            <p:strVal val="#ppt_y"/>
                                          </p:val>
                                        </p:tav>
                                      </p:tavLst>
                                    </p:anim>
                                  </p:childTnLst>
                                </p:cTn>
                              </p:par>
                            </p:childTnLst>
                          </p:cTn>
                        </p:par>
                        <p:par>
                          <p:cTn id="223" fill="hold">
                            <p:stCondLst>
                              <p:cond delay="302"/>
                            </p:stCondLst>
                            <p:childTnLst>
                              <p:par>
                                <p:cTn id="38" presetID="22" presetClass="entr" presetSubtype="8"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700"/>
                                        <p:tgtEl>
                                          <p:spTgt spid="11"/>
                                        </p:tgtEl>
                                      </p:cBhvr>
                                    </p:animEffect>
                                  </p:childTnLst>
                                </p:cTn>
                              </p:par>
                            </p:childTnLst>
                          </p:cTn>
                        </p:par>
                        <p:par>
                          <p:cTn id="224" fill="hold">
                            <p:stCondLst>
                              <p:cond delay="687"/>
                            </p:stCondLst>
                            <p:childTnLst>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50"/>
                                        <p:tgtEl>
                                          <p:spTgt spid="12"/>
                                        </p:tgtEl>
                                      </p:cBhvr>
                                    </p:animEffect>
                                    <p:anim calcmode="lin" valueType="num">
                                      <p:cBhvr additive="base">
                                        <p:cTn id="44" dur="550" fill="hold"/>
                                        <p:tgtEl>
                                          <p:spTgt spid="12"/>
                                        </p:tgtEl>
                                        <p:attrNameLst>
                                          <p:attrName>ppt_x</p:attrName>
                                        </p:attrNameLst>
                                      </p:cBhvr>
                                      <p:tavLst>
                                        <p:tav tm="0">
                                          <p:val>
                                            <p:strVal val="#ppt_x"/>
                                          </p:val>
                                        </p:tav>
                                        <p:tav tm="100000">
                                          <p:val>
                                            <p:strVal val="#ppt_x"/>
                                          </p:val>
                                        </p:tav>
                                      </p:tavLst>
                                    </p:anim>
                                    <p:anim calcmode="lin" valueType="num">
                                      <p:cBhvr additive="base">
                                        <p:cTn id="45" dur="550" fill="hold"/>
                                        <p:tgtEl>
                                          <p:spTgt spid="12"/>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50"/>
                                        <p:tgtEl>
                                          <p:spTgt spid="13"/>
                                        </p:tgtEl>
                                      </p:cBhvr>
                                    </p:animEffect>
                                    <p:anim calcmode="lin" valueType="num">
                                      <p:cBhvr additive="base">
                                        <p:cTn id="49" dur="550" fill="hold"/>
                                        <p:tgtEl>
                                          <p:spTgt spid="13"/>
                                        </p:tgtEl>
                                        <p:attrNameLst>
                                          <p:attrName>ppt_x</p:attrName>
                                        </p:attrNameLst>
                                      </p:cBhvr>
                                      <p:tavLst>
                                        <p:tav tm="0">
                                          <p:val>
                                            <p:strVal val="#ppt_x"/>
                                          </p:val>
                                        </p:tav>
                                        <p:tav tm="100000">
                                          <p:val>
                                            <p:strVal val="#ppt_x"/>
                                          </p:val>
                                        </p:tav>
                                      </p:tavLst>
                                    </p:anim>
                                    <p:anim calcmode="lin" valueType="num">
                                      <p:cBhvr additive="base">
                                        <p:cTn id="50" dur="550" fill="hold"/>
                                        <p:tgtEl>
                                          <p:spTgt spid="13"/>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50"/>
                                        <p:tgtEl>
                                          <p:spTgt spid="14"/>
                                        </p:tgtEl>
                                      </p:cBhvr>
                                    </p:animEffect>
                                    <p:anim calcmode="lin" valueType="num">
                                      <p:cBhvr additive="base">
                                        <p:cTn id="54" dur="550" fill="hold"/>
                                        <p:tgtEl>
                                          <p:spTgt spid="14"/>
                                        </p:tgtEl>
                                        <p:attrNameLst>
                                          <p:attrName>ppt_x</p:attrName>
                                        </p:attrNameLst>
                                      </p:cBhvr>
                                      <p:tavLst>
                                        <p:tav tm="0">
                                          <p:val>
                                            <p:strVal val="#ppt_x"/>
                                          </p:val>
                                        </p:tav>
                                        <p:tav tm="100000">
                                          <p:val>
                                            <p:strVal val="#ppt_x"/>
                                          </p:val>
                                        </p:tav>
                                      </p:tavLst>
                                    </p:anim>
                                    <p:anim calcmode="lin" valueType="num">
                                      <p:cBhvr additive="base">
                                        <p:cTn id="55" dur="550" fill="hold"/>
                                        <p:tgtEl>
                                          <p:spTgt spid="14"/>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50"/>
                                        <p:tgtEl>
                                          <p:spTgt spid="15"/>
                                        </p:tgtEl>
                                      </p:cBhvr>
                                    </p:animEffect>
                                    <p:anim calcmode="lin" valueType="num">
                                      <p:cBhvr additive="base">
                                        <p:cTn id="59" dur="550" fill="hold"/>
                                        <p:tgtEl>
                                          <p:spTgt spid="15"/>
                                        </p:tgtEl>
                                        <p:attrNameLst>
                                          <p:attrName>ppt_x</p:attrName>
                                        </p:attrNameLst>
                                      </p:cBhvr>
                                      <p:tavLst>
                                        <p:tav tm="0">
                                          <p:val>
                                            <p:strVal val="#ppt_x"/>
                                          </p:val>
                                        </p:tav>
                                        <p:tav tm="100000">
                                          <p:val>
                                            <p:strVal val="#ppt_x"/>
                                          </p:val>
                                        </p:tav>
                                      </p:tavLst>
                                    </p:anim>
                                    <p:anim calcmode="lin" valueType="num">
                                      <p:cBhvr additive="base">
                                        <p:cTn id="60" dur="550" fill="hold"/>
                                        <p:tgtEl>
                                          <p:spTgt spid="15"/>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50"/>
                                        <p:tgtEl>
                                          <p:spTgt spid="16"/>
                                        </p:tgtEl>
                                      </p:cBhvr>
                                    </p:animEffect>
                                    <p:anim calcmode="lin" valueType="num">
                                      <p:cBhvr additive="base">
                                        <p:cTn id="64" dur="550" fill="hold"/>
                                        <p:tgtEl>
                                          <p:spTgt spid="16"/>
                                        </p:tgtEl>
                                        <p:attrNameLst>
                                          <p:attrName>ppt_x</p:attrName>
                                        </p:attrNameLst>
                                      </p:cBhvr>
                                      <p:tavLst>
                                        <p:tav tm="0">
                                          <p:val>
                                            <p:strVal val="#ppt_x"/>
                                          </p:val>
                                        </p:tav>
                                        <p:tav tm="100000">
                                          <p:val>
                                            <p:strVal val="#ppt_x"/>
                                          </p:val>
                                        </p:tav>
                                      </p:tavLst>
                                    </p:anim>
                                    <p:anim calcmode="lin" valueType="num">
                                      <p:cBhvr additive="base">
                                        <p:cTn id="65" dur="550" fill="hold"/>
                                        <p:tgtEl>
                                          <p:spTgt spid="16"/>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50"/>
                                        <p:tgtEl>
                                          <p:spTgt spid="17"/>
                                        </p:tgtEl>
                                      </p:cBhvr>
                                    </p:animEffect>
                                    <p:anim calcmode="lin" valueType="num">
                                      <p:cBhvr additive="base">
                                        <p:cTn id="69" dur="550" fill="hold"/>
                                        <p:tgtEl>
                                          <p:spTgt spid="17"/>
                                        </p:tgtEl>
                                        <p:attrNameLst>
                                          <p:attrName>ppt_x</p:attrName>
                                        </p:attrNameLst>
                                      </p:cBhvr>
                                      <p:tavLst>
                                        <p:tav tm="0">
                                          <p:val>
                                            <p:strVal val="#ppt_x"/>
                                          </p:val>
                                        </p:tav>
                                        <p:tav tm="100000">
                                          <p:val>
                                            <p:strVal val="#ppt_x"/>
                                          </p:val>
                                        </p:tav>
                                      </p:tavLst>
                                    </p:anim>
                                    <p:anim calcmode="lin" valueType="num">
                                      <p:cBhvr additive="base">
                                        <p:cTn id="70" dur="550" fill="hold"/>
                                        <p:tgtEl>
                                          <p:spTgt spid="17"/>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50"/>
                                        <p:tgtEl>
                                          <p:spTgt spid="18"/>
                                        </p:tgtEl>
                                      </p:cBhvr>
                                    </p:animEffect>
                                    <p:anim calcmode="lin" valueType="num">
                                      <p:cBhvr additive="base">
                                        <p:cTn id="74" dur="550" fill="hold"/>
                                        <p:tgtEl>
                                          <p:spTgt spid="18"/>
                                        </p:tgtEl>
                                        <p:attrNameLst>
                                          <p:attrName>ppt_x</p:attrName>
                                        </p:attrNameLst>
                                      </p:cBhvr>
                                      <p:tavLst>
                                        <p:tav tm="0">
                                          <p:val>
                                            <p:strVal val="#ppt_x"/>
                                          </p:val>
                                        </p:tav>
                                        <p:tav tm="100000">
                                          <p:val>
                                            <p:strVal val="#ppt_x"/>
                                          </p:val>
                                        </p:tav>
                                      </p:tavLst>
                                    </p:anim>
                                    <p:anim calcmode="lin" valueType="num">
                                      <p:cBhvr additive="base">
                                        <p:cTn id="75" dur="550" fill="hold"/>
                                        <p:tgtEl>
                                          <p:spTgt spid="18"/>
                                        </p:tgtEl>
                                        <p:attrNameLst>
                                          <p:attrName>ppt_y</p:attrName>
                                        </p:attrNameLst>
                                      </p:cBhvr>
                                      <p:tavLst>
                                        <p:tav tm="0">
                                          <p:val>
                                            <p:strVal val="#ppt_y+.06"/>
                                          </p:val>
                                        </p:tav>
                                        <p:tav tm="100000">
                                          <p:val>
                                            <p:strVal val="#ppt_y"/>
                                          </p:val>
                                        </p:tav>
                                      </p:tavLst>
                                    </p:anim>
                                  </p:childTnLst>
                                </p:cTn>
                              </p:par>
                            </p:childTnLst>
                          </p:cTn>
                        </p:par>
                        <p:par>
                          <p:cTn id="225" fill="hold">
                            <p:stCondLst>
                              <p:cond delay="990"/>
                            </p:stCondLst>
                            <p:childTnLst>
                              <p:par>
                                <p:cTn id="76" presetID="22" presetClass="entr" presetSubtype="8"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wipe(left)">
                                      <p:cBhvr>
                                        <p:cTn id="78" dur="700"/>
                                        <p:tgtEl>
                                          <p:spTgt spid="19"/>
                                        </p:tgtEl>
                                      </p:cBhvr>
                                    </p:animEffect>
                                  </p:childTnLst>
                                </p:cTn>
                              </p:par>
                            </p:childTnLst>
                          </p:cTn>
                        </p:par>
                        <p:par>
                          <p:cTn id="226" fill="hold">
                            <p:stCondLst>
                              <p:cond delay="1375"/>
                            </p:stCondLst>
                            <p:childTnLst>
                              <p:par>
                                <p:cTn id="79" presetID="42"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additive="base">
                                        <p:cTn id="82" dur="550" fill="hold"/>
                                        <p:tgtEl>
                                          <p:spTgt spid="20"/>
                                        </p:tgtEl>
                                        <p:attrNameLst>
                                          <p:attrName>ppt_x</p:attrName>
                                        </p:attrNameLst>
                                      </p:cBhvr>
                                      <p:tavLst>
                                        <p:tav tm="0">
                                          <p:val>
                                            <p:strVal val="#ppt_x"/>
                                          </p:val>
                                        </p:tav>
                                        <p:tav tm="100000">
                                          <p:val>
                                            <p:strVal val="#ppt_x"/>
                                          </p:val>
                                        </p:tav>
                                      </p:tavLst>
                                    </p:anim>
                                    <p:anim calcmode="lin" valueType="num">
                                      <p:cBhvr additive="base">
                                        <p:cTn id="83" dur="550" fill="hold"/>
                                        <p:tgtEl>
                                          <p:spTgt spid="20"/>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50"/>
                                        <p:tgtEl>
                                          <p:spTgt spid="21"/>
                                        </p:tgtEl>
                                      </p:cBhvr>
                                    </p:animEffect>
                                    <p:anim calcmode="lin" valueType="num">
                                      <p:cBhvr additive="base">
                                        <p:cTn id="87" dur="550" fill="hold"/>
                                        <p:tgtEl>
                                          <p:spTgt spid="21"/>
                                        </p:tgtEl>
                                        <p:attrNameLst>
                                          <p:attrName>ppt_x</p:attrName>
                                        </p:attrNameLst>
                                      </p:cBhvr>
                                      <p:tavLst>
                                        <p:tav tm="0">
                                          <p:val>
                                            <p:strVal val="#ppt_x"/>
                                          </p:val>
                                        </p:tav>
                                        <p:tav tm="100000">
                                          <p:val>
                                            <p:strVal val="#ppt_x"/>
                                          </p:val>
                                        </p:tav>
                                      </p:tavLst>
                                    </p:anim>
                                    <p:anim calcmode="lin" valueType="num">
                                      <p:cBhvr additive="base">
                                        <p:cTn id="88" dur="550" fill="hold"/>
                                        <p:tgtEl>
                                          <p:spTgt spid="21"/>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50"/>
                                        <p:tgtEl>
                                          <p:spTgt spid="22"/>
                                        </p:tgtEl>
                                      </p:cBhvr>
                                    </p:animEffect>
                                    <p:anim calcmode="lin" valueType="num">
                                      <p:cBhvr additive="base">
                                        <p:cTn id="92" dur="550" fill="hold"/>
                                        <p:tgtEl>
                                          <p:spTgt spid="22"/>
                                        </p:tgtEl>
                                        <p:attrNameLst>
                                          <p:attrName>ppt_x</p:attrName>
                                        </p:attrNameLst>
                                      </p:cBhvr>
                                      <p:tavLst>
                                        <p:tav tm="0">
                                          <p:val>
                                            <p:strVal val="#ppt_x"/>
                                          </p:val>
                                        </p:tav>
                                        <p:tav tm="100000">
                                          <p:val>
                                            <p:strVal val="#ppt_x"/>
                                          </p:val>
                                        </p:tav>
                                      </p:tavLst>
                                    </p:anim>
                                    <p:anim calcmode="lin" valueType="num">
                                      <p:cBhvr additive="base">
                                        <p:cTn id="93" dur="550" fill="hold"/>
                                        <p:tgtEl>
                                          <p:spTgt spid="22"/>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550"/>
                                        <p:tgtEl>
                                          <p:spTgt spid="23"/>
                                        </p:tgtEl>
                                      </p:cBhvr>
                                    </p:animEffect>
                                    <p:anim calcmode="lin" valueType="num">
                                      <p:cBhvr additive="base">
                                        <p:cTn id="97" dur="550" fill="hold"/>
                                        <p:tgtEl>
                                          <p:spTgt spid="23"/>
                                        </p:tgtEl>
                                        <p:attrNameLst>
                                          <p:attrName>ppt_x</p:attrName>
                                        </p:attrNameLst>
                                      </p:cBhvr>
                                      <p:tavLst>
                                        <p:tav tm="0">
                                          <p:val>
                                            <p:strVal val="#ppt_x"/>
                                          </p:val>
                                        </p:tav>
                                        <p:tav tm="100000">
                                          <p:val>
                                            <p:strVal val="#ppt_x"/>
                                          </p:val>
                                        </p:tav>
                                      </p:tavLst>
                                    </p:anim>
                                    <p:anim calcmode="lin" valueType="num">
                                      <p:cBhvr additive="base">
                                        <p:cTn id="98" dur="550" fill="hold"/>
                                        <p:tgtEl>
                                          <p:spTgt spid="23"/>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4"/>
                                        </p:tgtEl>
                                        <p:attrNameLst>
                                          <p:attrName>style.visibility</p:attrName>
                                        </p:attrNameLst>
                                      </p:cBhvr>
                                      <p:to>
                                        <p:strVal val="visible"/>
                                      </p:to>
                                    </p:set>
                                    <p:animEffect transition="in" filter="fade">
                                      <p:cBhvr>
                                        <p:cTn id="101" dur="550"/>
                                        <p:tgtEl>
                                          <p:spTgt spid="24"/>
                                        </p:tgtEl>
                                      </p:cBhvr>
                                    </p:animEffect>
                                    <p:anim calcmode="lin" valueType="num">
                                      <p:cBhvr additive="base">
                                        <p:cTn id="102" dur="550" fill="hold"/>
                                        <p:tgtEl>
                                          <p:spTgt spid="24"/>
                                        </p:tgtEl>
                                        <p:attrNameLst>
                                          <p:attrName>ppt_x</p:attrName>
                                        </p:attrNameLst>
                                      </p:cBhvr>
                                      <p:tavLst>
                                        <p:tav tm="0">
                                          <p:val>
                                            <p:strVal val="#ppt_x"/>
                                          </p:val>
                                        </p:tav>
                                        <p:tav tm="100000">
                                          <p:val>
                                            <p:strVal val="#ppt_x"/>
                                          </p:val>
                                        </p:tav>
                                      </p:tavLst>
                                    </p:anim>
                                    <p:anim calcmode="lin" valueType="num">
                                      <p:cBhvr additive="base">
                                        <p:cTn id="103" dur="550" fill="hold"/>
                                        <p:tgtEl>
                                          <p:spTgt spid="24"/>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550"/>
                                        <p:tgtEl>
                                          <p:spTgt spid="26"/>
                                        </p:tgtEl>
                                      </p:cBhvr>
                                    </p:animEffect>
                                    <p:anim calcmode="lin" valueType="num">
                                      <p:cBhvr additive="base">
                                        <p:cTn id="112" dur="550" fill="hold"/>
                                        <p:tgtEl>
                                          <p:spTgt spid="26"/>
                                        </p:tgtEl>
                                        <p:attrNameLst>
                                          <p:attrName>ppt_x</p:attrName>
                                        </p:attrNameLst>
                                      </p:cBhvr>
                                      <p:tavLst>
                                        <p:tav tm="0">
                                          <p:val>
                                            <p:strVal val="#ppt_x"/>
                                          </p:val>
                                        </p:tav>
                                        <p:tav tm="100000">
                                          <p:val>
                                            <p:strVal val="#ppt_x"/>
                                          </p:val>
                                        </p:tav>
                                      </p:tavLst>
                                    </p:anim>
                                    <p:anim calcmode="lin" valueType="num">
                                      <p:cBhvr additive="base">
                                        <p:cTn id="113" dur="550" fill="hold"/>
                                        <p:tgtEl>
                                          <p:spTgt spid="26"/>
                                        </p:tgtEl>
                                        <p:attrNameLst>
                                          <p:attrName>ppt_y</p:attrName>
                                        </p:attrNameLst>
                                      </p:cBhvr>
                                      <p:tavLst>
                                        <p:tav tm="0">
                                          <p:val>
                                            <p:strVal val="#ppt_y+.06"/>
                                          </p:val>
                                        </p:tav>
                                        <p:tav tm="100000">
                                          <p:val>
                                            <p:strVal val="#ppt_y"/>
                                          </p:val>
                                        </p:tav>
                                      </p:tavLst>
                                    </p:anim>
                                  </p:childTnLst>
                                </p:cTn>
                              </p:par>
                            </p:childTnLst>
                          </p:cTn>
                        </p:par>
                        <p:par>
                          <p:cTn id="227" fill="hold">
                            <p:stCondLst>
                              <p:cond delay="1677"/>
                            </p:stCondLst>
                            <p:childTnLst>
                              <p:par>
                                <p:cTn id="114" presetID="22" presetClass="entr" presetSubtype="8" fill="hold" grpId="0" nodeType="withEffect">
                                  <p:stCondLst>
                                    <p:cond delay="0"/>
                                  </p:stCondLst>
                                  <p:childTnLst>
                                    <p:set>
                                      <p:cBhvr>
                                        <p:cTn id="115" dur="1" fill="hold">
                                          <p:stCondLst>
                                            <p:cond delay="0"/>
                                          </p:stCondLst>
                                        </p:cTn>
                                        <p:tgtEl>
                                          <p:spTgt spid="27"/>
                                        </p:tgtEl>
                                        <p:attrNameLst>
                                          <p:attrName>style.visibility</p:attrName>
                                        </p:attrNameLst>
                                      </p:cBhvr>
                                      <p:to>
                                        <p:strVal val="visible"/>
                                      </p:to>
                                    </p:set>
                                    <p:animEffect transition="in" filter="wipe(left)">
                                      <p:cBhvr>
                                        <p:cTn id="116" dur="700"/>
                                        <p:tgtEl>
                                          <p:spTgt spid="27"/>
                                        </p:tgtEl>
                                      </p:cBhvr>
                                    </p:animEffect>
                                  </p:childTnLst>
                                </p:cTn>
                              </p:par>
                            </p:childTnLst>
                          </p:cTn>
                        </p:par>
                        <p:par>
                          <p:cTn id="228" fill="hold">
                            <p:stCondLst>
                              <p:cond delay="2062"/>
                            </p:stCondLst>
                            <p:childTnLst>
                              <p:par>
                                <p:cTn id="117" presetID="42" presetClass="entr" presetSubtype="0" fill="hold" grpId="0" nodeType="withEffect">
                                  <p:stCondLst>
                                    <p:cond delay="0"/>
                                  </p:stCondLst>
                                  <p:childTnLst>
                                    <p:set>
                                      <p:cBhvr>
                                        <p:cTn id="118" dur="1" fill="hold">
                                          <p:stCondLst>
                                            <p:cond delay="0"/>
                                          </p:stCondLst>
                                        </p:cTn>
                                        <p:tgtEl>
                                          <p:spTgt spid="28"/>
                                        </p:tgtEl>
                                        <p:attrNameLst>
                                          <p:attrName>style.visibility</p:attrName>
                                        </p:attrNameLst>
                                      </p:cBhvr>
                                      <p:to>
                                        <p:strVal val="visible"/>
                                      </p:to>
                                    </p:set>
                                    <p:animEffect transition="in" filter="fade">
                                      <p:cBhvr>
                                        <p:cTn id="119" dur="550"/>
                                        <p:tgtEl>
                                          <p:spTgt spid="28"/>
                                        </p:tgtEl>
                                      </p:cBhvr>
                                    </p:animEffect>
                                    <p:anim calcmode="lin" valueType="num">
                                      <p:cBhvr additive="base">
                                        <p:cTn id="120" dur="550" fill="hold"/>
                                        <p:tgtEl>
                                          <p:spTgt spid="28"/>
                                        </p:tgtEl>
                                        <p:attrNameLst>
                                          <p:attrName>ppt_x</p:attrName>
                                        </p:attrNameLst>
                                      </p:cBhvr>
                                      <p:tavLst>
                                        <p:tav tm="0">
                                          <p:val>
                                            <p:strVal val="#ppt_x"/>
                                          </p:val>
                                        </p:tav>
                                        <p:tav tm="100000">
                                          <p:val>
                                            <p:strVal val="#ppt_x"/>
                                          </p:val>
                                        </p:tav>
                                      </p:tavLst>
                                    </p:anim>
                                    <p:anim calcmode="lin" valueType="num">
                                      <p:cBhvr additive="base">
                                        <p:cTn id="121" dur="550" fill="hold"/>
                                        <p:tgtEl>
                                          <p:spTgt spid="28"/>
                                        </p:tgtEl>
                                        <p:attrNameLst>
                                          <p:attrName>ppt_y</p:attrName>
                                        </p:attrNameLst>
                                      </p:cBhvr>
                                      <p:tavLst>
                                        <p:tav tm="0">
                                          <p:val>
                                            <p:strVal val="#ppt_y+.06"/>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6"/>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30"/>
                                        </p:tgtEl>
                                        <p:attrNameLst>
                                          <p:attrName>style.visibility</p:attrName>
                                        </p:attrNameLst>
                                      </p:cBhvr>
                                      <p:to>
                                        <p:strVal val="visible"/>
                                      </p:to>
                                    </p:set>
                                    <p:animEffect transition="in" filter="fade">
                                      <p:cBhvr>
                                        <p:cTn id="129" dur="550"/>
                                        <p:tgtEl>
                                          <p:spTgt spid="30"/>
                                        </p:tgtEl>
                                      </p:cBhvr>
                                    </p:animEffect>
                                    <p:anim calcmode="lin" valueType="num">
                                      <p:cBhvr additive="base">
                                        <p:cTn id="130" dur="550" fill="hold"/>
                                        <p:tgtEl>
                                          <p:spTgt spid="30"/>
                                        </p:tgtEl>
                                        <p:attrNameLst>
                                          <p:attrName>ppt_x</p:attrName>
                                        </p:attrNameLst>
                                      </p:cBhvr>
                                      <p:tavLst>
                                        <p:tav tm="0">
                                          <p:val>
                                            <p:strVal val="#ppt_x"/>
                                          </p:val>
                                        </p:tav>
                                        <p:tav tm="100000">
                                          <p:val>
                                            <p:strVal val="#ppt_x"/>
                                          </p:val>
                                        </p:tav>
                                      </p:tavLst>
                                    </p:anim>
                                    <p:anim calcmode="lin" valueType="num">
                                      <p:cBhvr additive="base">
                                        <p:cTn id="131" dur="550" fill="hold"/>
                                        <p:tgtEl>
                                          <p:spTgt spid="30"/>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1"/>
                                        </p:tgtEl>
                                        <p:attrNameLst>
                                          <p:attrName>style.visibility</p:attrName>
                                        </p:attrNameLst>
                                      </p:cBhvr>
                                      <p:to>
                                        <p:strVal val="visible"/>
                                      </p:to>
                                    </p:set>
                                    <p:animEffect transition="in" filter="fade">
                                      <p:cBhvr>
                                        <p:cTn id="134" dur="550"/>
                                        <p:tgtEl>
                                          <p:spTgt spid="31"/>
                                        </p:tgtEl>
                                      </p:cBhvr>
                                    </p:animEffect>
                                    <p:anim calcmode="lin" valueType="num">
                                      <p:cBhvr additive="base">
                                        <p:cTn id="135" dur="550" fill="hold"/>
                                        <p:tgtEl>
                                          <p:spTgt spid="31"/>
                                        </p:tgtEl>
                                        <p:attrNameLst>
                                          <p:attrName>ppt_x</p:attrName>
                                        </p:attrNameLst>
                                      </p:cBhvr>
                                      <p:tavLst>
                                        <p:tav tm="0">
                                          <p:val>
                                            <p:strVal val="#ppt_x"/>
                                          </p:val>
                                        </p:tav>
                                        <p:tav tm="100000">
                                          <p:val>
                                            <p:strVal val="#ppt_x"/>
                                          </p:val>
                                        </p:tav>
                                      </p:tavLst>
                                    </p:anim>
                                    <p:anim calcmode="lin" valueType="num">
                                      <p:cBhvr additive="base">
                                        <p:cTn id="136" dur="550" fill="hold"/>
                                        <p:tgtEl>
                                          <p:spTgt spid="31"/>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2"/>
                                        </p:tgtEl>
                                        <p:attrNameLst>
                                          <p:attrName>style.visibility</p:attrName>
                                        </p:attrNameLst>
                                      </p:cBhvr>
                                      <p:to>
                                        <p:strVal val="visible"/>
                                      </p:to>
                                    </p:set>
                                    <p:animEffect transition="in" filter="fade">
                                      <p:cBhvr>
                                        <p:cTn id="139" dur="550"/>
                                        <p:tgtEl>
                                          <p:spTgt spid="32"/>
                                        </p:tgtEl>
                                      </p:cBhvr>
                                    </p:animEffect>
                                    <p:anim calcmode="lin" valueType="num">
                                      <p:cBhvr additive="base">
                                        <p:cTn id="140" dur="550" fill="hold"/>
                                        <p:tgtEl>
                                          <p:spTgt spid="32"/>
                                        </p:tgtEl>
                                        <p:attrNameLst>
                                          <p:attrName>ppt_x</p:attrName>
                                        </p:attrNameLst>
                                      </p:cBhvr>
                                      <p:tavLst>
                                        <p:tav tm="0">
                                          <p:val>
                                            <p:strVal val="#ppt_x"/>
                                          </p:val>
                                        </p:tav>
                                        <p:tav tm="100000">
                                          <p:val>
                                            <p:strVal val="#ppt_x"/>
                                          </p:val>
                                        </p:tav>
                                      </p:tavLst>
                                    </p:anim>
                                    <p:anim calcmode="lin" valueType="num">
                                      <p:cBhvr additive="base">
                                        <p:cTn id="141" dur="550" fill="hold"/>
                                        <p:tgtEl>
                                          <p:spTgt spid="32"/>
                                        </p:tgtEl>
                                        <p:attrNameLst>
                                          <p:attrName>ppt_y</p:attrName>
                                        </p:attrNameLst>
                                      </p:cBhvr>
                                      <p:tavLst>
                                        <p:tav tm="0">
                                          <p:val>
                                            <p:strVal val="#ppt_y+.06"/>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3"/>
                                        </p:tgtEl>
                                        <p:attrNameLst>
                                          <p:attrName>style.visibility</p:attrName>
                                        </p:attrNameLst>
                                      </p:cBhvr>
                                      <p:to>
                                        <p:strVal val="visible"/>
                                      </p:to>
                                    </p:set>
                                    <p:animEffect transition="in" filter="fade">
                                      <p:cBhvr>
                                        <p:cTn id="144" dur="550"/>
                                        <p:tgtEl>
                                          <p:spTgt spid="33"/>
                                        </p:tgtEl>
                                      </p:cBhvr>
                                    </p:animEffect>
                                    <p:anim calcmode="lin" valueType="num">
                                      <p:cBhvr additive="base">
                                        <p:cTn id="145" dur="550" fill="hold"/>
                                        <p:tgtEl>
                                          <p:spTgt spid="33"/>
                                        </p:tgtEl>
                                        <p:attrNameLst>
                                          <p:attrName>ppt_x</p:attrName>
                                        </p:attrNameLst>
                                      </p:cBhvr>
                                      <p:tavLst>
                                        <p:tav tm="0">
                                          <p:val>
                                            <p:strVal val="#ppt_x"/>
                                          </p:val>
                                        </p:tav>
                                        <p:tav tm="100000">
                                          <p:val>
                                            <p:strVal val="#ppt_x"/>
                                          </p:val>
                                        </p:tav>
                                      </p:tavLst>
                                    </p:anim>
                                    <p:anim calcmode="lin" valueType="num">
                                      <p:cBhvr additive="base">
                                        <p:cTn id="146" dur="550" fill="hold"/>
                                        <p:tgtEl>
                                          <p:spTgt spid="33"/>
                                        </p:tgtEl>
                                        <p:attrNameLst>
                                          <p:attrName>ppt_y</p:attrName>
                                        </p:attrNameLst>
                                      </p:cBhvr>
                                      <p:tavLst>
                                        <p:tav tm="0">
                                          <p:val>
                                            <p:strVal val="#ppt_y+.06"/>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4"/>
                                        </p:tgtEl>
                                        <p:attrNameLst>
                                          <p:attrName>style.visibility</p:attrName>
                                        </p:attrNameLst>
                                      </p:cBhvr>
                                      <p:to>
                                        <p:strVal val="visible"/>
                                      </p:to>
                                    </p:set>
                                    <p:animEffect transition="in" filter="fade">
                                      <p:cBhvr>
                                        <p:cTn id="149" dur="550"/>
                                        <p:tgtEl>
                                          <p:spTgt spid="34"/>
                                        </p:tgtEl>
                                      </p:cBhvr>
                                    </p:animEffect>
                                    <p:anim calcmode="lin" valueType="num">
                                      <p:cBhvr additive="base">
                                        <p:cTn id="150" dur="550" fill="hold"/>
                                        <p:tgtEl>
                                          <p:spTgt spid="34"/>
                                        </p:tgtEl>
                                        <p:attrNameLst>
                                          <p:attrName>ppt_x</p:attrName>
                                        </p:attrNameLst>
                                      </p:cBhvr>
                                      <p:tavLst>
                                        <p:tav tm="0">
                                          <p:val>
                                            <p:strVal val="#ppt_x"/>
                                          </p:val>
                                        </p:tav>
                                        <p:tav tm="100000">
                                          <p:val>
                                            <p:strVal val="#ppt_x"/>
                                          </p:val>
                                        </p:tav>
                                      </p:tavLst>
                                    </p:anim>
                                    <p:anim calcmode="lin" valueType="num">
                                      <p:cBhvr additive="base">
                                        <p:cTn id="151" dur="550" fill="hold"/>
                                        <p:tgtEl>
                                          <p:spTgt spid="34"/>
                                        </p:tgtEl>
                                        <p:attrNameLst>
                                          <p:attrName>ppt_y</p:attrName>
                                        </p:attrNameLst>
                                      </p:cBhvr>
                                      <p:tavLst>
                                        <p:tav tm="0">
                                          <p:val>
                                            <p:strVal val="#ppt_y+.06"/>
                                          </p:val>
                                        </p:tav>
                                        <p:tav tm="100000">
                                          <p:val>
                                            <p:strVal val="#ppt_y"/>
                                          </p:val>
                                        </p:tav>
                                      </p:tavLst>
                                    </p:anim>
                                  </p:childTnLst>
                                </p:cTn>
                              </p:par>
                            </p:childTnLst>
                          </p:cTn>
                        </p:par>
                        <p:par>
                          <p:cTn id="229" fill="hold">
                            <p:stCondLst>
                              <p:cond delay="2365"/>
                            </p:stCondLst>
                            <p:childTnLst>
                              <p:par>
                                <p:cTn id="152" presetID="22" presetClass="entr" presetSubtype="8" fill="hold" grpId="0" nodeType="withEffect">
                                  <p:stCondLst>
                                    <p:cond delay="0"/>
                                  </p:stCondLst>
                                  <p:childTnLst>
                                    <p:set>
                                      <p:cBhvr>
                                        <p:cTn id="153" dur="1" fill="hold">
                                          <p:stCondLst>
                                            <p:cond delay="0"/>
                                          </p:stCondLst>
                                        </p:cTn>
                                        <p:tgtEl>
                                          <p:spTgt spid="35"/>
                                        </p:tgtEl>
                                        <p:attrNameLst>
                                          <p:attrName>style.visibility</p:attrName>
                                        </p:attrNameLst>
                                      </p:cBhvr>
                                      <p:to>
                                        <p:strVal val="visible"/>
                                      </p:to>
                                    </p:set>
                                    <p:animEffect transition="in" filter="wipe(left)">
                                      <p:cBhvr>
                                        <p:cTn id="154" dur="700"/>
                                        <p:tgtEl>
                                          <p:spTgt spid="35"/>
                                        </p:tgtEl>
                                      </p:cBhvr>
                                    </p:animEffect>
                                  </p:childTnLst>
                                </p:cTn>
                              </p:par>
                            </p:childTnLst>
                          </p:cTn>
                        </p:par>
                        <p:par>
                          <p:cTn id="230" fill="hold">
                            <p:stCondLst>
                              <p:cond delay="2750"/>
                            </p:stCondLst>
                            <p:childTnLst>
                              <p:par>
                                <p:cTn id="155" presetID="42" presetClass="entr" presetSubtype="0" fill="hold" grpId="0" nodeType="withEffect">
                                  <p:stCondLst>
                                    <p:cond delay="0"/>
                                  </p:stCondLst>
                                  <p:childTnLst>
                                    <p:set>
                                      <p:cBhvr>
                                        <p:cTn id="156" dur="1" fill="hold">
                                          <p:stCondLst>
                                            <p:cond delay="0"/>
                                          </p:stCondLst>
                                        </p:cTn>
                                        <p:tgtEl>
                                          <p:spTgt spid="36"/>
                                        </p:tgtEl>
                                        <p:attrNameLst>
                                          <p:attrName>style.visibility</p:attrName>
                                        </p:attrNameLst>
                                      </p:cBhvr>
                                      <p:to>
                                        <p:strVal val="visible"/>
                                      </p:to>
                                    </p:set>
                                    <p:animEffect transition="in" filter="fade">
                                      <p:cBhvr>
                                        <p:cTn id="157" dur="550"/>
                                        <p:tgtEl>
                                          <p:spTgt spid="36"/>
                                        </p:tgtEl>
                                      </p:cBhvr>
                                    </p:animEffect>
                                    <p:anim calcmode="lin" valueType="num">
                                      <p:cBhvr additive="base">
                                        <p:cTn id="158" dur="550" fill="hold"/>
                                        <p:tgtEl>
                                          <p:spTgt spid="36"/>
                                        </p:tgtEl>
                                        <p:attrNameLst>
                                          <p:attrName>ppt_x</p:attrName>
                                        </p:attrNameLst>
                                      </p:cBhvr>
                                      <p:tavLst>
                                        <p:tav tm="0">
                                          <p:val>
                                            <p:strVal val="#ppt_x"/>
                                          </p:val>
                                        </p:tav>
                                        <p:tav tm="100000">
                                          <p:val>
                                            <p:strVal val="#ppt_x"/>
                                          </p:val>
                                        </p:tav>
                                      </p:tavLst>
                                    </p:anim>
                                    <p:anim calcmode="lin" valueType="num">
                                      <p:cBhvr additive="base">
                                        <p:cTn id="159" dur="550" fill="hold"/>
                                        <p:tgtEl>
                                          <p:spTgt spid="36"/>
                                        </p:tgtEl>
                                        <p:attrNameLst>
                                          <p:attrName>ppt_y</p:attrName>
                                        </p:attrNameLst>
                                      </p:cBhvr>
                                      <p:tavLst>
                                        <p:tav tm="0">
                                          <p:val>
                                            <p:strVal val="#ppt_y+.06"/>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37"/>
                                        </p:tgtEl>
                                        <p:attrNameLst>
                                          <p:attrName>style.visibility</p:attrName>
                                        </p:attrNameLst>
                                      </p:cBhvr>
                                      <p:to>
                                        <p:strVal val="visible"/>
                                      </p:to>
                                    </p:set>
                                    <p:animEffect transition="in" filter="fade">
                                      <p:cBhvr>
                                        <p:cTn id="162" dur="550"/>
                                        <p:tgtEl>
                                          <p:spTgt spid="37"/>
                                        </p:tgtEl>
                                      </p:cBhvr>
                                    </p:animEffect>
                                    <p:anim calcmode="lin" valueType="num">
                                      <p:cBhvr additive="base">
                                        <p:cTn id="163" dur="550" fill="hold"/>
                                        <p:tgtEl>
                                          <p:spTgt spid="37"/>
                                        </p:tgtEl>
                                        <p:attrNameLst>
                                          <p:attrName>ppt_x</p:attrName>
                                        </p:attrNameLst>
                                      </p:cBhvr>
                                      <p:tavLst>
                                        <p:tav tm="0">
                                          <p:val>
                                            <p:strVal val="#ppt_x"/>
                                          </p:val>
                                        </p:tav>
                                        <p:tav tm="100000">
                                          <p:val>
                                            <p:strVal val="#ppt_x"/>
                                          </p:val>
                                        </p:tav>
                                      </p:tavLst>
                                    </p:anim>
                                    <p:anim calcmode="lin" valueType="num">
                                      <p:cBhvr additive="base">
                                        <p:cTn id="164" dur="550" fill="hold"/>
                                        <p:tgtEl>
                                          <p:spTgt spid="37"/>
                                        </p:tgtEl>
                                        <p:attrNameLst>
                                          <p:attrName>ppt_y</p:attrName>
                                        </p:attrNameLst>
                                      </p:cBhvr>
                                      <p:tavLst>
                                        <p:tav tm="0">
                                          <p:val>
                                            <p:strVal val="#ppt_y+.06"/>
                                          </p:val>
                                        </p:tav>
                                        <p:tav tm="100000">
                                          <p:val>
                                            <p:strVal val="#ppt_y"/>
                                          </p:val>
                                        </p:tav>
                                      </p:tavLst>
                                    </p:anim>
                                  </p:childTnLst>
                                </p:cTn>
                              </p:par>
                              <p:par>
                                <p:cTn id="165" presetID="42" presetClass="entr" presetSubtype="0" fill="hold" grpId="0" nodeType="withEffect">
                                  <p:stCondLst>
                                    <p:cond delay="0"/>
                                  </p:stCondLst>
                                  <p:childTnLst>
                                    <p:set>
                                      <p:cBhvr>
                                        <p:cTn id="166" dur="1" fill="hold">
                                          <p:stCondLst>
                                            <p:cond delay="0"/>
                                          </p:stCondLst>
                                        </p:cTn>
                                        <p:tgtEl>
                                          <p:spTgt spid="38"/>
                                        </p:tgtEl>
                                        <p:attrNameLst>
                                          <p:attrName>style.visibility</p:attrName>
                                        </p:attrNameLst>
                                      </p:cBhvr>
                                      <p:to>
                                        <p:strVal val="visible"/>
                                      </p:to>
                                    </p:set>
                                    <p:animEffect transition="in" filter="fade">
                                      <p:cBhvr>
                                        <p:cTn id="167" dur="550"/>
                                        <p:tgtEl>
                                          <p:spTgt spid="38"/>
                                        </p:tgtEl>
                                      </p:cBhvr>
                                    </p:animEffect>
                                    <p:anim calcmode="lin" valueType="num">
                                      <p:cBhvr additive="base">
                                        <p:cTn id="168" dur="550" fill="hold"/>
                                        <p:tgtEl>
                                          <p:spTgt spid="38"/>
                                        </p:tgtEl>
                                        <p:attrNameLst>
                                          <p:attrName>ppt_x</p:attrName>
                                        </p:attrNameLst>
                                      </p:cBhvr>
                                      <p:tavLst>
                                        <p:tav tm="0">
                                          <p:val>
                                            <p:strVal val="#ppt_x"/>
                                          </p:val>
                                        </p:tav>
                                        <p:tav tm="100000">
                                          <p:val>
                                            <p:strVal val="#ppt_x"/>
                                          </p:val>
                                        </p:tav>
                                      </p:tavLst>
                                    </p:anim>
                                    <p:anim calcmode="lin" valueType="num">
                                      <p:cBhvr additive="base">
                                        <p:cTn id="169" dur="550" fill="hold"/>
                                        <p:tgtEl>
                                          <p:spTgt spid="38"/>
                                        </p:tgtEl>
                                        <p:attrNameLst>
                                          <p:attrName>ppt_y</p:attrName>
                                        </p:attrNameLst>
                                      </p:cBhvr>
                                      <p:tavLst>
                                        <p:tav tm="0">
                                          <p:val>
                                            <p:strVal val="#ppt_y+.06"/>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550"/>
                                        <p:tgtEl>
                                          <p:spTgt spid="39"/>
                                        </p:tgtEl>
                                      </p:cBhvr>
                                    </p:animEffect>
                                    <p:anim calcmode="lin" valueType="num">
                                      <p:cBhvr additive="base">
                                        <p:cTn id="173" dur="550" fill="hold"/>
                                        <p:tgtEl>
                                          <p:spTgt spid="39"/>
                                        </p:tgtEl>
                                        <p:attrNameLst>
                                          <p:attrName>ppt_x</p:attrName>
                                        </p:attrNameLst>
                                      </p:cBhvr>
                                      <p:tavLst>
                                        <p:tav tm="0">
                                          <p:val>
                                            <p:strVal val="#ppt_x"/>
                                          </p:val>
                                        </p:tav>
                                        <p:tav tm="100000">
                                          <p:val>
                                            <p:strVal val="#ppt_x"/>
                                          </p:val>
                                        </p:tav>
                                      </p:tavLst>
                                    </p:anim>
                                    <p:anim calcmode="lin" valueType="num">
                                      <p:cBhvr additive="base">
                                        <p:cTn id="174" dur="550" fill="hold"/>
                                        <p:tgtEl>
                                          <p:spTgt spid="39"/>
                                        </p:tgtEl>
                                        <p:attrNameLst>
                                          <p:attrName>ppt_y</p:attrName>
                                        </p:attrNameLst>
                                      </p:cBhvr>
                                      <p:tavLst>
                                        <p:tav tm="0">
                                          <p:val>
                                            <p:strVal val="#ppt_y+.06"/>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40"/>
                                        </p:tgtEl>
                                        <p:attrNameLst>
                                          <p:attrName>style.visibility</p:attrName>
                                        </p:attrNameLst>
                                      </p:cBhvr>
                                      <p:to>
                                        <p:strVal val="visible"/>
                                      </p:to>
                                    </p:set>
                                    <p:animEffect transition="in" filter="fade">
                                      <p:cBhvr>
                                        <p:cTn id="177" dur="550"/>
                                        <p:tgtEl>
                                          <p:spTgt spid="40"/>
                                        </p:tgtEl>
                                      </p:cBhvr>
                                    </p:animEffect>
                                    <p:anim calcmode="lin" valueType="num">
                                      <p:cBhvr additive="base">
                                        <p:cTn id="178" dur="550" fill="hold"/>
                                        <p:tgtEl>
                                          <p:spTgt spid="40"/>
                                        </p:tgtEl>
                                        <p:attrNameLst>
                                          <p:attrName>ppt_x</p:attrName>
                                        </p:attrNameLst>
                                      </p:cBhvr>
                                      <p:tavLst>
                                        <p:tav tm="0">
                                          <p:val>
                                            <p:strVal val="#ppt_x"/>
                                          </p:val>
                                        </p:tav>
                                        <p:tav tm="100000">
                                          <p:val>
                                            <p:strVal val="#ppt_x"/>
                                          </p:val>
                                        </p:tav>
                                      </p:tavLst>
                                    </p:anim>
                                    <p:anim calcmode="lin" valueType="num">
                                      <p:cBhvr additive="base">
                                        <p:cTn id="179" dur="550" fill="hold"/>
                                        <p:tgtEl>
                                          <p:spTgt spid="40"/>
                                        </p:tgtEl>
                                        <p:attrNameLst>
                                          <p:attrName>ppt_y</p:attrName>
                                        </p:attrNameLst>
                                      </p:cBhvr>
                                      <p:tavLst>
                                        <p:tav tm="0">
                                          <p:val>
                                            <p:strVal val="#ppt_y+.06"/>
                                          </p:val>
                                        </p:tav>
                                        <p:tav tm="100000">
                                          <p:val>
                                            <p:strVal val="#ppt_y"/>
                                          </p:val>
                                        </p:tav>
                                      </p:tavLst>
                                    </p:anim>
                                  </p:childTnLst>
                                </p:cTn>
                              </p:par>
                              <p:par>
                                <p:cTn id="180" presetID="42" presetClass="entr" presetSubtype="0" fill="hold" grpId="0" nodeType="withEffect">
                                  <p:stCondLst>
                                    <p:cond delay="0"/>
                                  </p:stCondLst>
                                  <p:childTnLst>
                                    <p:set>
                                      <p:cBhvr>
                                        <p:cTn id="181" dur="1" fill="hold">
                                          <p:stCondLst>
                                            <p:cond delay="0"/>
                                          </p:stCondLst>
                                        </p:cTn>
                                        <p:tgtEl>
                                          <p:spTgt spid="41"/>
                                        </p:tgtEl>
                                        <p:attrNameLst>
                                          <p:attrName>style.visibility</p:attrName>
                                        </p:attrNameLst>
                                      </p:cBhvr>
                                      <p:to>
                                        <p:strVal val="visible"/>
                                      </p:to>
                                    </p:set>
                                    <p:animEffect transition="in" filter="fade">
                                      <p:cBhvr>
                                        <p:cTn id="182" dur="550"/>
                                        <p:tgtEl>
                                          <p:spTgt spid="41"/>
                                        </p:tgtEl>
                                      </p:cBhvr>
                                    </p:animEffect>
                                    <p:anim calcmode="lin" valueType="num">
                                      <p:cBhvr additive="base">
                                        <p:cTn id="183" dur="550" fill="hold"/>
                                        <p:tgtEl>
                                          <p:spTgt spid="41"/>
                                        </p:tgtEl>
                                        <p:attrNameLst>
                                          <p:attrName>ppt_x</p:attrName>
                                        </p:attrNameLst>
                                      </p:cBhvr>
                                      <p:tavLst>
                                        <p:tav tm="0">
                                          <p:val>
                                            <p:strVal val="#ppt_x"/>
                                          </p:val>
                                        </p:tav>
                                        <p:tav tm="100000">
                                          <p:val>
                                            <p:strVal val="#ppt_x"/>
                                          </p:val>
                                        </p:tav>
                                      </p:tavLst>
                                    </p:anim>
                                    <p:anim calcmode="lin" valueType="num">
                                      <p:cBhvr additive="base">
                                        <p:cTn id="184" dur="550" fill="hold"/>
                                        <p:tgtEl>
                                          <p:spTgt spid="41"/>
                                        </p:tgtEl>
                                        <p:attrNameLst>
                                          <p:attrName>ppt_y</p:attrName>
                                        </p:attrNameLst>
                                      </p:cBhvr>
                                      <p:tavLst>
                                        <p:tav tm="0">
                                          <p:val>
                                            <p:strVal val="#ppt_y+.06"/>
                                          </p:val>
                                        </p:tav>
                                        <p:tav tm="100000">
                                          <p:val>
                                            <p:strVal val="#ppt_y"/>
                                          </p:val>
                                        </p:tav>
                                      </p:tavLst>
                                    </p:anim>
                                  </p:childTnLst>
                                </p:cTn>
                              </p:par>
                              <p:par>
                                <p:cTn id="185" presetID="42" presetClass="entr" presetSubtype="0" fill="hold" grpId="0" nodeType="withEffect">
                                  <p:stCondLst>
                                    <p:cond delay="0"/>
                                  </p:stCondLst>
                                  <p:childTnLst>
                                    <p:set>
                                      <p:cBhvr>
                                        <p:cTn id="186" dur="1" fill="hold">
                                          <p:stCondLst>
                                            <p:cond delay="0"/>
                                          </p:stCondLst>
                                        </p:cTn>
                                        <p:tgtEl>
                                          <p:spTgt spid="42"/>
                                        </p:tgtEl>
                                        <p:attrNameLst>
                                          <p:attrName>style.visibility</p:attrName>
                                        </p:attrNameLst>
                                      </p:cBhvr>
                                      <p:to>
                                        <p:strVal val="visible"/>
                                      </p:to>
                                    </p:set>
                                    <p:animEffect transition="in" filter="fade">
                                      <p:cBhvr>
                                        <p:cTn id="187" dur="550"/>
                                        <p:tgtEl>
                                          <p:spTgt spid="42"/>
                                        </p:tgtEl>
                                      </p:cBhvr>
                                    </p:animEffect>
                                    <p:anim calcmode="lin" valueType="num">
                                      <p:cBhvr additive="base">
                                        <p:cTn id="188" dur="550" fill="hold"/>
                                        <p:tgtEl>
                                          <p:spTgt spid="42"/>
                                        </p:tgtEl>
                                        <p:attrNameLst>
                                          <p:attrName>ppt_x</p:attrName>
                                        </p:attrNameLst>
                                      </p:cBhvr>
                                      <p:tavLst>
                                        <p:tav tm="0">
                                          <p:val>
                                            <p:strVal val="#ppt_x"/>
                                          </p:val>
                                        </p:tav>
                                        <p:tav tm="100000">
                                          <p:val>
                                            <p:strVal val="#ppt_x"/>
                                          </p:val>
                                        </p:tav>
                                      </p:tavLst>
                                    </p:anim>
                                    <p:anim calcmode="lin" valueType="num">
                                      <p:cBhvr additive="base">
                                        <p:cTn id="189" dur="550" fill="hold"/>
                                        <p:tgtEl>
                                          <p:spTgt spid="42"/>
                                        </p:tgtEl>
                                        <p:attrNameLst>
                                          <p:attrName>ppt_y</p:attrName>
                                        </p:attrNameLst>
                                      </p:cBhvr>
                                      <p:tavLst>
                                        <p:tav tm="0">
                                          <p:val>
                                            <p:strVal val="#ppt_y+.06"/>
                                          </p:val>
                                        </p:tav>
                                        <p:tav tm="100000">
                                          <p:val>
                                            <p:strVal val="#ppt_y"/>
                                          </p:val>
                                        </p:tav>
                                      </p:tavLst>
                                    </p:anim>
                                  </p:childTnLst>
                                </p:cTn>
                              </p:par>
                            </p:childTnLst>
                          </p:cTn>
                        </p:par>
                        <p:par>
                          <p:cTn id="231" fill="hold">
                            <p:stCondLst>
                              <p:cond delay="3052"/>
                            </p:stCondLst>
                            <p:childTnLst>
                              <p:par>
                                <p:cTn id="190" presetID="10" presetClass="entr" presetSubtype="0" fill="hold" grpId="0" nodeType="withEffect">
                                  <p:stCondLst>
                                    <p:cond delay="0"/>
                                  </p:stCondLst>
                                  <p:childTnLst>
                                    <p:set>
                                      <p:cBhvr>
                                        <p:cTn id="191" dur="1" fill="hold">
                                          <p:stCondLst>
                                            <p:cond delay="0"/>
                                          </p:stCondLst>
                                        </p:cTn>
                                        <p:tgtEl>
                                          <p:spTgt spid="43"/>
                                        </p:tgtEl>
                                        <p:attrNameLst>
                                          <p:attrName>style.visibility</p:attrName>
                                        </p:attrNameLst>
                                      </p:cBhvr>
                                      <p:to>
                                        <p:strVal val="visible"/>
                                      </p:to>
                                    </p:set>
                                    <p:animEffect transition="in" filter="fade">
                                      <p:cBhvr>
                                        <p:cTn id="192" dur="450"/>
                                        <p:tgtEl>
                                          <p:spTgt spid="43"/>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44"/>
                                        </p:tgtEl>
                                        <p:attrNameLst>
                                          <p:attrName>style.visibility</p:attrName>
                                        </p:attrNameLst>
                                      </p:cBhvr>
                                      <p:to>
                                        <p:strVal val="visible"/>
                                      </p:to>
                                    </p:set>
                                    <p:animEffect transition="in" filter="fade">
                                      <p:cBhvr>
                                        <p:cTn id="195" dur="450"/>
                                        <p:tgtEl>
                                          <p:spTgt spid="44"/>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45"/>
                                        </p:tgtEl>
                                        <p:attrNameLst>
                                          <p:attrName>style.visibility</p:attrName>
                                        </p:attrNameLst>
                                      </p:cBhvr>
                                      <p:to>
                                        <p:strVal val="visible"/>
                                      </p:to>
                                    </p:set>
                                    <p:animEffect transition="in" filter="fade">
                                      <p:cBhvr>
                                        <p:cTn id="198" dur="450"/>
                                        <p:tgtEl>
                                          <p:spTgt spid="45"/>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46"/>
                                        </p:tgtEl>
                                        <p:attrNameLst>
                                          <p:attrName>style.visibility</p:attrName>
                                        </p:attrNameLst>
                                      </p:cBhvr>
                                      <p:to>
                                        <p:strVal val="visible"/>
                                      </p:to>
                                    </p:set>
                                    <p:animEffect transition="in" filter="fade">
                                      <p:cBhvr>
                                        <p:cTn id="201" dur="450"/>
                                        <p:tgtEl>
                                          <p:spTgt spid="46"/>
                                        </p:tgtEl>
                                      </p:cBhvr>
                                    </p:animEffect>
                                  </p:childTnLst>
                                </p:cTn>
                              </p:par>
                            </p:childTnLst>
                          </p:cTn>
                        </p:par>
                        <p:par>
                          <p:cTn id="232" fill="hold">
                            <p:stCondLst>
                              <p:cond delay="3300"/>
                            </p:stCondLst>
                            <p:childTnLst>
                              <p:par>
                                <p:cTn id="202" presetID="42" presetClass="entr" presetSubtype="0" fill="hold" grpId="0" nodeType="withEffect">
                                  <p:stCondLst>
                                    <p:cond delay="0"/>
                                  </p:stCondLst>
                                  <p:childTnLst>
                                    <p:set>
                                      <p:cBhvr>
                                        <p:cTn id="203" dur="1" fill="hold">
                                          <p:stCondLst>
                                            <p:cond delay="0"/>
                                          </p:stCondLst>
                                        </p:cTn>
                                        <p:tgtEl>
                                          <p:spTgt spid="47"/>
                                        </p:tgtEl>
                                        <p:attrNameLst>
                                          <p:attrName>style.visibility</p:attrName>
                                        </p:attrNameLst>
                                      </p:cBhvr>
                                      <p:to>
                                        <p:strVal val="visible"/>
                                      </p:to>
                                    </p:set>
                                    <p:animEffect transition="in" filter="fade">
                                      <p:cBhvr>
                                        <p:cTn id="204" dur="550"/>
                                        <p:tgtEl>
                                          <p:spTgt spid="47"/>
                                        </p:tgtEl>
                                      </p:cBhvr>
                                    </p:animEffect>
                                    <p:anim calcmode="lin" valueType="num">
                                      <p:cBhvr additive="base">
                                        <p:cTn id="205" dur="550" fill="hold"/>
                                        <p:tgtEl>
                                          <p:spTgt spid="47"/>
                                        </p:tgtEl>
                                        <p:attrNameLst>
                                          <p:attrName>ppt_x</p:attrName>
                                        </p:attrNameLst>
                                      </p:cBhvr>
                                      <p:tavLst>
                                        <p:tav tm="0">
                                          <p:val>
                                            <p:strVal val="#ppt_x"/>
                                          </p:val>
                                        </p:tav>
                                        <p:tav tm="100000">
                                          <p:val>
                                            <p:strVal val="#ppt_x"/>
                                          </p:val>
                                        </p:tav>
                                      </p:tavLst>
                                    </p:anim>
                                    <p:anim calcmode="lin" valueType="num">
                                      <p:cBhvr additive="base">
                                        <p:cTn id="206" dur="550" fill="hold"/>
                                        <p:tgtEl>
                                          <p:spTgt spid="47"/>
                                        </p:tgtEl>
                                        <p:attrNameLst>
                                          <p:attrName>ppt_y</p:attrName>
                                        </p:attrNameLst>
                                      </p:cBhvr>
                                      <p:tavLst>
                                        <p:tav tm="0">
                                          <p:val>
                                            <p:strVal val="#ppt_y+.06"/>
                                          </p:val>
                                        </p:tav>
                                        <p:tav tm="100000">
                                          <p:val>
                                            <p:strVal val="#ppt_y"/>
                                          </p:val>
                                        </p:tav>
                                      </p:tavLst>
                                    </p:anim>
                                  </p:childTnLst>
                                </p:cTn>
                              </p:par>
                              <p:par>
                                <p:cTn id="207" presetID="42" presetClass="entr" presetSubtype="0" fill="hold" grpId="0" nodeType="withEffect">
                                  <p:stCondLst>
                                    <p:cond delay="0"/>
                                  </p:stCondLst>
                                  <p:childTnLst>
                                    <p:set>
                                      <p:cBhvr>
                                        <p:cTn id="208" dur="1" fill="hold">
                                          <p:stCondLst>
                                            <p:cond delay="0"/>
                                          </p:stCondLst>
                                        </p:cTn>
                                        <p:tgtEl>
                                          <p:spTgt spid="48"/>
                                        </p:tgtEl>
                                        <p:attrNameLst>
                                          <p:attrName>style.visibility</p:attrName>
                                        </p:attrNameLst>
                                      </p:cBhvr>
                                      <p:to>
                                        <p:strVal val="visible"/>
                                      </p:to>
                                    </p:set>
                                    <p:animEffect transition="in" filter="fade">
                                      <p:cBhvr>
                                        <p:cTn id="209" dur="550"/>
                                        <p:tgtEl>
                                          <p:spTgt spid="48"/>
                                        </p:tgtEl>
                                      </p:cBhvr>
                                    </p:animEffect>
                                    <p:anim calcmode="lin" valueType="num">
                                      <p:cBhvr additive="base">
                                        <p:cTn id="210" dur="550" fill="hold"/>
                                        <p:tgtEl>
                                          <p:spTgt spid="48"/>
                                        </p:tgtEl>
                                        <p:attrNameLst>
                                          <p:attrName>ppt_x</p:attrName>
                                        </p:attrNameLst>
                                      </p:cBhvr>
                                      <p:tavLst>
                                        <p:tav tm="0">
                                          <p:val>
                                            <p:strVal val="#ppt_x"/>
                                          </p:val>
                                        </p:tav>
                                        <p:tav tm="100000">
                                          <p:val>
                                            <p:strVal val="#ppt_x"/>
                                          </p:val>
                                        </p:tav>
                                      </p:tavLst>
                                    </p:anim>
                                    <p:anim calcmode="lin" valueType="num">
                                      <p:cBhvr additive="base">
                                        <p:cTn id="211" dur="550" fill="hold"/>
                                        <p:tgtEl>
                                          <p:spTgt spid="48"/>
                                        </p:tgtEl>
                                        <p:attrNameLst>
                                          <p:attrName>ppt_y</p:attrName>
                                        </p:attrNameLst>
                                      </p:cBhvr>
                                      <p:tavLst>
                                        <p:tav tm="0">
                                          <p:val>
                                            <p:strVal val="#ppt_y+.06"/>
                                          </p:val>
                                        </p:tav>
                                        <p:tav tm="100000">
                                          <p:val>
                                            <p:strVal val="#ppt_y"/>
                                          </p:val>
                                        </p:tav>
                                      </p:tavLst>
                                    </p:anim>
                                  </p:childTnLst>
                                </p:cTn>
                              </p:par>
                            </p:childTnLst>
                          </p:cTn>
                        </p:par>
                        <p:par>
                          <p:cTn id="233" fill="hold">
                            <p:stCondLst>
                              <p:cond delay="3602"/>
                            </p:stCondLst>
                            <p:childTnLst>
                              <p:par>
                                <p:cTn id="212" presetID="42" presetClass="entr" presetSubtype="0" fill="hold" grpId="0" nodeType="withEffect">
                                  <p:stCondLst>
                                    <p:cond delay="0"/>
                                  </p:stCondLst>
                                  <p:childTnLst>
                                    <p:set>
                                      <p:cBhvr>
                                        <p:cTn id="213" dur="1" fill="hold">
                                          <p:stCondLst>
                                            <p:cond delay="0"/>
                                          </p:stCondLst>
                                        </p:cTn>
                                        <p:tgtEl>
                                          <p:spTgt spid="49"/>
                                        </p:tgtEl>
                                        <p:attrNameLst>
                                          <p:attrName>style.visibility</p:attrName>
                                        </p:attrNameLst>
                                      </p:cBhvr>
                                      <p:to>
                                        <p:strVal val="visible"/>
                                      </p:to>
                                    </p:set>
                                    <p:animEffect transition="in" filter="fade">
                                      <p:cBhvr>
                                        <p:cTn id="214" dur="550"/>
                                        <p:tgtEl>
                                          <p:spTgt spid="49"/>
                                        </p:tgtEl>
                                      </p:cBhvr>
                                    </p:animEffect>
                                    <p:anim calcmode="lin" valueType="num">
                                      <p:cBhvr additive="base">
                                        <p:cTn id="215" dur="550" fill="hold"/>
                                        <p:tgtEl>
                                          <p:spTgt spid="49"/>
                                        </p:tgtEl>
                                        <p:attrNameLst>
                                          <p:attrName>ppt_x</p:attrName>
                                        </p:attrNameLst>
                                      </p:cBhvr>
                                      <p:tavLst>
                                        <p:tav tm="0">
                                          <p:val>
                                            <p:strVal val="#ppt_x"/>
                                          </p:val>
                                        </p:tav>
                                        <p:tav tm="100000">
                                          <p:val>
                                            <p:strVal val="#ppt_x"/>
                                          </p:val>
                                        </p:tav>
                                      </p:tavLst>
                                    </p:anim>
                                    <p:anim calcmode="lin" valueType="num">
                                      <p:cBhvr additive="base">
                                        <p:cTn id="216" dur="550" fill="hold"/>
                                        <p:tgtEl>
                                          <p:spTgt spid="49"/>
                                        </p:tgtEl>
                                        <p:attrNameLst>
                                          <p:attrName>ppt_y</p:attrName>
                                        </p:attrNameLst>
                                      </p:cBhvr>
                                      <p:tavLst>
                                        <p:tav tm="0">
                                          <p:val>
                                            <p:strVal val="#ppt_y+.06"/>
                                          </p:val>
                                        </p:tav>
                                        <p:tav tm="100000">
                                          <p:val>
                                            <p:strVal val="#ppt_y"/>
                                          </p:val>
                                        </p:tav>
                                      </p:tavLst>
                                    </p:anim>
                                  </p:childTnLst>
                                </p:cTn>
                              </p:par>
                              <p:par>
                                <p:cTn id="217" presetID="42" presetClass="entr" presetSubtype="0" fill="hold" grpId="0" nodeType="withEffect">
                                  <p:stCondLst>
                                    <p:cond delay="0"/>
                                  </p:stCondLst>
                                  <p:childTnLst>
                                    <p:set>
                                      <p:cBhvr>
                                        <p:cTn id="218" dur="1" fill="hold">
                                          <p:stCondLst>
                                            <p:cond delay="0"/>
                                          </p:stCondLst>
                                        </p:cTn>
                                        <p:tgtEl>
                                          <p:spTgt spid="50"/>
                                        </p:tgtEl>
                                        <p:attrNameLst>
                                          <p:attrName>style.visibility</p:attrName>
                                        </p:attrNameLst>
                                      </p:cBhvr>
                                      <p:to>
                                        <p:strVal val="visible"/>
                                      </p:to>
                                    </p:set>
                                    <p:animEffect transition="in" filter="fade">
                                      <p:cBhvr>
                                        <p:cTn id="219" dur="550"/>
                                        <p:tgtEl>
                                          <p:spTgt spid="50"/>
                                        </p:tgtEl>
                                      </p:cBhvr>
                                    </p:animEffect>
                                    <p:anim calcmode="lin" valueType="num">
                                      <p:cBhvr additive="base">
                                        <p:cTn id="220" dur="550" fill="hold"/>
                                        <p:tgtEl>
                                          <p:spTgt spid="50"/>
                                        </p:tgtEl>
                                        <p:attrNameLst>
                                          <p:attrName>ppt_x</p:attrName>
                                        </p:attrNameLst>
                                      </p:cBhvr>
                                      <p:tavLst>
                                        <p:tav tm="0">
                                          <p:val>
                                            <p:strVal val="#ppt_x"/>
                                          </p:val>
                                        </p:tav>
                                        <p:tav tm="100000">
                                          <p:val>
                                            <p:strVal val="#ppt_x"/>
                                          </p:val>
                                        </p:tav>
                                      </p:tavLst>
                                    </p:anim>
                                    <p:anim calcmode="lin" valueType="num">
                                      <p:cBhvr additive="base">
                                        <p:cTn id="221" dur="550" fill="hold"/>
                                        <p:tgtEl>
                                          <p:spTgt spid="50"/>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292608"/>
          </a:xfrm>
          <a:prstGeom prst="rect">
            <a:avLst/>
          </a:prstGeom>
          <a:noFill/>
          <a:ln/>
        </p:spPr>
        <p:txBody>
          <a:bodyPr wrap="square" lIns="0" tIns="0" rIns="0" bIns="0" rtlCol="0" anchor="t"/>
          <a:lstStyle/>
          <a:p>
            <a:pPr indent="0" marL="0">
              <a:buNone/>
            </a:pPr>
            <a:r>
              <a:rPr lang="en-US" sz="1200" b="1" spc="200" kern="0" dirty="0">
                <a:solidFill>
                  <a:schemeClr val="accent5"/>
                </a:solidFill>
              </a:rPr>
              <a:t>PRIVACY AND GOVERNANCE</a:t>
            </a:r>
            <a:endParaRPr lang="en-US" sz="1200" dirty="0"/>
          </a:p>
        </p:txBody>
      </p:sp>
      <p:sp>
        <p:nvSpPr>
          <p:cNvPr id="3" name="Text 0"/>
          <p:cNvSpPr/>
          <p:nvPr>
            <p:ph idx="101" type="title" hasCustomPrompt="1"/>
          </p:nvPr>
        </p:nvSpPr>
        <p:spPr>
          <a:xfrm>
            <a:off x="548640" y="676656"/>
            <a:ext cx="11064240" cy="73152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Biometric data is sensitive: who is responsible?</a:t>
            </a:r>
            <a:endParaRPr lang="en-US" sz="3400" dirty="0"/>
          </a:p>
        </p:txBody>
      </p:sp>
      <p:sp>
        <p:nvSpPr>
          <p:cNvPr id="4" name="a01_fade_rolesLbl"/>
          <p:cNvSpPr txBox="1"/>
          <p:nvPr/>
        </p:nvSpPr>
        <p:spPr>
          <a:xfrm>
            <a:off x="548640" y="1572768"/>
            <a:ext cx="539496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DPDP ACT ROLES (OUR MAPPING)</a:t>
            </a:r>
            <a:endParaRPr lang="en-US" sz="1200" dirty="0"/>
          </a:p>
        </p:txBody>
      </p:sp>
      <p:sp>
        <p:nvSpPr>
          <p:cNvPr id="5" name="a02_rise_role0"/>
          <p:cNvSpPr/>
          <p:nvPr/>
        </p:nvSpPr>
        <p:spPr>
          <a:xfrm>
            <a:off x="548640" y="1920240"/>
            <a:ext cx="5394960" cy="603504"/>
          </a:xfrm>
          <a:prstGeom prst="roundRect">
            <a:avLst>
              <a:gd name="adj" fmla="val 18182"/>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6" name="a02_rise_roleN0"/>
          <p:cNvSpPr txBox="1"/>
          <p:nvPr/>
        </p:nvSpPr>
        <p:spPr>
          <a:xfrm>
            <a:off x="777240" y="1920240"/>
            <a:ext cx="1737360" cy="603504"/>
          </a:xfrm>
          <a:prstGeom prst="rect">
            <a:avLst/>
          </a:prstGeom>
          <a:noFill/>
          <a:ln/>
        </p:spPr>
        <p:txBody>
          <a:bodyPr wrap="square" lIns="0" tIns="0" rIns="0" bIns="0" rtlCol="0" anchor="ctr"/>
          <a:lstStyle/>
          <a:p>
            <a:pPr indent="0" marL="0">
              <a:buNone/>
            </a:pPr>
            <a:r>
              <a:rPr lang="en-US" sz="1500" b="1" dirty="0">
                <a:solidFill>
                  <a:schemeClr val="accent1"/>
                </a:solidFill>
              </a:rPr>
              <a:t>Data Principal</a:t>
            </a:r>
            <a:endParaRPr lang="en-US" sz="1500" dirty="0"/>
          </a:p>
        </p:txBody>
      </p:sp>
      <p:sp>
        <p:nvSpPr>
          <p:cNvPr id="7" name="a02_rise_roleD0"/>
          <p:cNvSpPr txBox="1"/>
          <p:nvPr/>
        </p:nvSpPr>
        <p:spPr>
          <a:xfrm>
            <a:off x="2514600" y="1920240"/>
            <a:ext cx="3291840" cy="603504"/>
          </a:xfrm>
          <a:prstGeom prst="rect">
            <a:avLst/>
          </a:prstGeom>
          <a:noFill/>
          <a:ln/>
        </p:spPr>
        <p:txBody>
          <a:bodyPr wrap="square" lIns="0" tIns="0" rIns="0" bIns="0" rtlCol="0" anchor="ctr"/>
          <a:lstStyle/>
          <a:p>
            <a:pPr indent="0" marL="0">
              <a:buNone/>
            </a:pPr>
            <a:r>
              <a:rPr lang="en-US" sz="1400" dirty="0">
                <a:solidFill>
                  <a:schemeClr val="tx1"/>
                </a:solidFill>
              </a:rPr>
              <a:t>The beneficiary whose fingerprint is scanned</a:t>
            </a:r>
            <a:endParaRPr lang="en-US" sz="1400" dirty="0"/>
          </a:p>
        </p:txBody>
      </p:sp>
      <p:sp>
        <p:nvSpPr>
          <p:cNvPr id="8" name="a03_rise_role1"/>
          <p:cNvSpPr/>
          <p:nvPr/>
        </p:nvSpPr>
        <p:spPr>
          <a:xfrm>
            <a:off x="548640" y="2633472"/>
            <a:ext cx="5394960" cy="603504"/>
          </a:xfrm>
          <a:prstGeom prst="roundRect">
            <a:avLst>
              <a:gd name="adj" fmla="val 18182"/>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9" name="a03_rise_roleN1"/>
          <p:cNvSpPr txBox="1"/>
          <p:nvPr/>
        </p:nvSpPr>
        <p:spPr>
          <a:xfrm>
            <a:off x="777240" y="2633472"/>
            <a:ext cx="1737360" cy="603504"/>
          </a:xfrm>
          <a:prstGeom prst="rect">
            <a:avLst/>
          </a:prstGeom>
          <a:noFill/>
          <a:ln/>
        </p:spPr>
        <p:txBody>
          <a:bodyPr wrap="square" lIns="0" tIns="0" rIns="0" bIns="0" rtlCol="0" anchor="ctr"/>
          <a:lstStyle/>
          <a:p>
            <a:pPr indent="0" marL="0">
              <a:buNone/>
            </a:pPr>
            <a:r>
              <a:rPr lang="en-US" sz="1500" b="1" dirty="0">
                <a:solidFill>
                  <a:schemeClr val="accent1"/>
                </a:solidFill>
              </a:rPr>
              <a:t>Data Fiduciary</a:t>
            </a:r>
            <a:endParaRPr lang="en-US" sz="1500" dirty="0"/>
          </a:p>
        </p:txBody>
      </p:sp>
      <p:sp>
        <p:nvSpPr>
          <p:cNvPr id="10" name="a03_rise_roleD1"/>
          <p:cNvSpPr txBox="1"/>
          <p:nvPr/>
        </p:nvSpPr>
        <p:spPr>
          <a:xfrm>
            <a:off x="2514600" y="2633472"/>
            <a:ext cx="3291840" cy="603504"/>
          </a:xfrm>
          <a:prstGeom prst="rect">
            <a:avLst/>
          </a:prstGeom>
          <a:noFill/>
          <a:ln/>
        </p:spPr>
        <p:txBody>
          <a:bodyPr wrap="square" lIns="0" tIns="0" rIns="0" bIns="0" rtlCol="0" anchor="ctr"/>
          <a:lstStyle/>
          <a:p>
            <a:pPr indent="0" marL="0">
              <a:buNone/>
            </a:pPr>
            <a:r>
              <a:rPr lang="en-US" sz="1400" dirty="0">
                <a:solidFill>
                  <a:schemeClr val="tx1"/>
                </a:solidFill>
              </a:rPr>
              <a:t>UIDAI and the department running the scheme</a:t>
            </a:r>
            <a:endParaRPr lang="en-US" sz="1400" dirty="0"/>
          </a:p>
        </p:txBody>
      </p:sp>
      <p:sp>
        <p:nvSpPr>
          <p:cNvPr id="11" name="a04_rise_role2"/>
          <p:cNvSpPr/>
          <p:nvPr/>
        </p:nvSpPr>
        <p:spPr>
          <a:xfrm>
            <a:off x="548640" y="3346704"/>
            <a:ext cx="5394960" cy="603504"/>
          </a:xfrm>
          <a:prstGeom prst="roundRect">
            <a:avLst>
              <a:gd name="adj" fmla="val 18182"/>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12" name="a04_rise_roleN2"/>
          <p:cNvSpPr txBox="1"/>
          <p:nvPr/>
        </p:nvSpPr>
        <p:spPr>
          <a:xfrm>
            <a:off x="777240" y="3346704"/>
            <a:ext cx="1737360" cy="603504"/>
          </a:xfrm>
          <a:prstGeom prst="rect">
            <a:avLst/>
          </a:prstGeom>
          <a:noFill/>
          <a:ln/>
        </p:spPr>
        <p:txBody>
          <a:bodyPr wrap="square" lIns="0" tIns="0" rIns="0" bIns="0" rtlCol="0" anchor="ctr"/>
          <a:lstStyle/>
          <a:p>
            <a:pPr indent="0" marL="0">
              <a:buNone/>
            </a:pPr>
            <a:r>
              <a:rPr lang="en-US" sz="1500" b="1" dirty="0">
                <a:solidFill>
                  <a:schemeClr val="accent1"/>
                </a:solidFill>
              </a:rPr>
              <a:t>Data Processor</a:t>
            </a:r>
            <a:endParaRPr lang="en-US" sz="1500" dirty="0"/>
          </a:p>
        </p:txBody>
      </p:sp>
      <p:sp>
        <p:nvSpPr>
          <p:cNvPr id="13" name="a04_rise_roleD2"/>
          <p:cNvSpPr txBox="1"/>
          <p:nvPr/>
        </p:nvSpPr>
        <p:spPr>
          <a:xfrm>
            <a:off x="2514600" y="3346704"/>
            <a:ext cx="3291840" cy="603504"/>
          </a:xfrm>
          <a:prstGeom prst="rect">
            <a:avLst/>
          </a:prstGeom>
          <a:noFill/>
          <a:ln/>
        </p:spPr>
        <p:txBody>
          <a:bodyPr wrap="square" lIns="0" tIns="0" rIns="0" bIns="0" rtlCol="0" anchor="ctr"/>
          <a:lstStyle/>
          <a:p>
            <a:pPr indent="0" marL="0">
              <a:buNone/>
            </a:pPr>
            <a:r>
              <a:rPr lang="en-US" sz="1400" dirty="0">
                <a:solidFill>
                  <a:schemeClr val="tx1"/>
                </a:solidFill>
              </a:rPr>
              <a:t>Authentication agencies and device operators</a:t>
            </a:r>
            <a:endParaRPr lang="en-US" sz="1400" dirty="0"/>
          </a:p>
        </p:txBody>
      </p:sp>
      <p:sp>
        <p:nvSpPr>
          <p:cNvPr id="14" name="a05_fade_rightsLbl"/>
          <p:cNvSpPr txBox="1"/>
          <p:nvPr/>
        </p:nvSpPr>
        <p:spPr>
          <a:xfrm>
            <a:off x="548640" y="4114800"/>
            <a:ext cx="539496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RIGHTS THAT MUST WORK IN PRACTICE</a:t>
            </a:r>
            <a:endParaRPr lang="en-US" sz="1200" dirty="0"/>
          </a:p>
        </p:txBody>
      </p:sp>
      <p:sp>
        <p:nvSpPr>
          <p:cNvPr id="15" name="a05_fade_right0"/>
          <p:cNvSpPr/>
          <p:nvPr/>
        </p:nvSpPr>
        <p:spPr>
          <a:xfrm>
            <a:off x="548640" y="4462272"/>
            <a:ext cx="1186891" cy="402336"/>
          </a:xfrm>
          <a:prstGeom prst="roundRect">
            <a:avLst>
              <a:gd name="adj" fmla="val 50000"/>
            </a:avLst>
          </a:prstGeom>
          <a:solidFill>
            <a:schemeClr val="accent1">
              <a:alpha val="10000"/>
            </a:schemeClr>
          </a:solidFill>
          <a:ln/>
        </p:spPr>
      </p:sp>
      <p:sp>
        <p:nvSpPr>
          <p:cNvPr id="16" name="a05_fade_rightT0"/>
          <p:cNvSpPr txBox="1"/>
          <p:nvPr/>
        </p:nvSpPr>
        <p:spPr>
          <a:xfrm>
            <a:off x="548640" y="4462272"/>
            <a:ext cx="1186891" cy="402336"/>
          </a:xfrm>
          <a:prstGeom prst="rect">
            <a:avLst/>
          </a:prstGeom>
          <a:noFill/>
          <a:ln/>
        </p:spPr>
        <p:txBody>
          <a:bodyPr wrap="square" lIns="0" tIns="0" rIns="0" bIns="0" rtlCol="0" anchor="ctr"/>
          <a:lstStyle/>
          <a:p>
            <a:pPr algn="ctr" indent="0" marL="0">
              <a:buNone/>
            </a:pPr>
            <a:r>
              <a:rPr lang="en-US" sz="1400" b="1" dirty="0">
                <a:solidFill>
                  <a:schemeClr val="accent1"/>
                </a:solidFill>
              </a:rPr>
              <a:t>Information</a:t>
            </a:r>
            <a:endParaRPr lang="en-US" sz="1400" dirty="0"/>
          </a:p>
        </p:txBody>
      </p:sp>
      <p:sp>
        <p:nvSpPr>
          <p:cNvPr id="17" name="a05_fade_right1"/>
          <p:cNvSpPr/>
          <p:nvPr/>
        </p:nvSpPr>
        <p:spPr>
          <a:xfrm>
            <a:off x="1845259" y="4462272"/>
            <a:ext cx="1097280" cy="402336"/>
          </a:xfrm>
          <a:prstGeom prst="roundRect">
            <a:avLst>
              <a:gd name="adj" fmla="val 50000"/>
            </a:avLst>
          </a:prstGeom>
          <a:solidFill>
            <a:schemeClr val="accent1">
              <a:alpha val="10000"/>
            </a:schemeClr>
          </a:solidFill>
          <a:ln/>
        </p:spPr>
      </p:sp>
      <p:sp>
        <p:nvSpPr>
          <p:cNvPr id="18" name="a05_fade_rightT1"/>
          <p:cNvSpPr txBox="1"/>
          <p:nvPr/>
        </p:nvSpPr>
        <p:spPr>
          <a:xfrm>
            <a:off x="1845259" y="4462272"/>
            <a:ext cx="1097280" cy="402336"/>
          </a:xfrm>
          <a:prstGeom prst="rect">
            <a:avLst/>
          </a:prstGeom>
          <a:noFill/>
          <a:ln/>
        </p:spPr>
        <p:txBody>
          <a:bodyPr wrap="square" lIns="0" tIns="0" rIns="0" bIns="0" rtlCol="0" anchor="ctr"/>
          <a:lstStyle/>
          <a:p>
            <a:pPr algn="ctr" indent="0" marL="0">
              <a:buNone/>
            </a:pPr>
            <a:r>
              <a:rPr lang="en-US" sz="1400" b="1" dirty="0">
                <a:solidFill>
                  <a:schemeClr val="accent1"/>
                </a:solidFill>
              </a:rPr>
              <a:t>Correction</a:t>
            </a:r>
            <a:endParaRPr lang="en-US" sz="1400" dirty="0"/>
          </a:p>
        </p:txBody>
      </p:sp>
      <p:sp>
        <p:nvSpPr>
          <p:cNvPr id="19" name="a05_fade_right2"/>
          <p:cNvSpPr/>
          <p:nvPr/>
        </p:nvSpPr>
        <p:spPr>
          <a:xfrm>
            <a:off x="3052267" y="4462272"/>
            <a:ext cx="1903781" cy="402336"/>
          </a:xfrm>
          <a:prstGeom prst="roundRect">
            <a:avLst>
              <a:gd name="adj" fmla="val 50000"/>
            </a:avLst>
          </a:prstGeom>
          <a:solidFill>
            <a:schemeClr val="accent3">
              <a:alpha val="12000"/>
            </a:schemeClr>
          </a:solidFill>
          <a:ln/>
        </p:spPr>
      </p:sp>
      <p:sp>
        <p:nvSpPr>
          <p:cNvPr id="20" name="a05_fade_rightT2"/>
          <p:cNvSpPr txBox="1"/>
          <p:nvPr/>
        </p:nvSpPr>
        <p:spPr>
          <a:xfrm>
            <a:off x="3052267" y="4462272"/>
            <a:ext cx="1903781" cy="402336"/>
          </a:xfrm>
          <a:prstGeom prst="rect">
            <a:avLst/>
          </a:prstGeom>
          <a:noFill/>
          <a:ln/>
        </p:spPr>
        <p:txBody>
          <a:bodyPr wrap="square" lIns="0" tIns="0" rIns="0" bIns="0" rtlCol="0" anchor="ctr"/>
          <a:lstStyle/>
          <a:p>
            <a:pPr algn="ctr" indent="0" marL="0">
              <a:buNone/>
            </a:pPr>
            <a:r>
              <a:rPr lang="en-US" sz="1400" b="1" dirty="0">
                <a:solidFill>
                  <a:srgbClr val="B71C1C"/>
                </a:solidFill>
              </a:rPr>
              <a:t>Grievance redressal</a:t>
            </a:r>
            <a:endParaRPr lang="en-US" sz="1400" dirty="0"/>
          </a:p>
        </p:txBody>
      </p:sp>
      <p:sp>
        <p:nvSpPr>
          <p:cNvPr id="21" name="a05_fade_right3"/>
          <p:cNvSpPr/>
          <p:nvPr/>
        </p:nvSpPr>
        <p:spPr>
          <a:xfrm>
            <a:off x="5065776" y="4462272"/>
            <a:ext cx="828446" cy="402336"/>
          </a:xfrm>
          <a:prstGeom prst="roundRect">
            <a:avLst>
              <a:gd name="adj" fmla="val 50000"/>
            </a:avLst>
          </a:prstGeom>
          <a:solidFill>
            <a:schemeClr val="accent1">
              <a:alpha val="10000"/>
            </a:schemeClr>
          </a:solidFill>
          <a:ln/>
        </p:spPr>
      </p:sp>
      <p:sp>
        <p:nvSpPr>
          <p:cNvPr id="22" name="a05_fade_rightT3"/>
          <p:cNvSpPr txBox="1"/>
          <p:nvPr/>
        </p:nvSpPr>
        <p:spPr>
          <a:xfrm>
            <a:off x="5065776" y="4462272"/>
            <a:ext cx="828446" cy="402336"/>
          </a:xfrm>
          <a:prstGeom prst="rect">
            <a:avLst/>
          </a:prstGeom>
          <a:noFill/>
          <a:ln/>
        </p:spPr>
        <p:txBody>
          <a:bodyPr wrap="square" lIns="0" tIns="0" rIns="0" bIns="0" rtlCol="0" anchor="ctr"/>
          <a:lstStyle/>
          <a:p>
            <a:pPr algn="ctr" indent="0" marL="0">
              <a:buNone/>
            </a:pPr>
            <a:r>
              <a:rPr lang="en-US" sz="1400" b="1" dirty="0">
                <a:solidFill>
                  <a:schemeClr val="accent1"/>
                </a:solidFill>
              </a:rPr>
              <a:t>Nominee</a:t>
            </a:r>
            <a:endParaRPr lang="en-US" sz="1400" dirty="0"/>
          </a:p>
        </p:txBody>
      </p:sp>
      <p:sp>
        <p:nvSpPr>
          <p:cNvPr id="23" name="a06_fade_rightsNote"/>
          <p:cNvSpPr txBox="1"/>
          <p:nvPr/>
        </p:nvSpPr>
        <p:spPr>
          <a:xfrm>
            <a:off x="548640" y="4983480"/>
            <a:ext cx="5394960" cy="640080"/>
          </a:xfrm>
          <a:prstGeom prst="rect">
            <a:avLst/>
          </a:prstGeom>
          <a:noFill/>
          <a:ln/>
        </p:spPr>
        <p:txBody>
          <a:bodyPr wrap="square" lIns="0" tIns="0" rIns="0" bIns="0" rtlCol="0" anchor="t"/>
          <a:lstStyle/>
          <a:p>
            <a:pPr indent="0" marL="0">
              <a:buNone/>
            </a:pPr>
            <a:r>
              <a:rPr lang="en-US" sz="1400" dirty="0">
                <a:solidFill>
                  <a:schemeClr val="tx1"/>
                </a:solidFill>
              </a:rPr>
              <a:t>A pensioner denied at the ration shop needs redressal on the spot, not a form to file later.</a:t>
            </a:r>
            <a:endParaRPr lang="en-US" sz="1400" dirty="0"/>
          </a:p>
        </p:txBody>
      </p:sp>
      <p:sp>
        <p:nvSpPr>
          <p:cNvPr id="24" name="a07_fade_piaLbl"/>
          <p:cNvSpPr txBox="1"/>
          <p:nvPr/>
        </p:nvSpPr>
        <p:spPr>
          <a:xfrm>
            <a:off x="6217920" y="1572768"/>
            <a:ext cx="539496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PRIVACY IMPACT ASSESSMENT, APPLIED</a:t>
            </a:r>
            <a:endParaRPr lang="en-US" sz="1200" dirty="0"/>
          </a:p>
        </p:txBody>
      </p:sp>
      <p:sp>
        <p:nvSpPr>
          <p:cNvPr id="25" name="a08_rise_pia0"/>
          <p:cNvSpPr/>
          <p:nvPr/>
        </p:nvSpPr>
        <p:spPr>
          <a:xfrm>
            <a:off x="6217920" y="1920240"/>
            <a:ext cx="5394960" cy="841248"/>
          </a:xfrm>
          <a:prstGeom prst="roundRect">
            <a:avLst>
              <a:gd name="adj" fmla="val 13043"/>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26" name="a08_rise_piaN0"/>
          <p:cNvSpPr/>
          <p:nvPr/>
        </p:nvSpPr>
        <p:spPr>
          <a:xfrm>
            <a:off x="6419088" y="2121408"/>
            <a:ext cx="438912" cy="438912"/>
          </a:xfrm>
          <a:prstGeom prst="ellipse">
            <a:avLst/>
          </a:prstGeom>
          <a:solidFill>
            <a:schemeClr val="accent1"/>
          </a:solidFill>
          <a:ln/>
        </p:spPr>
      </p:sp>
      <p:sp>
        <p:nvSpPr>
          <p:cNvPr id="27" name="a08_rise_piaNT0"/>
          <p:cNvSpPr txBox="1"/>
          <p:nvPr/>
        </p:nvSpPr>
        <p:spPr>
          <a:xfrm>
            <a:off x="6419088" y="2121408"/>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8" name="a08_rise_piaT0"/>
          <p:cNvSpPr txBox="1"/>
          <p:nvPr/>
        </p:nvSpPr>
        <p:spPr>
          <a:xfrm>
            <a:off x="7040880" y="1975104"/>
            <a:ext cx="4434840" cy="731520"/>
          </a:xfrm>
          <a:prstGeom prst="rect">
            <a:avLst/>
          </a:prstGeom>
          <a:noFill/>
          <a:ln/>
        </p:spPr>
        <p:txBody>
          <a:bodyPr wrap="square" lIns="0" tIns="0" rIns="0" bIns="0" rtlCol="0" anchor="ctr"/>
          <a:lstStyle/>
          <a:p>
            <a:pPr indent="0" marL="0">
              <a:buNone/>
            </a:pPr>
            <a:r>
              <a:rPr lang="en-US" sz="1500" b="1" dirty="0">
                <a:solidFill>
                  <a:schemeClr val="accent1"/>
                </a:solidFill>
              </a:rPr>
              <a:t>Identify data</a:t>
            </a:r>
            <a:endParaRPr lang="en-US" sz="1500" dirty="0"/>
          </a:p>
          <a:p>
            <a:pPr indent="0" marL="0">
              <a:buNone/>
            </a:pPr>
            <a:r>
              <a:rPr lang="en-US" sz="1400" dirty="0">
                <a:solidFill>
                  <a:schemeClr val="accent5"/>
                </a:solidFill>
              </a:rPr>
              <a:t>Fingerprints, iris and the Aadhaar number: sensitive and directly identifying.</a:t>
            </a:r>
            <a:endParaRPr lang="en-US" sz="1500" dirty="0"/>
          </a:p>
        </p:txBody>
      </p:sp>
      <p:sp>
        <p:nvSpPr>
          <p:cNvPr id="29" name="a09_rise_pia1"/>
          <p:cNvSpPr/>
          <p:nvPr/>
        </p:nvSpPr>
        <p:spPr>
          <a:xfrm>
            <a:off x="6217920" y="2862072"/>
            <a:ext cx="5394960" cy="841248"/>
          </a:xfrm>
          <a:prstGeom prst="roundRect">
            <a:avLst>
              <a:gd name="adj" fmla="val 13043"/>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30" name="a09_rise_piaN1"/>
          <p:cNvSpPr/>
          <p:nvPr/>
        </p:nvSpPr>
        <p:spPr>
          <a:xfrm>
            <a:off x="6419088" y="3063240"/>
            <a:ext cx="438912" cy="438912"/>
          </a:xfrm>
          <a:prstGeom prst="ellipse">
            <a:avLst/>
          </a:prstGeom>
          <a:solidFill>
            <a:schemeClr val="accent1"/>
          </a:solidFill>
          <a:ln/>
        </p:spPr>
      </p:sp>
      <p:sp>
        <p:nvSpPr>
          <p:cNvPr id="31" name="a09_rise_piaNT1"/>
          <p:cNvSpPr txBox="1"/>
          <p:nvPr/>
        </p:nvSpPr>
        <p:spPr>
          <a:xfrm>
            <a:off x="6419088" y="30632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32" name="a09_rise_piaT1"/>
          <p:cNvSpPr txBox="1"/>
          <p:nvPr/>
        </p:nvSpPr>
        <p:spPr>
          <a:xfrm>
            <a:off x="7040880" y="2916936"/>
            <a:ext cx="4434840" cy="731520"/>
          </a:xfrm>
          <a:prstGeom prst="rect">
            <a:avLst/>
          </a:prstGeom>
          <a:noFill/>
          <a:ln/>
        </p:spPr>
        <p:txBody>
          <a:bodyPr wrap="square" lIns="0" tIns="0" rIns="0" bIns="0" rtlCol="0" anchor="ctr"/>
          <a:lstStyle/>
          <a:p>
            <a:pPr indent="0" marL="0">
              <a:buNone/>
            </a:pPr>
            <a:r>
              <a:rPr lang="en-US" sz="1500" b="1" dirty="0">
                <a:solidFill>
                  <a:schemeClr val="accent1"/>
                </a:solidFill>
              </a:rPr>
              <a:t>Assess risk</a:t>
            </a:r>
            <a:endParaRPr lang="en-US" sz="1500" dirty="0"/>
          </a:p>
          <a:p>
            <a:pPr indent="0" marL="0">
              <a:buNone/>
            </a:pPr>
            <a:r>
              <a:rPr lang="en-US" sz="1400" dirty="0">
                <a:solidFill>
                  <a:schemeClr val="accent5"/>
                </a:solidFill>
              </a:rPr>
              <a:t>Exclusion of the elderly and manual workers, the most vulnerable users.</a:t>
            </a:r>
            <a:endParaRPr lang="en-US" sz="1500" dirty="0"/>
          </a:p>
        </p:txBody>
      </p:sp>
      <p:sp>
        <p:nvSpPr>
          <p:cNvPr id="33" name="a10_rise_pia2"/>
          <p:cNvSpPr/>
          <p:nvPr/>
        </p:nvSpPr>
        <p:spPr>
          <a:xfrm>
            <a:off x="6217920" y="3803904"/>
            <a:ext cx="5394960" cy="841248"/>
          </a:xfrm>
          <a:prstGeom prst="roundRect">
            <a:avLst>
              <a:gd name="adj" fmla="val 13043"/>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34" name="a10_rise_piaN2"/>
          <p:cNvSpPr/>
          <p:nvPr/>
        </p:nvSpPr>
        <p:spPr>
          <a:xfrm>
            <a:off x="6419088" y="4005072"/>
            <a:ext cx="438912" cy="438912"/>
          </a:xfrm>
          <a:prstGeom prst="ellipse">
            <a:avLst/>
          </a:prstGeom>
          <a:solidFill>
            <a:schemeClr val="accent1"/>
          </a:solidFill>
          <a:ln/>
        </p:spPr>
      </p:sp>
      <p:sp>
        <p:nvSpPr>
          <p:cNvPr id="35" name="a10_rise_piaNT2"/>
          <p:cNvSpPr txBox="1"/>
          <p:nvPr/>
        </p:nvSpPr>
        <p:spPr>
          <a:xfrm>
            <a:off x="6419088" y="400507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6" name="a10_rise_piaT2"/>
          <p:cNvSpPr txBox="1"/>
          <p:nvPr/>
        </p:nvSpPr>
        <p:spPr>
          <a:xfrm>
            <a:off x="7040880" y="3858768"/>
            <a:ext cx="4434840" cy="731520"/>
          </a:xfrm>
          <a:prstGeom prst="rect">
            <a:avLst/>
          </a:prstGeom>
          <a:noFill/>
          <a:ln/>
        </p:spPr>
        <p:txBody>
          <a:bodyPr wrap="square" lIns="0" tIns="0" rIns="0" bIns="0" rtlCol="0" anchor="ctr"/>
          <a:lstStyle/>
          <a:p>
            <a:pPr indent="0" marL="0">
              <a:buNone/>
            </a:pPr>
            <a:r>
              <a:rPr lang="en-US" sz="1500" b="1" dirty="0">
                <a:solidFill>
                  <a:schemeClr val="accent1"/>
                </a:solidFill>
              </a:rPr>
              <a:t>Mitigate harm</a:t>
            </a:r>
            <a:endParaRPr lang="en-US" sz="1500" dirty="0"/>
          </a:p>
          <a:p>
            <a:pPr indent="0" marL="0">
              <a:buNone/>
            </a:pPr>
            <a:r>
              <a:rPr lang="en-US" sz="1400" dirty="0">
                <a:solidFill>
                  <a:schemeClr val="accent5"/>
                </a:solidFill>
              </a:rPr>
              <a:t>Fallbacks, better devices, offline mode and exemptions.</a:t>
            </a:r>
            <a:endParaRPr lang="en-US" sz="1500" dirty="0"/>
          </a:p>
        </p:txBody>
      </p:sp>
      <p:sp>
        <p:nvSpPr>
          <p:cNvPr id="37" name="a11_rise_pia3"/>
          <p:cNvSpPr/>
          <p:nvPr/>
        </p:nvSpPr>
        <p:spPr>
          <a:xfrm>
            <a:off x="6217920" y="4745736"/>
            <a:ext cx="5394960" cy="841248"/>
          </a:xfrm>
          <a:prstGeom prst="roundRect">
            <a:avLst>
              <a:gd name="adj" fmla="val 13043"/>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38" name="a11_rise_piaN3"/>
          <p:cNvSpPr/>
          <p:nvPr/>
        </p:nvSpPr>
        <p:spPr>
          <a:xfrm>
            <a:off x="6419088" y="4946904"/>
            <a:ext cx="438912" cy="438912"/>
          </a:xfrm>
          <a:prstGeom prst="ellipse">
            <a:avLst/>
          </a:prstGeom>
          <a:solidFill>
            <a:schemeClr val="accent1"/>
          </a:solidFill>
          <a:ln/>
        </p:spPr>
      </p:sp>
      <p:sp>
        <p:nvSpPr>
          <p:cNvPr id="39" name="a11_rise_piaNT3"/>
          <p:cNvSpPr txBox="1"/>
          <p:nvPr/>
        </p:nvSpPr>
        <p:spPr>
          <a:xfrm>
            <a:off x="6419088" y="494690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40" name="a11_rise_piaT3"/>
          <p:cNvSpPr txBox="1"/>
          <p:nvPr/>
        </p:nvSpPr>
        <p:spPr>
          <a:xfrm>
            <a:off x="7040880" y="4800600"/>
            <a:ext cx="4434840" cy="731520"/>
          </a:xfrm>
          <a:prstGeom prst="rect">
            <a:avLst/>
          </a:prstGeom>
          <a:noFill/>
          <a:ln/>
        </p:spPr>
        <p:txBody>
          <a:bodyPr wrap="square" lIns="0" tIns="0" rIns="0" bIns="0" rtlCol="0" anchor="ctr"/>
          <a:lstStyle/>
          <a:p>
            <a:pPr indent="0" marL="0">
              <a:buNone/>
            </a:pPr>
            <a:r>
              <a:rPr lang="en-US" sz="1500" b="1" dirty="0">
                <a:solidFill>
                  <a:schemeClr val="accent1"/>
                </a:solidFill>
              </a:rPr>
              <a:t>Document decisions</a:t>
            </a:r>
            <a:endParaRPr lang="en-US" sz="1500" dirty="0"/>
          </a:p>
          <a:p>
            <a:pPr indent="0" marL="0">
              <a:buNone/>
            </a:pPr>
            <a:r>
              <a:rPr lang="en-US" sz="1400" dirty="0">
                <a:solidFill>
                  <a:schemeClr val="accent5"/>
                </a:solidFill>
              </a:rPr>
              <a:t>Publish denial rates and the four-fifths audit, every year.</a:t>
            </a:r>
            <a:endParaRPr lang="en-US" sz="1500" dirty="0"/>
          </a:p>
        </p:txBody>
      </p:sp>
      <p:sp>
        <p:nvSpPr>
          <p:cNvPr id="41" name="a12_rise_pbd"/>
          <p:cNvSpPr/>
          <p:nvPr/>
        </p:nvSpPr>
        <p:spPr>
          <a:xfrm>
            <a:off x="548640" y="5760720"/>
            <a:ext cx="11064240" cy="502920"/>
          </a:xfrm>
          <a:prstGeom prst="roundRect">
            <a:avLst>
              <a:gd name="adj" fmla="val 21818"/>
            </a:avLst>
          </a:prstGeom>
          <a:solidFill>
            <a:schemeClr val="bg1"/>
          </a:solidFill>
          <a:ln w="9525">
            <a:solidFill>
              <a:schemeClr val="accent6"/>
            </a:solidFill>
            <a:prstDash val="solid"/>
          </a:ln>
          <a:effectLst>
            <a:outerShdw sx="100000" sy="100000" kx="0" ky="0" algn="bl" rotWithShape="0" blurRad="127000" dist="38100" dir="5400000">
              <a:srgbClr val="0B3C5D">
                <a:alpha val="14000"/>
              </a:srgbClr>
            </a:outerShdw>
          </a:effectLst>
        </p:spPr>
      </p:sp>
      <p:sp>
        <p:nvSpPr>
          <p:cNvPr id="42" name="a12_rise_pbdT"/>
          <p:cNvSpPr txBox="1"/>
          <p:nvPr/>
        </p:nvSpPr>
        <p:spPr>
          <a:xfrm>
            <a:off x="777240" y="5760720"/>
            <a:ext cx="10698480" cy="502920"/>
          </a:xfrm>
          <a:prstGeom prst="rect">
            <a:avLst/>
          </a:prstGeom>
          <a:noFill/>
          <a:ln/>
        </p:spPr>
        <p:txBody>
          <a:bodyPr wrap="square" lIns="0" tIns="0" rIns="0" bIns="0" rtlCol="0" anchor="ctr"/>
          <a:lstStyle/>
          <a:p>
            <a:pPr indent="0" marL="0">
              <a:buNone/>
            </a:pPr>
            <a:r>
              <a:rPr lang="en-US" sz="1400" b="1" dirty="0">
                <a:solidFill>
                  <a:schemeClr val="accent4"/>
                </a:solidFill>
              </a:rPr>
              <a:t>Our project, privacy by design:  </a:t>
            </a:r>
            <a:pPr indent="0" marL="0">
              <a:buNone/>
            </a:pPr>
            <a:r>
              <a:rPr lang="en-US" sz="1400" dirty="0">
                <a:solidFill>
                  <a:schemeClr val="tx1"/>
                </a:solidFill>
              </a:rPr>
              <a:t>synthetic data only  ·  nothing personal collected or stored  ·  documented assumptions  ·  46 tests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186" fill="hold">
                      <p:stCondLst>
                        <p:cond delay="indefinite"/>
                        <p:cond evt="onBegin" delay="0">
                          <p:tn val="2"/>
                        </p:cond>
                      </p:stCondLst>
                      <p:childTnLst>
                        <p:par>
                          <p:cTn id="174"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childTnLst>
                          </p:cTn>
                        </p:par>
                        <p:par>
                          <p:cTn id="175" fill="hold">
                            <p:stCondLst>
                              <p:cond delay="247"/>
                            </p:stCondLst>
                            <p:childTnLst>
                              <p:par>
                                <p:cTn id="6" presetID="42"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50"/>
                                        <p:tgtEl>
                                          <p:spTgt spid="5"/>
                                        </p:tgtEl>
                                      </p:cBhvr>
                                    </p:animEffect>
                                    <p:anim calcmode="lin" valueType="num">
                                      <p:cBhvr additive="base">
                                        <p:cTn id="9" dur="550" fill="hold"/>
                                        <p:tgtEl>
                                          <p:spTgt spid="5"/>
                                        </p:tgtEl>
                                        <p:attrNameLst>
                                          <p:attrName>ppt_x</p:attrName>
                                        </p:attrNameLst>
                                      </p:cBhvr>
                                      <p:tavLst>
                                        <p:tav tm="0">
                                          <p:val>
                                            <p:strVal val="#ppt_x"/>
                                          </p:val>
                                        </p:tav>
                                        <p:tav tm="100000">
                                          <p:val>
                                            <p:strVal val="#ppt_x"/>
                                          </p:val>
                                        </p:tav>
                                      </p:tavLst>
                                    </p:anim>
                                    <p:anim calcmode="lin" valueType="num">
                                      <p:cBhvr additive="base">
                                        <p:cTn id="10" dur="550" fill="hold"/>
                                        <p:tgtEl>
                                          <p:spTgt spid="5"/>
                                        </p:tgtEl>
                                        <p:attrNameLst>
                                          <p:attrName>ppt_y</p:attrName>
                                        </p:attrNameLst>
                                      </p:cBhvr>
                                      <p:tavLst>
                                        <p:tav tm="0">
                                          <p:val>
                                            <p:strVal val="#ppt_y+.06"/>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50"/>
                                        <p:tgtEl>
                                          <p:spTgt spid="6"/>
                                        </p:tgtEl>
                                      </p:cBhvr>
                                    </p:animEffect>
                                    <p:anim calcmode="lin" valueType="num">
                                      <p:cBhvr additive="base">
                                        <p:cTn id="14" dur="550" fill="hold"/>
                                        <p:tgtEl>
                                          <p:spTgt spid="6"/>
                                        </p:tgtEl>
                                        <p:attrNameLst>
                                          <p:attrName>ppt_x</p:attrName>
                                        </p:attrNameLst>
                                      </p:cBhvr>
                                      <p:tavLst>
                                        <p:tav tm="0">
                                          <p:val>
                                            <p:strVal val="#ppt_x"/>
                                          </p:val>
                                        </p:tav>
                                        <p:tav tm="100000">
                                          <p:val>
                                            <p:strVal val="#ppt_x"/>
                                          </p:val>
                                        </p:tav>
                                      </p:tavLst>
                                    </p:anim>
                                    <p:anim calcmode="lin" valueType="num">
                                      <p:cBhvr additive="base">
                                        <p:cTn id="15" dur="550" fill="hold"/>
                                        <p:tgtEl>
                                          <p:spTgt spid="6"/>
                                        </p:tgtEl>
                                        <p:attrNameLst>
                                          <p:attrName>ppt_y</p:attrName>
                                        </p:attrNameLst>
                                      </p:cBhvr>
                                      <p:tavLst>
                                        <p:tav tm="0">
                                          <p:val>
                                            <p:strVal val="#ppt_y+.06"/>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50"/>
                                        <p:tgtEl>
                                          <p:spTgt spid="7"/>
                                        </p:tgtEl>
                                      </p:cBhvr>
                                    </p:animEffect>
                                    <p:anim calcmode="lin" valueType="num">
                                      <p:cBhvr additive="base">
                                        <p:cTn id="19" dur="550" fill="hold"/>
                                        <p:tgtEl>
                                          <p:spTgt spid="7"/>
                                        </p:tgtEl>
                                        <p:attrNameLst>
                                          <p:attrName>ppt_x</p:attrName>
                                        </p:attrNameLst>
                                      </p:cBhvr>
                                      <p:tavLst>
                                        <p:tav tm="0">
                                          <p:val>
                                            <p:strVal val="#ppt_x"/>
                                          </p:val>
                                        </p:tav>
                                        <p:tav tm="100000">
                                          <p:val>
                                            <p:strVal val="#ppt_x"/>
                                          </p:val>
                                        </p:tav>
                                      </p:tavLst>
                                    </p:anim>
                                    <p:anim calcmode="lin" valueType="num">
                                      <p:cBhvr additive="base">
                                        <p:cTn id="20" dur="550" fill="hold"/>
                                        <p:tgtEl>
                                          <p:spTgt spid="7"/>
                                        </p:tgtEl>
                                        <p:attrNameLst>
                                          <p:attrName>ppt_y</p:attrName>
                                        </p:attrNameLst>
                                      </p:cBhvr>
                                      <p:tavLst>
                                        <p:tav tm="0">
                                          <p:val>
                                            <p:strVal val="#ppt_y+.06"/>
                                          </p:val>
                                        </p:tav>
                                        <p:tav tm="100000">
                                          <p:val>
                                            <p:strVal val="#ppt_y"/>
                                          </p:val>
                                        </p:tav>
                                      </p:tavLst>
                                    </p:anim>
                                  </p:childTnLst>
                                </p:cTn>
                              </p:par>
                            </p:childTnLst>
                          </p:cTn>
                        </p:par>
                        <p:par>
                          <p:cTn id="176" fill="hold">
                            <p:stCondLst>
                              <p:cond delay="550"/>
                            </p:stCondLst>
                            <p:childTnLst>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50"/>
                                        <p:tgtEl>
                                          <p:spTgt spid="8"/>
                                        </p:tgtEl>
                                      </p:cBhvr>
                                    </p:animEffect>
                                    <p:anim calcmode="lin" valueType="num">
                                      <p:cBhvr additive="base">
                                        <p:cTn id="24" dur="550" fill="hold"/>
                                        <p:tgtEl>
                                          <p:spTgt spid="8"/>
                                        </p:tgtEl>
                                        <p:attrNameLst>
                                          <p:attrName>ppt_x</p:attrName>
                                        </p:attrNameLst>
                                      </p:cBhvr>
                                      <p:tavLst>
                                        <p:tav tm="0">
                                          <p:val>
                                            <p:strVal val="#ppt_x"/>
                                          </p:val>
                                        </p:tav>
                                        <p:tav tm="100000">
                                          <p:val>
                                            <p:strVal val="#ppt_x"/>
                                          </p:val>
                                        </p:tav>
                                      </p:tavLst>
                                    </p:anim>
                                    <p:anim calcmode="lin" valueType="num">
                                      <p:cBhvr additive="base">
                                        <p:cTn id="25" dur="550" fill="hold"/>
                                        <p:tgtEl>
                                          <p:spTgt spid="8"/>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50"/>
                                        <p:tgtEl>
                                          <p:spTgt spid="9"/>
                                        </p:tgtEl>
                                      </p:cBhvr>
                                    </p:animEffect>
                                    <p:anim calcmode="lin" valueType="num">
                                      <p:cBhvr additive="base">
                                        <p:cTn id="29" dur="550" fill="hold"/>
                                        <p:tgtEl>
                                          <p:spTgt spid="9"/>
                                        </p:tgtEl>
                                        <p:attrNameLst>
                                          <p:attrName>ppt_x</p:attrName>
                                        </p:attrNameLst>
                                      </p:cBhvr>
                                      <p:tavLst>
                                        <p:tav tm="0">
                                          <p:val>
                                            <p:strVal val="#ppt_x"/>
                                          </p:val>
                                        </p:tav>
                                        <p:tav tm="100000">
                                          <p:val>
                                            <p:strVal val="#ppt_x"/>
                                          </p:val>
                                        </p:tav>
                                      </p:tavLst>
                                    </p:anim>
                                    <p:anim calcmode="lin" valueType="num">
                                      <p:cBhvr additive="base">
                                        <p:cTn id="30" dur="550" fill="hold"/>
                                        <p:tgtEl>
                                          <p:spTgt spid="9"/>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50"/>
                                        <p:tgtEl>
                                          <p:spTgt spid="10"/>
                                        </p:tgtEl>
                                      </p:cBhvr>
                                    </p:animEffect>
                                    <p:anim calcmode="lin" valueType="num">
                                      <p:cBhvr additive="base">
                                        <p:cTn id="34" dur="550" fill="hold"/>
                                        <p:tgtEl>
                                          <p:spTgt spid="10"/>
                                        </p:tgtEl>
                                        <p:attrNameLst>
                                          <p:attrName>ppt_x</p:attrName>
                                        </p:attrNameLst>
                                      </p:cBhvr>
                                      <p:tavLst>
                                        <p:tav tm="0">
                                          <p:val>
                                            <p:strVal val="#ppt_x"/>
                                          </p:val>
                                        </p:tav>
                                        <p:tav tm="100000">
                                          <p:val>
                                            <p:strVal val="#ppt_x"/>
                                          </p:val>
                                        </p:tav>
                                      </p:tavLst>
                                    </p:anim>
                                    <p:anim calcmode="lin" valueType="num">
                                      <p:cBhvr additive="base">
                                        <p:cTn id="35" dur="550" fill="hold"/>
                                        <p:tgtEl>
                                          <p:spTgt spid="10"/>
                                        </p:tgtEl>
                                        <p:attrNameLst>
                                          <p:attrName>ppt_y</p:attrName>
                                        </p:attrNameLst>
                                      </p:cBhvr>
                                      <p:tavLst>
                                        <p:tav tm="0">
                                          <p:val>
                                            <p:strVal val="#ppt_y+.06"/>
                                          </p:val>
                                        </p:tav>
                                        <p:tav tm="100000">
                                          <p:val>
                                            <p:strVal val="#ppt_y"/>
                                          </p:val>
                                        </p:tav>
                                      </p:tavLst>
                                    </p:anim>
                                  </p:childTnLst>
                                </p:cTn>
                              </p:par>
                            </p:childTnLst>
                          </p:cTn>
                        </p:par>
                        <p:par>
                          <p:cTn id="177" fill="hold">
                            <p:stCondLst>
                              <p:cond delay="852"/>
                            </p:stCondLst>
                            <p:childTnLst>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anim calcmode="lin" valueType="num">
                                      <p:cBhvr additive="base">
                                        <p:cTn id="39" dur="550" fill="hold"/>
                                        <p:tgtEl>
                                          <p:spTgt spid="11"/>
                                        </p:tgtEl>
                                        <p:attrNameLst>
                                          <p:attrName>ppt_x</p:attrName>
                                        </p:attrNameLst>
                                      </p:cBhvr>
                                      <p:tavLst>
                                        <p:tav tm="0">
                                          <p:val>
                                            <p:strVal val="#ppt_x"/>
                                          </p:val>
                                        </p:tav>
                                        <p:tav tm="100000">
                                          <p:val>
                                            <p:strVal val="#ppt_x"/>
                                          </p:val>
                                        </p:tav>
                                      </p:tavLst>
                                    </p:anim>
                                    <p:anim calcmode="lin" valueType="num">
                                      <p:cBhvr additive="base">
                                        <p:cTn id="40" dur="550" fill="hold"/>
                                        <p:tgtEl>
                                          <p:spTgt spid="11"/>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50"/>
                                        <p:tgtEl>
                                          <p:spTgt spid="12"/>
                                        </p:tgtEl>
                                      </p:cBhvr>
                                    </p:animEffect>
                                    <p:anim calcmode="lin" valueType="num">
                                      <p:cBhvr additive="base">
                                        <p:cTn id="44" dur="550" fill="hold"/>
                                        <p:tgtEl>
                                          <p:spTgt spid="12"/>
                                        </p:tgtEl>
                                        <p:attrNameLst>
                                          <p:attrName>ppt_x</p:attrName>
                                        </p:attrNameLst>
                                      </p:cBhvr>
                                      <p:tavLst>
                                        <p:tav tm="0">
                                          <p:val>
                                            <p:strVal val="#ppt_x"/>
                                          </p:val>
                                        </p:tav>
                                        <p:tav tm="100000">
                                          <p:val>
                                            <p:strVal val="#ppt_x"/>
                                          </p:val>
                                        </p:tav>
                                      </p:tavLst>
                                    </p:anim>
                                    <p:anim calcmode="lin" valueType="num">
                                      <p:cBhvr additive="base">
                                        <p:cTn id="45" dur="550" fill="hold"/>
                                        <p:tgtEl>
                                          <p:spTgt spid="12"/>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50"/>
                                        <p:tgtEl>
                                          <p:spTgt spid="13"/>
                                        </p:tgtEl>
                                      </p:cBhvr>
                                    </p:animEffect>
                                    <p:anim calcmode="lin" valueType="num">
                                      <p:cBhvr additive="base">
                                        <p:cTn id="49" dur="550" fill="hold"/>
                                        <p:tgtEl>
                                          <p:spTgt spid="13"/>
                                        </p:tgtEl>
                                        <p:attrNameLst>
                                          <p:attrName>ppt_x</p:attrName>
                                        </p:attrNameLst>
                                      </p:cBhvr>
                                      <p:tavLst>
                                        <p:tav tm="0">
                                          <p:val>
                                            <p:strVal val="#ppt_x"/>
                                          </p:val>
                                        </p:tav>
                                        <p:tav tm="100000">
                                          <p:val>
                                            <p:strVal val="#ppt_x"/>
                                          </p:val>
                                        </p:tav>
                                      </p:tavLst>
                                    </p:anim>
                                    <p:anim calcmode="lin" valueType="num">
                                      <p:cBhvr additive="base">
                                        <p:cTn id="50" dur="550" fill="hold"/>
                                        <p:tgtEl>
                                          <p:spTgt spid="13"/>
                                        </p:tgtEl>
                                        <p:attrNameLst>
                                          <p:attrName>ppt_y</p:attrName>
                                        </p:attrNameLst>
                                      </p:cBhvr>
                                      <p:tavLst>
                                        <p:tav tm="0">
                                          <p:val>
                                            <p:strVal val="#ppt_y+.06"/>
                                          </p:val>
                                        </p:tav>
                                        <p:tav tm="100000">
                                          <p:val>
                                            <p:strVal val="#ppt_y"/>
                                          </p:val>
                                        </p:tav>
                                      </p:tavLst>
                                    </p:anim>
                                  </p:childTnLst>
                                </p:cTn>
                              </p:par>
                            </p:childTnLst>
                          </p:cTn>
                        </p:par>
                        <p:par>
                          <p:cTn id="178" fill="hold">
                            <p:stCondLst>
                              <p:cond delay="1155"/>
                            </p:stCondLst>
                            <p:childTnLst>
                              <p:par>
                                <p:cTn id="51" presetID="10"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450"/>
                                        <p:tgtEl>
                                          <p:spTgt spid="1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50"/>
                                        <p:tgtEl>
                                          <p:spTgt spid="1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50"/>
                                        <p:tgtEl>
                                          <p:spTgt spid="1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450"/>
                                        <p:tgtEl>
                                          <p:spTgt spid="1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450"/>
                                        <p:tgtEl>
                                          <p:spTgt spid="1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450"/>
                                        <p:tgtEl>
                                          <p:spTgt spid="1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450"/>
                                        <p:tgtEl>
                                          <p:spTgt spid="2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450"/>
                                        <p:tgtEl>
                                          <p:spTgt spid="2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450"/>
                                        <p:tgtEl>
                                          <p:spTgt spid="22"/>
                                        </p:tgtEl>
                                      </p:cBhvr>
                                    </p:animEffect>
                                  </p:childTnLst>
                                </p:cTn>
                              </p:par>
                            </p:childTnLst>
                          </p:cTn>
                        </p:par>
                        <p:par>
                          <p:cTn id="179" fill="hold">
                            <p:stCondLst>
                              <p:cond delay="1402"/>
                            </p:stCondLst>
                            <p:childTnLst>
                              <p:par>
                                <p:cTn id="78" presetID="10" presetClass="entr" presetSubtype="0" fill="hold" grpId="0" nodeType="with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450"/>
                                        <p:tgtEl>
                                          <p:spTgt spid="23"/>
                                        </p:tgtEl>
                                      </p:cBhvr>
                                    </p:animEffect>
                                  </p:childTnLst>
                                </p:cTn>
                              </p:par>
                            </p:childTnLst>
                          </p:cTn>
                        </p:par>
                        <p:par>
                          <p:cTn id="180" fill="hold">
                            <p:stCondLst>
                              <p:cond delay="1650"/>
                            </p:stCondLst>
                            <p:childTnLst>
                              <p:par>
                                <p:cTn id="81" presetID="10"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450"/>
                                        <p:tgtEl>
                                          <p:spTgt spid="24"/>
                                        </p:tgtEl>
                                      </p:cBhvr>
                                    </p:animEffect>
                                  </p:childTnLst>
                                </p:cTn>
                              </p:par>
                            </p:childTnLst>
                          </p:cTn>
                        </p:par>
                        <p:par>
                          <p:cTn id="181" fill="hold">
                            <p:stCondLst>
                              <p:cond delay="1897"/>
                            </p:stCondLst>
                            <p:childTnLst>
                              <p:par>
                                <p:cTn id="84" presetID="42"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50"/>
                                        <p:tgtEl>
                                          <p:spTgt spid="25"/>
                                        </p:tgtEl>
                                      </p:cBhvr>
                                    </p:animEffect>
                                    <p:anim calcmode="lin" valueType="num">
                                      <p:cBhvr additive="base">
                                        <p:cTn id="87" dur="550" fill="hold"/>
                                        <p:tgtEl>
                                          <p:spTgt spid="25"/>
                                        </p:tgtEl>
                                        <p:attrNameLst>
                                          <p:attrName>ppt_x</p:attrName>
                                        </p:attrNameLst>
                                      </p:cBhvr>
                                      <p:tavLst>
                                        <p:tav tm="0">
                                          <p:val>
                                            <p:strVal val="#ppt_x"/>
                                          </p:val>
                                        </p:tav>
                                        <p:tav tm="100000">
                                          <p:val>
                                            <p:strVal val="#ppt_x"/>
                                          </p:val>
                                        </p:tav>
                                      </p:tavLst>
                                    </p:anim>
                                    <p:anim calcmode="lin" valueType="num">
                                      <p:cBhvr additive="base">
                                        <p:cTn id="88" dur="550" fill="hold"/>
                                        <p:tgtEl>
                                          <p:spTgt spid="25"/>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50"/>
                                        <p:tgtEl>
                                          <p:spTgt spid="26"/>
                                        </p:tgtEl>
                                      </p:cBhvr>
                                    </p:animEffect>
                                    <p:anim calcmode="lin" valueType="num">
                                      <p:cBhvr additive="base">
                                        <p:cTn id="92" dur="550" fill="hold"/>
                                        <p:tgtEl>
                                          <p:spTgt spid="26"/>
                                        </p:tgtEl>
                                        <p:attrNameLst>
                                          <p:attrName>ppt_x</p:attrName>
                                        </p:attrNameLst>
                                      </p:cBhvr>
                                      <p:tavLst>
                                        <p:tav tm="0">
                                          <p:val>
                                            <p:strVal val="#ppt_x"/>
                                          </p:val>
                                        </p:tav>
                                        <p:tav tm="100000">
                                          <p:val>
                                            <p:strVal val="#ppt_x"/>
                                          </p:val>
                                        </p:tav>
                                      </p:tavLst>
                                    </p:anim>
                                    <p:anim calcmode="lin" valueType="num">
                                      <p:cBhvr additive="base">
                                        <p:cTn id="93" dur="550" fill="hold"/>
                                        <p:tgtEl>
                                          <p:spTgt spid="26"/>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7"/>
                                        </p:tgtEl>
                                        <p:attrNameLst>
                                          <p:attrName>style.visibility</p:attrName>
                                        </p:attrNameLst>
                                      </p:cBhvr>
                                      <p:to>
                                        <p:strVal val="visible"/>
                                      </p:to>
                                    </p:set>
                                    <p:animEffect transition="in" filter="fade">
                                      <p:cBhvr>
                                        <p:cTn id="96" dur="550"/>
                                        <p:tgtEl>
                                          <p:spTgt spid="27"/>
                                        </p:tgtEl>
                                      </p:cBhvr>
                                    </p:animEffect>
                                    <p:anim calcmode="lin" valueType="num">
                                      <p:cBhvr additive="base">
                                        <p:cTn id="97" dur="550" fill="hold"/>
                                        <p:tgtEl>
                                          <p:spTgt spid="27"/>
                                        </p:tgtEl>
                                        <p:attrNameLst>
                                          <p:attrName>ppt_x</p:attrName>
                                        </p:attrNameLst>
                                      </p:cBhvr>
                                      <p:tavLst>
                                        <p:tav tm="0">
                                          <p:val>
                                            <p:strVal val="#ppt_x"/>
                                          </p:val>
                                        </p:tav>
                                        <p:tav tm="100000">
                                          <p:val>
                                            <p:strVal val="#ppt_x"/>
                                          </p:val>
                                        </p:tav>
                                      </p:tavLst>
                                    </p:anim>
                                    <p:anim calcmode="lin" valueType="num">
                                      <p:cBhvr additive="base">
                                        <p:cTn id="98" dur="550" fill="hold"/>
                                        <p:tgtEl>
                                          <p:spTgt spid="27"/>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550"/>
                                        <p:tgtEl>
                                          <p:spTgt spid="28"/>
                                        </p:tgtEl>
                                      </p:cBhvr>
                                    </p:animEffect>
                                    <p:anim calcmode="lin" valueType="num">
                                      <p:cBhvr additive="base">
                                        <p:cTn id="102" dur="550" fill="hold"/>
                                        <p:tgtEl>
                                          <p:spTgt spid="28"/>
                                        </p:tgtEl>
                                        <p:attrNameLst>
                                          <p:attrName>ppt_x</p:attrName>
                                        </p:attrNameLst>
                                      </p:cBhvr>
                                      <p:tavLst>
                                        <p:tav tm="0">
                                          <p:val>
                                            <p:strVal val="#ppt_x"/>
                                          </p:val>
                                        </p:tav>
                                        <p:tav tm="100000">
                                          <p:val>
                                            <p:strVal val="#ppt_x"/>
                                          </p:val>
                                        </p:tav>
                                      </p:tavLst>
                                    </p:anim>
                                    <p:anim calcmode="lin" valueType="num">
                                      <p:cBhvr additive="base">
                                        <p:cTn id="103" dur="550" fill="hold"/>
                                        <p:tgtEl>
                                          <p:spTgt spid="28"/>
                                        </p:tgtEl>
                                        <p:attrNameLst>
                                          <p:attrName>ppt_y</p:attrName>
                                        </p:attrNameLst>
                                      </p:cBhvr>
                                      <p:tavLst>
                                        <p:tav tm="0">
                                          <p:val>
                                            <p:strVal val="#ppt_y+.06"/>
                                          </p:val>
                                        </p:tav>
                                        <p:tav tm="100000">
                                          <p:val>
                                            <p:strVal val="#ppt_y"/>
                                          </p:val>
                                        </p:tav>
                                      </p:tavLst>
                                    </p:anim>
                                  </p:childTnLst>
                                </p:cTn>
                              </p:par>
                            </p:childTnLst>
                          </p:cTn>
                        </p:par>
                        <p:par>
                          <p:cTn id="182" fill="hold">
                            <p:stCondLst>
                              <p:cond delay="2200"/>
                            </p:stCondLst>
                            <p:childTnLst>
                              <p:par>
                                <p:cTn id="104" presetID="42" presetClass="entr" presetSubtype="0" fill="hold" grpId="0" nodeType="withEffect">
                                  <p:stCondLst>
                                    <p:cond delay="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50"/>
                                        <p:tgtEl>
                                          <p:spTgt spid="29"/>
                                        </p:tgtEl>
                                      </p:cBhvr>
                                    </p:animEffect>
                                    <p:anim calcmode="lin" valueType="num">
                                      <p:cBhvr additive="base">
                                        <p:cTn id="107" dur="550" fill="hold"/>
                                        <p:tgtEl>
                                          <p:spTgt spid="29"/>
                                        </p:tgtEl>
                                        <p:attrNameLst>
                                          <p:attrName>ppt_x</p:attrName>
                                        </p:attrNameLst>
                                      </p:cBhvr>
                                      <p:tavLst>
                                        <p:tav tm="0">
                                          <p:val>
                                            <p:strVal val="#ppt_x"/>
                                          </p:val>
                                        </p:tav>
                                        <p:tav tm="100000">
                                          <p:val>
                                            <p:strVal val="#ppt_x"/>
                                          </p:val>
                                        </p:tav>
                                      </p:tavLst>
                                    </p:anim>
                                    <p:anim calcmode="lin" valueType="num">
                                      <p:cBhvr additive="base">
                                        <p:cTn id="108" dur="550" fill="hold"/>
                                        <p:tgtEl>
                                          <p:spTgt spid="29"/>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30"/>
                                        </p:tgtEl>
                                        <p:attrNameLst>
                                          <p:attrName>style.visibility</p:attrName>
                                        </p:attrNameLst>
                                      </p:cBhvr>
                                      <p:to>
                                        <p:strVal val="visible"/>
                                      </p:to>
                                    </p:set>
                                    <p:animEffect transition="in" filter="fade">
                                      <p:cBhvr>
                                        <p:cTn id="111" dur="550"/>
                                        <p:tgtEl>
                                          <p:spTgt spid="30"/>
                                        </p:tgtEl>
                                      </p:cBhvr>
                                    </p:animEffect>
                                    <p:anim calcmode="lin" valueType="num">
                                      <p:cBhvr additive="base">
                                        <p:cTn id="112" dur="550" fill="hold"/>
                                        <p:tgtEl>
                                          <p:spTgt spid="30"/>
                                        </p:tgtEl>
                                        <p:attrNameLst>
                                          <p:attrName>ppt_x</p:attrName>
                                        </p:attrNameLst>
                                      </p:cBhvr>
                                      <p:tavLst>
                                        <p:tav tm="0">
                                          <p:val>
                                            <p:strVal val="#ppt_x"/>
                                          </p:val>
                                        </p:tav>
                                        <p:tav tm="100000">
                                          <p:val>
                                            <p:strVal val="#ppt_x"/>
                                          </p:val>
                                        </p:tav>
                                      </p:tavLst>
                                    </p:anim>
                                    <p:anim calcmode="lin" valueType="num">
                                      <p:cBhvr additive="base">
                                        <p:cTn id="113" dur="550" fill="hold"/>
                                        <p:tgtEl>
                                          <p:spTgt spid="30"/>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31"/>
                                        </p:tgtEl>
                                        <p:attrNameLst>
                                          <p:attrName>style.visibility</p:attrName>
                                        </p:attrNameLst>
                                      </p:cBhvr>
                                      <p:to>
                                        <p:strVal val="visible"/>
                                      </p:to>
                                    </p:set>
                                    <p:animEffect transition="in" filter="fade">
                                      <p:cBhvr>
                                        <p:cTn id="116" dur="550"/>
                                        <p:tgtEl>
                                          <p:spTgt spid="31"/>
                                        </p:tgtEl>
                                      </p:cBhvr>
                                    </p:animEffect>
                                    <p:anim calcmode="lin" valueType="num">
                                      <p:cBhvr additive="base">
                                        <p:cTn id="117" dur="550" fill="hold"/>
                                        <p:tgtEl>
                                          <p:spTgt spid="31"/>
                                        </p:tgtEl>
                                        <p:attrNameLst>
                                          <p:attrName>ppt_x</p:attrName>
                                        </p:attrNameLst>
                                      </p:cBhvr>
                                      <p:tavLst>
                                        <p:tav tm="0">
                                          <p:val>
                                            <p:strVal val="#ppt_x"/>
                                          </p:val>
                                        </p:tav>
                                        <p:tav tm="100000">
                                          <p:val>
                                            <p:strVal val="#ppt_x"/>
                                          </p:val>
                                        </p:tav>
                                      </p:tavLst>
                                    </p:anim>
                                    <p:anim calcmode="lin" valueType="num">
                                      <p:cBhvr additive="base">
                                        <p:cTn id="118" dur="550" fill="hold"/>
                                        <p:tgtEl>
                                          <p:spTgt spid="31"/>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32"/>
                                        </p:tgtEl>
                                        <p:attrNameLst>
                                          <p:attrName>style.visibility</p:attrName>
                                        </p:attrNameLst>
                                      </p:cBhvr>
                                      <p:to>
                                        <p:strVal val="visible"/>
                                      </p:to>
                                    </p:set>
                                    <p:animEffect transition="in" filter="fade">
                                      <p:cBhvr>
                                        <p:cTn id="121" dur="550"/>
                                        <p:tgtEl>
                                          <p:spTgt spid="32"/>
                                        </p:tgtEl>
                                      </p:cBhvr>
                                    </p:animEffect>
                                    <p:anim calcmode="lin" valueType="num">
                                      <p:cBhvr additive="base">
                                        <p:cTn id="122" dur="550" fill="hold"/>
                                        <p:tgtEl>
                                          <p:spTgt spid="32"/>
                                        </p:tgtEl>
                                        <p:attrNameLst>
                                          <p:attrName>ppt_x</p:attrName>
                                        </p:attrNameLst>
                                      </p:cBhvr>
                                      <p:tavLst>
                                        <p:tav tm="0">
                                          <p:val>
                                            <p:strVal val="#ppt_x"/>
                                          </p:val>
                                        </p:tav>
                                        <p:tav tm="100000">
                                          <p:val>
                                            <p:strVal val="#ppt_x"/>
                                          </p:val>
                                        </p:tav>
                                      </p:tavLst>
                                    </p:anim>
                                    <p:anim calcmode="lin" valueType="num">
                                      <p:cBhvr additive="base">
                                        <p:cTn id="123" dur="550" fill="hold"/>
                                        <p:tgtEl>
                                          <p:spTgt spid="32"/>
                                        </p:tgtEl>
                                        <p:attrNameLst>
                                          <p:attrName>ppt_y</p:attrName>
                                        </p:attrNameLst>
                                      </p:cBhvr>
                                      <p:tavLst>
                                        <p:tav tm="0">
                                          <p:val>
                                            <p:strVal val="#ppt_y+.06"/>
                                          </p:val>
                                        </p:tav>
                                        <p:tav tm="100000">
                                          <p:val>
                                            <p:strVal val="#ppt_y"/>
                                          </p:val>
                                        </p:tav>
                                      </p:tavLst>
                                    </p:anim>
                                  </p:childTnLst>
                                </p:cTn>
                              </p:par>
                            </p:childTnLst>
                          </p:cTn>
                        </p:par>
                        <p:par>
                          <p:cTn id="183" fill="hold">
                            <p:stCondLst>
                              <p:cond delay="2502"/>
                            </p:stCondLst>
                            <p:childTnLst>
                              <p:par>
                                <p:cTn id="124" presetID="42" presetClass="entr" presetSubtype="0" fill="hold" grpId="0" nodeType="with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anim calcmode="lin" valueType="num">
                                      <p:cBhvr additive="base">
                                        <p:cTn id="127" dur="550" fill="hold"/>
                                        <p:tgtEl>
                                          <p:spTgt spid="33"/>
                                        </p:tgtEl>
                                        <p:attrNameLst>
                                          <p:attrName>ppt_x</p:attrName>
                                        </p:attrNameLst>
                                      </p:cBhvr>
                                      <p:tavLst>
                                        <p:tav tm="0">
                                          <p:val>
                                            <p:strVal val="#ppt_x"/>
                                          </p:val>
                                        </p:tav>
                                        <p:tav tm="100000">
                                          <p:val>
                                            <p:strVal val="#ppt_x"/>
                                          </p:val>
                                        </p:tav>
                                      </p:tavLst>
                                    </p:anim>
                                    <p:anim calcmode="lin" valueType="num">
                                      <p:cBhvr additive="base">
                                        <p:cTn id="128" dur="550" fill="hold"/>
                                        <p:tgtEl>
                                          <p:spTgt spid="33"/>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1" dur="550"/>
                                        <p:tgtEl>
                                          <p:spTgt spid="34"/>
                                        </p:tgtEl>
                                      </p:cBhvr>
                                    </p:animEffect>
                                    <p:anim calcmode="lin" valueType="num">
                                      <p:cBhvr additive="base">
                                        <p:cTn id="132" dur="550" fill="hold"/>
                                        <p:tgtEl>
                                          <p:spTgt spid="34"/>
                                        </p:tgtEl>
                                        <p:attrNameLst>
                                          <p:attrName>ppt_x</p:attrName>
                                        </p:attrNameLst>
                                      </p:cBhvr>
                                      <p:tavLst>
                                        <p:tav tm="0">
                                          <p:val>
                                            <p:strVal val="#ppt_x"/>
                                          </p:val>
                                        </p:tav>
                                        <p:tav tm="100000">
                                          <p:val>
                                            <p:strVal val="#ppt_x"/>
                                          </p:val>
                                        </p:tav>
                                      </p:tavLst>
                                    </p:anim>
                                    <p:anim calcmode="lin" valueType="num">
                                      <p:cBhvr additive="base">
                                        <p:cTn id="133" dur="550" fill="hold"/>
                                        <p:tgtEl>
                                          <p:spTgt spid="34"/>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35"/>
                                        </p:tgtEl>
                                        <p:attrNameLst>
                                          <p:attrName>style.visibility</p:attrName>
                                        </p:attrNameLst>
                                      </p:cBhvr>
                                      <p:to>
                                        <p:strVal val="visible"/>
                                      </p:to>
                                    </p:set>
                                    <p:animEffect transition="in" filter="fade">
                                      <p:cBhvr>
                                        <p:cTn id="136" dur="550"/>
                                        <p:tgtEl>
                                          <p:spTgt spid="35"/>
                                        </p:tgtEl>
                                      </p:cBhvr>
                                    </p:animEffect>
                                    <p:anim calcmode="lin" valueType="num">
                                      <p:cBhvr additive="base">
                                        <p:cTn id="137" dur="550" fill="hold"/>
                                        <p:tgtEl>
                                          <p:spTgt spid="35"/>
                                        </p:tgtEl>
                                        <p:attrNameLst>
                                          <p:attrName>ppt_x</p:attrName>
                                        </p:attrNameLst>
                                      </p:cBhvr>
                                      <p:tavLst>
                                        <p:tav tm="0">
                                          <p:val>
                                            <p:strVal val="#ppt_x"/>
                                          </p:val>
                                        </p:tav>
                                        <p:tav tm="100000">
                                          <p:val>
                                            <p:strVal val="#ppt_x"/>
                                          </p:val>
                                        </p:tav>
                                      </p:tavLst>
                                    </p:anim>
                                    <p:anim calcmode="lin" valueType="num">
                                      <p:cBhvr additive="base">
                                        <p:cTn id="138" dur="550" fill="hold"/>
                                        <p:tgtEl>
                                          <p:spTgt spid="35"/>
                                        </p:tgtEl>
                                        <p:attrNameLst>
                                          <p:attrName>ppt_y</p:attrName>
                                        </p:attrNameLst>
                                      </p:cBhvr>
                                      <p:tavLst>
                                        <p:tav tm="0">
                                          <p:val>
                                            <p:strVal val="#ppt_y+.06"/>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36"/>
                                        </p:tgtEl>
                                        <p:attrNameLst>
                                          <p:attrName>style.visibility</p:attrName>
                                        </p:attrNameLst>
                                      </p:cBhvr>
                                      <p:to>
                                        <p:strVal val="visible"/>
                                      </p:to>
                                    </p:set>
                                    <p:animEffect transition="in" filter="fade">
                                      <p:cBhvr>
                                        <p:cTn id="141" dur="550"/>
                                        <p:tgtEl>
                                          <p:spTgt spid="36"/>
                                        </p:tgtEl>
                                      </p:cBhvr>
                                    </p:animEffect>
                                    <p:anim calcmode="lin" valueType="num">
                                      <p:cBhvr additive="base">
                                        <p:cTn id="142" dur="550" fill="hold"/>
                                        <p:tgtEl>
                                          <p:spTgt spid="36"/>
                                        </p:tgtEl>
                                        <p:attrNameLst>
                                          <p:attrName>ppt_x</p:attrName>
                                        </p:attrNameLst>
                                      </p:cBhvr>
                                      <p:tavLst>
                                        <p:tav tm="0">
                                          <p:val>
                                            <p:strVal val="#ppt_x"/>
                                          </p:val>
                                        </p:tav>
                                        <p:tav tm="100000">
                                          <p:val>
                                            <p:strVal val="#ppt_x"/>
                                          </p:val>
                                        </p:tav>
                                      </p:tavLst>
                                    </p:anim>
                                    <p:anim calcmode="lin" valueType="num">
                                      <p:cBhvr additive="base">
                                        <p:cTn id="143" dur="550" fill="hold"/>
                                        <p:tgtEl>
                                          <p:spTgt spid="36"/>
                                        </p:tgtEl>
                                        <p:attrNameLst>
                                          <p:attrName>ppt_y</p:attrName>
                                        </p:attrNameLst>
                                      </p:cBhvr>
                                      <p:tavLst>
                                        <p:tav tm="0">
                                          <p:val>
                                            <p:strVal val="#ppt_y+.06"/>
                                          </p:val>
                                        </p:tav>
                                        <p:tav tm="100000">
                                          <p:val>
                                            <p:strVal val="#ppt_y"/>
                                          </p:val>
                                        </p:tav>
                                      </p:tavLst>
                                    </p:anim>
                                  </p:childTnLst>
                                </p:cTn>
                              </p:par>
                            </p:childTnLst>
                          </p:cTn>
                        </p:par>
                        <p:par>
                          <p:cTn id="184" fill="hold">
                            <p:stCondLst>
                              <p:cond delay="2805"/>
                            </p:stCondLst>
                            <p:childTnLst>
                              <p:par>
                                <p:cTn id="144" presetID="42" presetClass="entr" presetSubtype="0" fill="hold" grpId="0" nodeType="withEffect">
                                  <p:stCondLst>
                                    <p:cond delay="0"/>
                                  </p:stCondLst>
                                  <p:childTnLst>
                                    <p:set>
                                      <p:cBhvr>
                                        <p:cTn id="145" dur="1" fill="hold">
                                          <p:stCondLst>
                                            <p:cond delay="0"/>
                                          </p:stCondLst>
                                        </p:cTn>
                                        <p:tgtEl>
                                          <p:spTgt spid="37"/>
                                        </p:tgtEl>
                                        <p:attrNameLst>
                                          <p:attrName>style.visibility</p:attrName>
                                        </p:attrNameLst>
                                      </p:cBhvr>
                                      <p:to>
                                        <p:strVal val="visible"/>
                                      </p:to>
                                    </p:set>
                                    <p:animEffect transition="in" filter="fade">
                                      <p:cBhvr>
                                        <p:cTn id="146" dur="550"/>
                                        <p:tgtEl>
                                          <p:spTgt spid="37"/>
                                        </p:tgtEl>
                                      </p:cBhvr>
                                    </p:animEffect>
                                    <p:anim calcmode="lin" valueType="num">
                                      <p:cBhvr additive="base">
                                        <p:cTn id="147" dur="550" fill="hold"/>
                                        <p:tgtEl>
                                          <p:spTgt spid="37"/>
                                        </p:tgtEl>
                                        <p:attrNameLst>
                                          <p:attrName>ppt_x</p:attrName>
                                        </p:attrNameLst>
                                      </p:cBhvr>
                                      <p:tavLst>
                                        <p:tav tm="0">
                                          <p:val>
                                            <p:strVal val="#ppt_x"/>
                                          </p:val>
                                        </p:tav>
                                        <p:tav tm="100000">
                                          <p:val>
                                            <p:strVal val="#ppt_x"/>
                                          </p:val>
                                        </p:tav>
                                      </p:tavLst>
                                    </p:anim>
                                    <p:anim calcmode="lin" valueType="num">
                                      <p:cBhvr additive="base">
                                        <p:cTn id="148" dur="550" fill="hold"/>
                                        <p:tgtEl>
                                          <p:spTgt spid="37"/>
                                        </p:tgtEl>
                                        <p:attrNameLst>
                                          <p:attrName>ppt_y</p:attrName>
                                        </p:attrNameLst>
                                      </p:cBhvr>
                                      <p:tavLst>
                                        <p:tav tm="0">
                                          <p:val>
                                            <p:strVal val="#ppt_y+.06"/>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38"/>
                                        </p:tgtEl>
                                        <p:attrNameLst>
                                          <p:attrName>style.visibility</p:attrName>
                                        </p:attrNameLst>
                                      </p:cBhvr>
                                      <p:to>
                                        <p:strVal val="visible"/>
                                      </p:to>
                                    </p:set>
                                    <p:animEffect transition="in" filter="fade">
                                      <p:cBhvr>
                                        <p:cTn id="151" dur="550"/>
                                        <p:tgtEl>
                                          <p:spTgt spid="38"/>
                                        </p:tgtEl>
                                      </p:cBhvr>
                                    </p:animEffect>
                                    <p:anim calcmode="lin" valueType="num">
                                      <p:cBhvr additive="base">
                                        <p:cTn id="152" dur="550" fill="hold"/>
                                        <p:tgtEl>
                                          <p:spTgt spid="38"/>
                                        </p:tgtEl>
                                        <p:attrNameLst>
                                          <p:attrName>ppt_x</p:attrName>
                                        </p:attrNameLst>
                                      </p:cBhvr>
                                      <p:tavLst>
                                        <p:tav tm="0">
                                          <p:val>
                                            <p:strVal val="#ppt_x"/>
                                          </p:val>
                                        </p:tav>
                                        <p:tav tm="100000">
                                          <p:val>
                                            <p:strVal val="#ppt_x"/>
                                          </p:val>
                                        </p:tav>
                                      </p:tavLst>
                                    </p:anim>
                                    <p:anim calcmode="lin" valueType="num">
                                      <p:cBhvr additive="base">
                                        <p:cTn id="153" dur="550" fill="hold"/>
                                        <p:tgtEl>
                                          <p:spTgt spid="38"/>
                                        </p:tgtEl>
                                        <p:attrNameLst>
                                          <p:attrName>ppt_y</p:attrName>
                                        </p:attrNameLst>
                                      </p:cBhvr>
                                      <p:tavLst>
                                        <p:tav tm="0">
                                          <p:val>
                                            <p:strVal val="#ppt_y+.06"/>
                                          </p:val>
                                        </p:tav>
                                        <p:tav tm="100000">
                                          <p:val>
                                            <p:strVal val="#ppt_y"/>
                                          </p:val>
                                        </p:tav>
                                      </p:tavLst>
                                    </p:anim>
                                  </p:childTnLst>
                                </p:cTn>
                              </p:par>
                              <p:par>
                                <p:cTn id="154" presetID="42" presetClass="entr" presetSubtype="0" fill="hold" grpId="0" nodeType="withEffect">
                                  <p:stCondLst>
                                    <p:cond delay="0"/>
                                  </p:stCondLst>
                                  <p:childTnLst>
                                    <p:set>
                                      <p:cBhvr>
                                        <p:cTn id="155" dur="1" fill="hold">
                                          <p:stCondLst>
                                            <p:cond delay="0"/>
                                          </p:stCondLst>
                                        </p:cTn>
                                        <p:tgtEl>
                                          <p:spTgt spid="39"/>
                                        </p:tgtEl>
                                        <p:attrNameLst>
                                          <p:attrName>style.visibility</p:attrName>
                                        </p:attrNameLst>
                                      </p:cBhvr>
                                      <p:to>
                                        <p:strVal val="visible"/>
                                      </p:to>
                                    </p:set>
                                    <p:animEffect transition="in" filter="fade">
                                      <p:cBhvr>
                                        <p:cTn id="156" dur="550"/>
                                        <p:tgtEl>
                                          <p:spTgt spid="39"/>
                                        </p:tgtEl>
                                      </p:cBhvr>
                                    </p:animEffect>
                                    <p:anim calcmode="lin" valueType="num">
                                      <p:cBhvr additive="base">
                                        <p:cTn id="157" dur="550" fill="hold"/>
                                        <p:tgtEl>
                                          <p:spTgt spid="39"/>
                                        </p:tgtEl>
                                        <p:attrNameLst>
                                          <p:attrName>ppt_x</p:attrName>
                                        </p:attrNameLst>
                                      </p:cBhvr>
                                      <p:tavLst>
                                        <p:tav tm="0">
                                          <p:val>
                                            <p:strVal val="#ppt_x"/>
                                          </p:val>
                                        </p:tav>
                                        <p:tav tm="100000">
                                          <p:val>
                                            <p:strVal val="#ppt_x"/>
                                          </p:val>
                                        </p:tav>
                                      </p:tavLst>
                                    </p:anim>
                                    <p:anim calcmode="lin" valueType="num">
                                      <p:cBhvr additive="base">
                                        <p:cTn id="158" dur="550" fill="hold"/>
                                        <p:tgtEl>
                                          <p:spTgt spid="39"/>
                                        </p:tgtEl>
                                        <p:attrNameLst>
                                          <p:attrName>ppt_y</p:attrName>
                                        </p:attrNameLst>
                                      </p:cBhvr>
                                      <p:tavLst>
                                        <p:tav tm="0">
                                          <p:val>
                                            <p:strVal val="#ppt_y+.06"/>
                                          </p:val>
                                        </p:tav>
                                        <p:tav tm="100000">
                                          <p:val>
                                            <p:strVal val="#ppt_y"/>
                                          </p:val>
                                        </p:tav>
                                      </p:tavLst>
                                    </p:anim>
                                  </p:childTnLst>
                                </p:cTn>
                              </p:par>
                              <p:par>
                                <p:cTn id="159" presetID="42" presetClass="entr" presetSubtype="0" fill="hold" grpId="0" nodeType="withEffect">
                                  <p:stCondLst>
                                    <p:cond delay="0"/>
                                  </p:stCondLst>
                                  <p:childTnLst>
                                    <p:set>
                                      <p:cBhvr>
                                        <p:cTn id="160" dur="1" fill="hold">
                                          <p:stCondLst>
                                            <p:cond delay="0"/>
                                          </p:stCondLst>
                                        </p:cTn>
                                        <p:tgtEl>
                                          <p:spTgt spid="40"/>
                                        </p:tgtEl>
                                        <p:attrNameLst>
                                          <p:attrName>style.visibility</p:attrName>
                                        </p:attrNameLst>
                                      </p:cBhvr>
                                      <p:to>
                                        <p:strVal val="visible"/>
                                      </p:to>
                                    </p:set>
                                    <p:animEffect transition="in" filter="fade">
                                      <p:cBhvr>
                                        <p:cTn id="161" dur="550"/>
                                        <p:tgtEl>
                                          <p:spTgt spid="40"/>
                                        </p:tgtEl>
                                      </p:cBhvr>
                                    </p:animEffect>
                                    <p:anim calcmode="lin" valueType="num">
                                      <p:cBhvr additive="base">
                                        <p:cTn id="162" dur="550" fill="hold"/>
                                        <p:tgtEl>
                                          <p:spTgt spid="40"/>
                                        </p:tgtEl>
                                        <p:attrNameLst>
                                          <p:attrName>ppt_x</p:attrName>
                                        </p:attrNameLst>
                                      </p:cBhvr>
                                      <p:tavLst>
                                        <p:tav tm="0">
                                          <p:val>
                                            <p:strVal val="#ppt_x"/>
                                          </p:val>
                                        </p:tav>
                                        <p:tav tm="100000">
                                          <p:val>
                                            <p:strVal val="#ppt_x"/>
                                          </p:val>
                                        </p:tav>
                                      </p:tavLst>
                                    </p:anim>
                                    <p:anim calcmode="lin" valueType="num">
                                      <p:cBhvr additive="base">
                                        <p:cTn id="163" dur="550" fill="hold"/>
                                        <p:tgtEl>
                                          <p:spTgt spid="40"/>
                                        </p:tgtEl>
                                        <p:attrNameLst>
                                          <p:attrName>ppt_y</p:attrName>
                                        </p:attrNameLst>
                                      </p:cBhvr>
                                      <p:tavLst>
                                        <p:tav tm="0">
                                          <p:val>
                                            <p:strVal val="#ppt_y+.06"/>
                                          </p:val>
                                        </p:tav>
                                        <p:tav tm="100000">
                                          <p:val>
                                            <p:strVal val="#ppt_y"/>
                                          </p:val>
                                        </p:tav>
                                      </p:tavLst>
                                    </p:anim>
                                  </p:childTnLst>
                                </p:cTn>
                              </p:par>
                            </p:childTnLst>
                          </p:cTn>
                        </p:par>
                        <p:par>
                          <p:cTn id="185" fill="hold">
                            <p:stCondLst>
                              <p:cond delay="3107"/>
                            </p:stCondLst>
                            <p:childTnLst>
                              <p:par>
                                <p:cTn id="164" presetID="42" presetClass="entr" presetSubtype="0" fill="hold" grpId="0" nodeType="withEffect">
                                  <p:stCondLst>
                                    <p:cond delay="0"/>
                                  </p:stCondLst>
                                  <p:childTnLst>
                                    <p:set>
                                      <p:cBhvr>
                                        <p:cTn id="165" dur="1" fill="hold">
                                          <p:stCondLst>
                                            <p:cond delay="0"/>
                                          </p:stCondLst>
                                        </p:cTn>
                                        <p:tgtEl>
                                          <p:spTgt spid="41"/>
                                        </p:tgtEl>
                                        <p:attrNameLst>
                                          <p:attrName>style.visibility</p:attrName>
                                        </p:attrNameLst>
                                      </p:cBhvr>
                                      <p:to>
                                        <p:strVal val="visible"/>
                                      </p:to>
                                    </p:set>
                                    <p:animEffect transition="in" filter="fade">
                                      <p:cBhvr>
                                        <p:cTn id="166" dur="550"/>
                                        <p:tgtEl>
                                          <p:spTgt spid="41"/>
                                        </p:tgtEl>
                                      </p:cBhvr>
                                    </p:animEffect>
                                    <p:anim calcmode="lin" valueType="num">
                                      <p:cBhvr additive="base">
                                        <p:cTn id="167" dur="550" fill="hold"/>
                                        <p:tgtEl>
                                          <p:spTgt spid="41"/>
                                        </p:tgtEl>
                                        <p:attrNameLst>
                                          <p:attrName>ppt_x</p:attrName>
                                        </p:attrNameLst>
                                      </p:cBhvr>
                                      <p:tavLst>
                                        <p:tav tm="0">
                                          <p:val>
                                            <p:strVal val="#ppt_x"/>
                                          </p:val>
                                        </p:tav>
                                        <p:tav tm="100000">
                                          <p:val>
                                            <p:strVal val="#ppt_x"/>
                                          </p:val>
                                        </p:tav>
                                      </p:tavLst>
                                    </p:anim>
                                    <p:anim calcmode="lin" valueType="num">
                                      <p:cBhvr additive="base">
                                        <p:cTn id="168" dur="550" fill="hold"/>
                                        <p:tgtEl>
                                          <p:spTgt spid="41"/>
                                        </p:tgtEl>
                                        <p:attrNameLst>
                                          <p:attrName>ppt_y</p:attrName>
                                        </p:attrNameLst>
                                      </p:cBhvr>
                                      <p:tavLst>
                                        <p:tav tm="0">
                                          <p:val>
                                            <p:strVal val="#ppt_y+.06"/>
                                          </p:val>
                                        </p:tav>
                                        <p:tav tm="100000">
                                          <p:val>
                                            <p:strVal val="#ppt_y"/>
                                          </p:val>
                                        </p:tav>
                                      </p:tavLst>
                                    </p:anim>
                                  </p:childTnLst>
                                </p:cTn>
                              </p:par>
                              <p:par>
                                <p:cTn id="169" presetID="42" presetClass="entr" presetSubtype="0" fill="hold" grpId="0" nodeType="withEffect">
                                  <p:stCondLst>
                                    <p:cond delay="0"/>
                                  </p:stCondLst>
                                  <p:childTnLst>
                                    <p:set>
                                      <p:cBhvr>
                                        <p:cTn id="170" dur="1" fill="hold">
                                          <p:stCondLst>
                                            <p:cond delay="0"/>
                                          </p:stCondLst>
                                        </p:cTn>
                                        <p:tgtEl>
                                          <p:spTgt spid="42"/>
                                        </p:tgtEl>
                                        <p:attrNameLst>
                                          <p:attrName>style.visibility</p:attrName>
                                        </p:attrNameLst>
                                      </p:cBhvr>
                                      <p:to>
                                        <p:strVal val="visible"/>
                                      </p:to>
                                    </p:set>
                                    <p:animEffect transition="in" filter="fade">
                                      <p:cBhvr>
                                        <p:cTn id="171" dur="550"/>
                                        <p:tgtEl>
                                          <p:spTgt spid="42"/>
                                        </p:tgtEl>
                                      </p:cBhvr>
                                    </p:animEffect>
                                    <p:anim calcmode="lin" valueType="num">
                                      <p:cBhvr additive="base">
                                        <p:cTn id="172" dur="550" fill="hold"/>
                                        <p:tgtEl>
                                          <p:spTgt spid="42"/>
                                        </p:tgtEl>
                                        <p:attrNameLst>
                                          <p:attrName>ppt_x</p:attrName>
                                        </p:attrNameLst>
                                      </p:cBhvr>
                                      <p:tavLst>
                                        <p:tav tm="0">
                                          <p:val>
                                            <p:strVal val="#ppt_x"/>
                                          </p:val>
                                        </p:tav>
                                        <p:tav tm="100000">
                                          <p:val>
                                            <p:strVal val="#ppt_x"/>
                                          </p:val>
                                        </p:tav>
                                      </p:tavLst>
                                    </p:anim>
                                    <p:anim calcmode="lin" valueType="num">
                                      <p:cBhvr additive="base">
                                        <p:cTn id="173" dur="550" fill="hold"/>
                                        <p:tgtEl>
                                          <p:spTgt spid="4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a01_fade_k"/>
          <p:cNvSpPr txBox="1"/>
          <p:nvPr/>
        </p:nvSpPr>
        <p:spPr>
          <a:xfrm>
            <a:off x="640080" y="457200"/>
            <a:ext cx="9144000" cy="320040"/>
          </a:xfrm>
          <a:prstGeom prst="rect">
            <a:avLst/>
          </a:prstGeom>
          <a:noFill/>
          <a:ln/>
        </p:spPr>
        <p:txBody>
          <a:bodyPr wrap="square" lIns="0" tIns="0" rIns="0" bIns="0" rtlCol="0" anchor="t"/>
          <a:lstStyle/>
          <a:p>
            <a:pPr indent="0" marL="0">
              <a:buNone/>
            </a:pPr>
            <a:r>
              <a:rPr lang="en-US" sz="1300" b="1" spc="200" kern="0" dirty="0">
                <a:solidFill>
                  <a:schemeClr val="accent6"/>
                </a:solidFill>
              </a:rPr>
              <a:t>RISK MITIGATION, PRINCIPLE BY PRINCIPLE</a:t>
            </a:r>
            <a:endParaRPr lang="en-US" sz="1300" dirty="0"/>
          </a:p>
        </p:txBody>
      </p:sp>
      <p:sp>
        <p:nvSpPr>
          <p:cNvPr id="3" name="a01_rise_t"/>
          <p:cNvSpPr txBox="1"/>
          <p:nvPr/>
        </p:nvSpPr>
        <p:spPr>
          <a:xfrm>
            <a:off x="640080" y="777240"/>
            <a:ext cx="10515600" cy="77724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Fix the system, not the fingerprint</a:t>
            </a:r>
            <a:endParaRPr lang="en-US" sz="3800" dirty="0"/>
          </a:p>
        </p:txBody>
      </p:sp>
      <p:sp>
        <p:nvSpPr>
          <p:cNvPr id="4" name="a02_rise_rec0_c"/>
          <p:cNvSpPr/>
          <p:nvPr/>
        </p:nvSpPr>
        <p:spPr>
          <a:xfrm>
            <a:off x="640080" y="1874520"/>
            <a:ext cx="731520" cy="731520"/>
          </a:xfrm>
          <a:prstGeom prst="ellipse">
            <a:avLst/>
          </a:prstGeom>
          <a:solidFill>
            <a:schemeClr val="accent2"/>
          </a:solidFill>
          <a:ln/>
        </p:spPr>
      </p:sp>
      <p:pic>
        <p:nvPicPr>
          <p:cNvPr id="5" name="a02_rise_rec0_i" descr="preencoded.png">    </p:cNvPr>
          <p:cNvPicPr>
            <a:picLocks noChangeAspect="1"/>
          </p:cNvPicPr>
          <p:nvPr/>
        </p:nvPicPr>
        <p:blipFill>
          <a:blip r:embed="rId1"/>
          <a:stretch>
            <a:fillRect/>
          </a:stretch>
        </p:blipFill>
        <p:spPr>
          <a:xfrm>
            <a:off x="815645" y="2050085"/>
            <a:ext cx="380390" cy="380390"/>
          </a:xfrm>
          <a:prstGeom prst="rect">
            <a:avLst/>
          </a:prstGeom>
        </p:spPr>
      </p:pic>
      <p:sp>
        <p:nvSpPr>
          <p:cNvPr id="6" name="a02_rise_recT0"/>
          <p:cNvSpPr txBox="1"/>
          <p:nvPr/>
        </p:nvSpPr>
        <p:spPr>
          <a:xfrm>
            <a:off x="1600200" y="1783080"/>
            <a:ext cx="4480560" cy="1051560"/>
          </a:xfrm>
          <a:prstGeom prst="rect">
            <a:avLst/>
          </a:prstGeom>
          <a:noFill/>
          <a:ln/>
        </p:spPr>
        <p:txBody>
          <a:bodyPr wrap="square" lIns="0" tIns="0" rIns="0" bIns="0" rtlCol="0" anchor="t"/>
          <a:lstStyle/>
          <a:p>
            <a:pPr indent="0" marL="0">
              <a:buNone/>
            </a:pPr>
            <a:r>
              <a:rPr lang="en-US" sz="1100" b="1" spc="100" kern="0" dirty="0">
                <a:solidFill>
                  <a:schemeClr val="accent6"/>
                </a:solidFill>
              </a:rPr>
              <a:t>ACCOUNTABILITY · FAIRNESS</a:t>
            </a:r>
            <a:endParaRPr lang="en-US" sz="1100" dirty="0"/>
          </a:p>
          <a:p>
            <a:pPr indent="0" marL="0">
              <a:buNone/>
            </a:pPr>
            <a:r>
              <a:rPr lang="en-US" sz="1800" b="1" dirty="0">
                <a:solidFill>
                  <a:schemeClr val="bg1"/>
                </a:solidFill>
              </a:rPr>
              <a:t>Fallback authentication</a:t>
            </a:r>
            <a:endParaRPr lang="en-US" sz="1100" dirty="0"/>
          </a:p>
          <a:p>
            <a:pPr indent="0" marL="0">
              <a:buNone/>
            </a:pPr>
            <a:r>
              <a:rPr lang="en-US" sz="1400" dirty="0">
                <a:solidFill>
                  <a:schemeClr val="accent6"/>
                </a:solidFill>
              </a:rPr>
              <a:t>OTP, iris or a documented manual override.</a:t>
            </a:r>
            <a:endParaRPr lang="en-US" sz="1100" dirty="0"/>
          </a:p>
        </p:txBody>
      </p:sp>
      <p:sp>
        <p:nvSpPr>
          <p:cNvPr id="7" name="a03_rise_rec1_c"/>
          <p:cNvSpPr/>
          <p:nvPr/>
        </p:nvSpPr>
        <p:spPr>
          <a:xfrm>
            <a:off x="6309360" y="1874520"/>
            <a:ext cx="731520" cy="731520"/>
          </a:xfrm>
          <a:prstGeom prst="ellipse">
            <a:avLst/>
          </a:prstGeom>
          <a:solidFill>
            <a:schemeClr val="accent2"/>
          </a:solidFill>
          <a:ln/>
        </p:spPr>
      </p:sp>
      <p:pic>
        <p:nvPicPr>
          <p:cNvPr id="8" name="a03_rise_rec1_i" descr="preencoded.png">    </p:cNvPr>
          <p:cNvPicPr>
            <a:picLocks noChangeAspect="1"/>
          </p:cNvPicPr>
          <p:nvPr/>
        </p:nvPicPr>
        <p:blipFill>
          <a:blip r:embed="rId2"/>
          <a:stretch>
            <a:fillRect/>
          </a:stretch>
        </p:blipFill>
        <p:spPr>
          <a:xfrm>
            <a:off x="6484925" y="2050085"/>
            <a:ext cx="380390" cy="380390"/>
          </a:xfrm>
          <a:prstGeom prst="rect">
            <a:avLst/>
          </a:prstGeom>
        </p:spPr>
      </p:pic>
      <p:sp>
        <p:nvSpPr>
          <p:cNvPr id="9" name="a03_rise_recT1"/>
          <p:cNvSpPr txBox="1"/>
          <p:nvPr/>
        </p:nvSpPr>
        <p:spPr>
          <a:xfrm>
            <a:off x="7269480" y="1783080"/>
            <a:ext cx="4480560" cy="1051560"/>
          </a:xfrm>
          <a:prstGeom prst="rect">
            <a:avLst/>
          </a:prstGeom>
          <a:noFill/>
          <a:ln/>
        </p:spPr>
        <p:txBody>
          <a:bodyPr wrap="square" lIns="0" tIns="0" rIns="0" bIns="0" rtlCol="0" anchor="t"/>
          <a:lstStyle/>
          <a:p>
            <a:pPr indent="0" marL="0">
              <a:buNone/>
            </a:pPr>
            <a:r>
              <a:rPr lang="en-US" sz="1100" b="1" spc="100" kern="0" dirty="0">
                <a:solidFill>
                  <a:schemeClr val="accent6"/>
                </a:solidFill>
              </a:rPr>
              <a:t>FAIRNESS</a:t>
            </a:r>
            <a:endParaRPr lang="en-US" sz="1100" dirty="0"/>
          </a:p>
          <a:p>
            <a:pPr indent="0" marL="0">
              <a:buNone/>
            </a:pPr>
            <a:r>
              <a:rPr lang="en-US" sz="1800" b="1" dirty="0">
                <a:solidFill>
                  <a:schemeClr val="bg1"/>
                </a:solidFill>
              </a:rPr>
              <a:t>Better devices first</a:t>
            </a:r>
            <a:endParaRPr lang="en-US" sz="1100" dirty="0"/>
          </a:p>
          <a:p>
            <a:pPr indent="0" marL="0">
              <a:buNone/>
            </a:pPr>
            <a:r>
              <a:rPr lang="en-US" sz="1400" dirty="0">
                <a:solidFill>
                  <a:schemeClr val="accent6"/>
                </a:solidFill>
              </a:rPr>
              <a:t>Replace low-quality scanners in rural and remote areas.</a:t>
            </a:r>
            <a:endParaRPr lang="en-US" sz="1100" dirty="0"/>
          </a:p>
        </p:txBody>
      </p:sp>
      <p:sp>
        <p:nvSpPr>
          <p:cNvPr id="10" name="a04_rise_rec2_c"/>
          <p:cNvSpPr/>
          <p:nvPr/>
        </p:nvSpPr>
        <p:spPr>
          <a:xfrm>
            <a:off x="640080" y="3063240"/>
            <a:ext cx="731520" cy="731520"/>
          </a:xfrm>
          <a:prstGeom prst="ellipse">
            <a:avLst/>
          </a:prstGeom>
          <a:solidFill>
            <a:schemeClr val="accent2"/>
          </a:solidFill>
          <a:ln/>
        </p:spPr>
      </p:sp>
      <p:pic>
        <p:nvPicPr>
          <p:cNvPr id="11" name="a04_rise_rec2_i" descr="preencoded.png">    </p:cNvPr>
          <p:cNvPicPr>
            <a:picLocks noChangeAspect="1"/>
          </p:cNvPicPr>
          <p:nvPr/>
        </p:nvPicPr>
        <p:blipFill>
          <a:blip r:embed="rId3"/>
          <a:stretch>
            <a:fillRect/>
          </a:stretch>
        </p:blipFill>
        <p:spPr>
          <a:xfrm>
            <a:off x="815645" y="3238805"/>
            <a:ext cx="380390" cy="380390"/>
          </a:xfrm>
          <a:prstGeom prst="rect">
            <a:avLst/>
          </a:prstGeom>
        </p:spPr>
      </p:pic>
      <p:sp>
        <p:nvSpPr>
          <p:cNvPr id="12" name="a04_rise_recT2"/>
          <p:cNvSpPr txBox="1"/>
          <p:nvPr/>
        </p:nvSpPr>
        <p:spPr>
          <a:xfrm>
            <a:off x="1600200" y="2971800"/>
            <a:ext cx="4480560" cy="1051560"/>
          </a:xfrm>
          <a:prstGeom prst="rect">
            <a:avLst/>
          </a:prstGeom>
          <a:noFill/>
          <a:ln/>
        </p:spPr>
        <p:txBody>
          <a:bodyPr wrap="square" lIns="0" tIns="0" rIns="0" bIns="0" rtlCol="0" anchor="t"/>
          <a:lstStyle/>
          <a:p>
            <a:pPr indent="0" marL="0">
              <a:buNone/>
            </a:pPr>
            <a:r>
              <a:rPr lang="en-US" sz="1100" b="1" spc="100" kern="0" dirty="0">
                <a:solidFill>
                  <a:schemeClr val="accent6"/>
                </a:solidFill>
              </a:rPr>
              <a:t>FAIRNESS · PRIVACY</a:t>
            </a:r>
            <a:endParaRPr lang="en-US" sz="1100" dirty="0"/>
          </a:p>
          <a:p>
            <a:pPr indent="0" marL="0">
              <a:buNone/>
            </a:pPr>
            <a:r>
              <a:rPr lang="en-US" sz="1800" b="1" dirty="0">
                <a:solidFill>
                  <a:schemeClr val="bg1"/>
                </a:solidFill>
              </a:rPr>
              <a:t>Offline (edge) mode</a:t>
            </a:r>
            <a:endParaRPr lang="en-US" sz="1100" dirty="0"/>
          </a:p>
          <a:p>
            <a:pPr indent="0" marL="0">
              <a:buNone/>
            </a:pPr>
            <a:r>
              <a:rPr lang="en-US" sz="1400" dirty="0">
                <a:solidFill>
                  <a:schemeClr val="accent6"/>
                </a:solidFill>
              </a:rPr>
              <a:t>Authenticate locally when the network fails; less data in transit.</a:t>
            </a:r>
            <a:endParaRPr lang="en-US" sz="1100" dirty="0"/>
          </a:p>
        </p:txBody>
      </p:sp>
      <p:sp>
        <p:nvSpPr>
          <p:cNvPr id="13" name="a05_rise_rec3_c"/>
          <p:cNvSpPr/>
          <p:nvPr/>
        </p:nvSpPr>
        <p:spPr>
          <a:xfrm>
            <a:off x="6309360" y="3063240"/>
            <a:ext cx="731520" cy="731520"/>
          </a:xfrm>
          <a:prstGeom prst="ellipse">
            <a:avLst/>
          </a:prstGeom>
          <a:solidFill>
            <a:schemeClr val="accent2"/>
          </a:solidFill>
          <a:ln/>
        </p:spPr>
      </p:sp>
      <p:pic>
        <p:nvPicPr>
          <p:cNvPr id="14" name="a05_rise_rec3_i" descr="preencoded.png">    </p:cNvPr>
          <p:cNvPicPr>
            <a:picLocks noChangeAspect="1"/>
          </p:cNvPicPr>
          <p:nvPr/>
        </p:nvPicPr>
        <p:blipFill>
          <a:blip r:embed="rId4"/>
          <a:stretch>
            <a:fillRect/>
          </a:stretch>
        </p:blipFill>
        <p:spPr>
          <a:xfrm>
            <a:off x="6484925" y="3238805"/>
            <a:ext cx="380390" cy="380390"/>
          </a:xfrm>
          <a:prstGeom prst="rect">
            <a:avLst/>
          </a:prstGeom>
        </p:spPr>
      </p:pic>
      <p:sp>
        <p:nvSpPr>
          <p:cNvPr id="15" name="a05_rise_recT3"/>
          <p:cNvSpPr txBox="1"/>
          <p:nvPr/>
        </p:nvSpPr>
        <p:spPr>
          <a:xfrm>
            <a:off x="7269480" y="2971800"/>
            <a:ext cx="4480560" cy="1051560"/>
          </a:xfrm>
          <a:prstGeom prst="rect">
            <a:avLst/>
          </a:prstGeom>
          <a:noFill/>
          <a:ln/>
        </p:spPr>
        <p:txBody>
          <a:bodyPr wrap="square" lIns="0" tIns="0" rIns="0" bIns="0" rtlCol="0" anchor="t"/>
          <a:lstStyle/>
          <a:p>
            <a:pPr indent="0" marL="0">
              <a:buNone/>
            </a:pPr>
            <a:r>
              <a:rPr lang="en-US" sz="1100" b="1" spc="100" kern="0" dirty="0">
                <a:solidFill>
                  <a:schemeClr val="accent6"/>
                </a:solidFill>
              </a:rPr>
              <a:t>FAIRNESS</a:t>
            </a:r>
            <a:endParaRPr lang="en-US" sz="1100" dirty="0"/>
          </a:p>
          <a:p>
            <a:pPr indent="0" marL="0">
              <a:buNone/>
            </a:pPr>
            <a:r>
              <a:rPr lang="en-US" sz="1800" b="1" dirty="0">
                <a:solidFill>
                  <a:schemeClr val="bg1"/>
                </a:solidFill>
              </a:rPr>
              <a:t>Exemptions</a:t>
            </a:r>
            <a:endParaRPr lang="en-US" sz="1100" dirty="0"/>
          </a:p>
          <a:p>
            <a:pPr indent="0" marL="0">
              <a:buNone/>
            </a:pPr>
            <a:r>
              <a:rPr lang="en-US" sz="1400" dirty="0">
                <a:solidFill>
                  <a:schemeClr val="accent6"/>
                </a:solidFill>
              </a:rPr>
              <a:t>Alternative proof for people aged 75+ and manual workers.</a:t>
            </a:r>
            <a:endParaRPr lang="en-US" sz="1100" dirty="0"/>
          </a:p>
        </p:txBody>
      </p:sp>
      <p:sp>
        <p:nvSpPr>
          <p:cNvPr id="16" name="a06_rise_rec4_c"/>
          <p:cNvSpPr/>
          <p:nvPr/>
        </p:nvSpPr>
        <p:spPr>
          <a:xfrm>
            <a:off x="640080" y="4251960"/>
            <a:ext cx="731520" cy="731520"/>
          </a:xfrm>
          <a:prstGeom prst="ellipse">
            <a:avLst/>
          </a:prstGeom>
          <a:solidFill>
            <a:schemeClr val="accent2"/>
          </a:solidFill>
          <a:ln/>
        </p:spPr>
      </p:sp>
      <p:pic>
        <p:nvPicPr>
          <p:cNvPr id="17" name="a06_rise_rec4_i" descr="preencoded.png">    </p:cNvPr>
          <p:cNvPicPr>
            <a:picLocks noChangeAspect="1"/>
          </p:cNvPicPr>
          <p:nvPr/>
        </p:nvPicPr>
        <p:blipFill>
          <a:blip r:embed="rId5"/>
          <a:stretch>
            <a:fillRect/>
          </a:stretch>
        </p:blipFill>
        <p:spPr>
          <a:xfrm>
            <a:off x="815645" y="4427525"/>
            <a:ext cx="380390" cy="380390"/>
          </a:xfrm>
          <a:prstGeom prst="rect">
            <a:avLst/>
          </a:prstGeom>
        </p:spPr>
      </p:pic>
      <p:sp>
        <p:nvSpPr>
          <p:cNvPr id="18" name="a06_rise_recT4"/>
          <p:cNvSpPr txBox="1"/>
          <p:nvPr/>
        </p:nvSpPr>
        <p:spPr>
          <a:xfrm>
            <a:off x="1600200" y="4160520"/>
            <a:ext cx="4480560" cy="1051560"/>
          </a:xfrm>
          <a:prstGeom prst="rect">
            <a:avLst/>
          </a:prstGeom>
          <a:noFill/>
          <a:ln/>
        </p:spPr>
        <p:txBody>
          <a:bodyPr wrap="square" lIns="0" tIns="0" rIns="0" bIns="0" rtlCol="0" anchor="t"/>
          <a:lstStyle/>
          <a:p>
            <a:pPr indent="0" marL="0">
              <a:buNone/>
            </a:pPr>
            <a:r>
              <a:rPr lang="en-US" sz="1100" b="1" spc="100" kern="0" dirty="0">
                <a:solidFill>
                  <a:schemeClr val="accent6"/>
                </a:solidFill>
              </a:rPr>
              <a:t>TRANSPARENCY · ACCOUNTABILITY</a:t>
            </a:r>
            <a:endParaRPr lang="en-US" sz="1100" dirty="0"/>
          </a:p>
          <a:p>
            <a:pPr indent="0" marL="0">
              <a:buNone/>
            </a:pPr>
            <a:r>
              <a:rPr lang="en-US" sz="1800" b="1" dirty="0">
                <a:solidFill>
                  <a:schemeClr val="bg1"/>
                </a:solidFill>
              </a:rPr>
              <a:t>Grievance redressal</a:t>
            </a:r>
            <a:endParaRPr lang="en-US" sz="1100" dirty="0"/>
          </a:p>
          <a:p>
            <a:pPr indent="0" marL="0">
              <a:buNone/>
            </a:pPr>
            <a:r>
              <a:rPr lang="en-US" sz="1400" dirty="0">
                <a:solidFill>
                  <a:schemeClr val="accent6"/>
                </a:solidFill>
              </a:rPr>
              <a:t>On-the-spot help and a stated reason for every denial.</a:t>
            </a:r>
            <a:endParaRPr lang="en-US" sz="1100" dirty="0"/>
          </a:p>
        </p:txBody>
      </p:sp>
      <p:sp>
        <p:nvSpPr>
          <p:cNvPr id="19" name="a07_rise_rec5_c"/>
          <p:cNvSpPr/>
          <p:nvPr/>
        </p:nvSpPr>
        <p:spPr>
          <a:xfrm>
            <a:off x="6309360" y="4251960"/>
            <a:ext cx="731520" cy="731520"/>
          </a:xfrm>
          <a:prstGeom prst="ellipse">
            <a:avLst/>
          </a:prstGeom>
          <a:solidFill>
            <a:schemeClr val="accent2"/>
          </a:solidFill>
          <a:ln/>
        </p:spPr>
      </p:sp>
      <p:pic>
        <p:nvPicPr>
          <p:cNvPr id="20" name="a07_rise_rec5_i" descr="preencoded.png">    </p:cNvPr>
          <p:cNvPicPr>
            <a:picLocks noChangeAspect="1"/>
          </p:cNvPicPr>
          <p:nvPr/>
        </p:nvPicPr>
        <p:blipFill>
          <a:blip r:embed="rId6"/>
          <a:stretch>
            <a:fillRect/>
          </a:stretch>
        </p:blipFill>
        <p:spPr>
          <a:xfrm>
            <a:off x="6484925" y="4427525"/>
            <a:ext cx="380390" cy="380390"/>
          </a:xfrm>
          <a:prstGeom prst="rect">
            <a:avLst/>
          </a:prstGeom>
        </p:spPr>
      </p:pic>
      <p:sp>
        <p:nvSpPr>
          <p:cNvPr id="21" name="a07_rise_recT5"/>
          <p:cNvSpPr txBox="1"/>
          <p:nvPr/>
        </p:nvSpPr>
        <p:spPr>
          <a:xfrm>
            <a:off x="7269480" y="4160520"/>
            <a:ext cx="4480560" cy="1051560"/>
          </a:xfrm>
          <a:prstGeom prst="rect">
            <a:avLst/>
          </a:prstGeom>
          <a:noFill/>
          <a:ln/>
        </p:spPr>
        <p:txBody>
          <a:bodyPr wrap="square" lIns="0" tIns="0" rIns="0" bIns="0" rtlCol="0" anchor="t"/>
          <a:lstStyle/>
          <a:p>
            <a:pPr indent="0" marL="0">
              <a:buNone/>
            </a:pPr>
            <a:r>
              <a:rPr lang="en-US" sz="1100" b="1" spc="100" kern="0" dirty="0">
                <a:solidFill>
                  <a:schemeClr val="accent6"/>
                </a:solidFill>
              </a:rPr>
              <a:t>TRANSPARENCY · ACCOUNTABILITY</a:t>
            </a:r>
            <a:endParaRPr lang="en-US" sz="1100" dirty="0"/>
          </a:p>
          <a:p>
            <a:pPr indent="0" marL="0">
              <a:buNone/>
            </a:pPr>
            <a:r>
              <a:rPr lang="en-US" sz="1800" b="1" dirty="0">
                <a:solidFill>
                  <a:schemeClr val="bg1"/>
                </a:solidFill>
              </a:rPr>
              <a:t>Public harm audits</a:t>
            </a:r>
            <a:endParaRPr lang="en-US" sz="1100" dirty="0"/>
          </a:p>
          <a:p>
            <a:pPr indent="0" marL="0">
              <a:buNone/>
            </a:pPr>
            <a:r>
              <a:rPr lang="en-US" sz="1400" dirty="0">
                <a:solidFill>
                  <a:schemeClr val="accent6"/>
                </a:solidFill>
              </a:rPr>
              <a:t>Publish denial rates by group with the four-fifths check.</a:t>
            </a:r>
            <a:endParaRPr lang="en-US" sz="1100" dirty="0"/>
          </a:p>
        </p:txBody>
      </p:sp>
      <p:sp>
        <p:nvSpPr>
          <p:cNvPr id="22" name="a08_zoom_qa"/>
          <p:cNvSpPr/>
          <p:nvPr/>
        </p:nvSpPr>
        <p:spPr>
          <a:xfrm>
            <a:off x="640080" y="5486400"/>
            <a:ext cx="10881360" cy="914400"/>
          </a:xfrm>
          <a:prstGeom prst="roundRect">
            <a:avLst>
              <a:gd name="adj" fmla="val 14000"/>
            </a:avLst>
          </a:prstGeom>
          <a:solidFill>
            <a:schemeClr val="accent2"/>
          </a:solidFill>
          <a:ln/>
        </p:spPr>
      </p:sp>
      <p:sp>
        <p:nvSpPr>
          <p:cNvPr id="23" name="a08_zoom_qaT"/>
          <p:cNvSpPr txBox="1"/>
          <p:nvPr/>
        </p:nvSpPr>
        <p:spPr>
          <a:xfrm>
            <a:off x="914400" y="5486400"/>
            <a:ext cx="10424160" cy="91440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Thank you.  </a:t>
            </a:r>
            <a:pPr indent="0" marL="0">
              <a:buNone/>
            </a:pPr>
            <a:r>
              <a:rPr lang="en-US" sz="1600" dirty="0">
                <a:solidFill>
                  <a:schemeClr val="tx1"/>
                </a:solidFill>
              </a:rPr>
              <a:t>Ethical failures can happen without bugs; responsible AI is good engineering. Questions?</a:t>
            </a:r>
            <a:endParaRPr lang="en-US" sz="2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19" fill="hold">
                      <p:stCondLst>
                        <p:cond delay="indefinite"/>
                        <p:cond evt="onBegin" delay="0">
                          <p:tn val="2"/>
                        </p:cond>
                      </p:stCondLst>
                      <p:childTnLst>
                        <p:par>
                          <p:cTn id="11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6" presetID="42" presetClass="entr" presetSubtype="0" fill="hold" grpId="0" nodeType="withEffect">
                                  <p:stCondLst>
                                    <p:cond delay="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50"/>
                                        <p:tgtEl>
                                          <p:spTgt spid="3"/>
                                        </p:tgtEl>
                                      </p:cBhvr>
                                    </p:animEffect>
                                    <p:anim calcmode="lin" valueType="num">
                                      <p:cBhvr additive="base">
                                        <p:cTn id="9" dur="550" fill="hold"/>
                                        <p:tgtEl>
                                          <p:spTgt spid="3"/>
                                        </p:tgtEl>
                                        <p:attrNameLst>
                                          <p:attrName>ppt_x</p:attrName>
                                        </p:attrNameLst>
                                      </p:cBhvr>
                                      <p:tavLst>
                                        <p:tav tm="0">
                                          <p:val>
                                            <p:strVal val="#ppt_x"/>
                                          </p:val>
                                        </p:tav>
                                        <p:tav tm="100000">
                                          <p:val>
                                            <p:strVal val="#ppt_x"/>
                                          </p:val>
                                        </p:tav>
                                      </p:tavLst>
                                    </p:anim>
                                    <p:anim calcmode="lin" valueType="num">
                                      <p:cBhvr additive="base">
                                        <p:cTn id="10" dur="550" fill="hold"/>
                                        <p:tgtEl>
                                          <p:spTgt spid="3"/>
                                        </p:tgtEl>
                                        <p:attrNameLst>
                                          <p:attrName>ppt_y</p:attrName>
                                        </p:attrNameLst>
                                      </p:cBhvr>
                                      <p:tavLst>
                                        <p:tav tm="0">
                                          <p:val>
                                            <p:strVal val="#ppt_y+.06"/>
                                          </p:val>
                                        </p:tav>
                                        <p:tav tm="100000">
                                          <p:val>
                                            <p:strVal val="#ppt_y"/>
                                          </p:val>
                                        </p:tav>
                                      </p:tavLst>
                                    </p:anim>
                                  </p:childTnLst>
                                </p:cTn>
                              </p:par>
                            </p:childTnLst>
                          </p:cTn>
                        </p:par>
                        <p:par>
                          <p:cTn id="112" fill="hold">
                            <p:stCondLst>
                              <p:cond delay="302"/>
                            </p:stCondLst>
                            <p:childTnLst>
                              <p:par>
                                <p:cTn id="11" presetID="42"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50"/>
                                        <p:tgtEl>
                                          <p:spTgt spid="4"/>
                                        </p:tgtEl>
                                      </p:cBhvr>
                                    </p:animEffect>
                                    <p:anim calcmode="lin" valueType="num">
                                      <p:cBhvr additive="base">
                                        <p:cTn id="14" dur="550" fill="hold"/>
                                        <p:tgtEl>
                                          <p:spTgt spid="4"/>
                                        </p:tgtEl>
                                        <p:attrNameLst>
                                          <p:attrName>ppt_x</p:attrName>
                                        </p:attrNameLst>
                                      </p:cBhvr>
                                      <p:tavLst>
                                        <p:tav tm="0">
                                          <p:val>
                                            <p:strVal val="#ppt_x"/>
                                          </p:val>
                                        </p:tav>
                                        <p:tav tm="100000">
                                          <p:val>
                                            <p:strVal val="#ppt_x"/>
                                          </p:val>
                                        </p:tav>
                                      </p:tavLst>
                                    </p:anim>
                                    <p:anim calcmode="lin" valueType="num">
                                      <p:cBhvr additive="base">
                                        <p:cTn id="15" dur="550" fill="hold"/>
                                        <p:tgtEl>
                                          <p:spTgt spid="4"/>
                                        </p:tgtEl>
                                        <p:attrNameLst>
                                          <p:attrName>ppt_y</p:attrName>
                                        </p:attrNameLst>
                                      </p:cBhvr>
                                      <p:tavLst>
                                        <p:tav tm="0">
                                          <p:val>
                                            <p:strVal val="#ppt_y+.06"/>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6"/>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50"/>
                                        <p:tgtEl>
                                          <p:spTgt spid="6"/>
                                        </p:tgtEl>
                                      </p:cBhvr>
                                    </p:animEffect>
                                    <p:anim calcmode="lin" valueType="num">
                                      <p:cBhvr additive="base">
                                        <p:cTn id="24" dur="550" fill="hold"/>
                                        <p:tgtEl>
                                          <p:spTgt spid="6"/>
                                        </p:tgtEl>
                                        <p:attrNameLst>
                                          <p:attrName>ppt_x</p:attrName>
                                        </p:attrNameLst>
                                      </p:cBhvr>
                                      <p:tavLst>
                                        <p:tav tm="0">
                                          <p:val>
                                            <p:strVal val="#ppt_x"/>
                                          </p:val>
                                        </p:tav>
                                        <p:tav tm="100000">
                                          <p:val>
                                            <p:strVal val="#ppt_x"/>
                                          </p:val>
                                        </p:tav>
                                      </p:tavLst>
                                    </p:anim>
                                    <p:anim calcmode="lin" valueType="num">
                                      <p:cBhvr additive="base">
                                        <p:cTn id="25" dur="550" fill="hold"/>
                                        <p:tgtEl>
                                          <p:spTgt spid="6"/>
                                        </p:tgtEl>
                                        <p:attrNameLst>
                                          <p:attrName>ppt_y</p:attrName>
                                        </p:attrNameLst>
                                      </p:cBhvr>
                                      <p:tavLst>
                                        <p:tav tm="0">
                                          <p:val>
                                            <p:strVal val="#ppt_y+.06"/>
                                          </p:val>
                                        </p:tav>
                                        <p:tav tm="100000">
                                          <p:val>
                                            <p:strVal val="#ppt_y"/>
                                          </p:val>
                                        </p:tav>
                                      </p:tavLst>
                                    </p:anim>
                                  </p:childTnLst>
                                </p:cTn>
                              </p:par>
                            </p:childTnLst>
                          </p:cTn>
                        </p:par>
                        <p:par>
                          <p:cTn id="113" fill="hold">
                            <p:stCondLst>
                              <p:cond delay="605"/>
                            </p:stCondLst>
                            <p:childTnLst>
                              <p:par>
                                <p:cTn id="26" presetID="42"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50"/>
                                        <p:tgtEl>
                                          <p:spTgt spid="7"/>
                                        </p:tgtEl>
                                      </p:cBhvr>
                                    </p:animEffect>
                                    <p:anim calcmode="lin" valueType="num">
                                      <p:cBhvr additive="base">
                                        <p:cTn id="29" dur="550" fill="hold"/>
                                        <p:tgtEl>
                                          <p:spTgt spid="7"/>
                                        </p:tgtEl>
                                        <p:attrNameLst>
                                          <p:attrName>ppt_x</p:attrName>
                                        </p:attrNameLst>
                                      </p:cBhvr>
                                      <p:tavLst>
                                        <p:tav tm="0">
                                          <p:val>
                                            <p:strVal val="#ppt_x"/>
                                          </p:val>
                                        </p:tav>
                                        <p:tav tm="100000">
                                          <p:val>
                                            <p:strVal val="#ppt_x"/>
                                          </p:val>
                                        </p:tav>
                                      </p:tavLst>
                                    </p:anim>
                                    <p:anim calcmode="lin" valueType="num">
                                      <p:cBhvr additive="base">
                                        <p:cTn id="30" dur="550" fill="hold"/>
                                        <p:tgtEl>
                                          <p:spTgt spid="7"/>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50"/>
                                        <p:tgtEl>
                                          <p:spTgt spid="8"/>
                                        </p:tgtEl>
                                      </p:cBhvr>
                                    </p:animEffect>
                                    <p:anim calcmode="lin" valueType="num">
                                      <p:cBhvr additive="base">
                                        <p:cTn id="34" dur="550" fill="hold"/>
                                        <p:tgtEl>
                                          <p:spTgt spid="8"/>
                                        </p:tgtEl>
                                        <p:attrNameLst>
                                          <p:attrName>ppt_x</p:attrName>
                                        </p:attrNameLst>
                                      </p:cBhvr>
                                      <p:tavLst>
                                        <p:tav tm="0">
                                          <p:val>
                                            <p:strVal val="#ppt_x"/>
                                          </p:val>
                                        </p:tav>
                                        <p:tav tm="100000">
                                          <p:val>
                                            <p:strVal val="#ppt_x"/>
                                          </p:val>
                                        </p:tav>
                                      </p:tavLst>
                                    </p:anim>
                                    <p:anim calcmode="lin" valueType="num">
                                      <p:cBhvr additive="base">
                                        <p:cTn id="35" dur="550" fill="hold"/>
                                        <p:tgtEl>
                                          <p:spTgt spid="8"/>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50"/>
                                        <p:tgtEl>
                                          <p:spTgt spid="9"/>
                                        </p:tgtEl>
                                      </p:cBhvr>
                                    </p:animEffect>
                                    <p:anim calcmode="lin" valueType="num">
                                      <p:cBhvr additive="base">
                                        <p:cTn id="39" dur="550" fill="hold"/>
                                        <p:tgtEl>
                                          <p:spTgt spid="9"/>
                                        </p:tgtEl>
                                        <p:attrNameLst>
                                          <p:attrName>ppt_x</p:attrName>
                                        </p:attrNameLst>
                                      </p:cBhvr>
                                      <p:tavLst>
                                        <p:tav tm="0">
                                          <p:val>
                                            <p:strVal val="#ppt_x"/>
                                          </p:val>
                                        </p:tav>
                                        <p:tav tm="100000">
                                          <p:val>
                                            <p:strVal val="#ppt_x"/>
                                          </p:val>
                                        </p:tav>
                                      </p:tavLst>
                                    </p:anim>
                                    <p:anim calcmode="lin" valueType="num">
                                      <p:cBhvr additive="base">
                                        <p:cTn id="40" dur="550" fill="hold"/>
                                        <p:tgtEl>
                                          <p:spTgt spid="9"/>
                                        </p:tgtEl>
                                        <p:attrNameLst>
                                          <p:attrName>ppt_y</p:attrName>
                                        </p:attrNameLst>
                                      </p:cBhvr>
                                      <p:tavLst>
                                        <p:tav tm="0">
                                          <p:val>
                                            <p:strVal val="#ppt_y+.06"/>
                                          </p:val>
                                        </p:tav>
                                        <p:tav tm="100000">
                                          <p:val>
                                            <p:strVal val="#ppt_y"/>
                                          </p:val>
                                        </p:tav>
                                      </p:tavLst>
                                    </p:anim>
                                  </p:childTnLst>
                                </p:cTn>
                              </p:par>
                            </p:childTnLst>
                          </p:cTn>
                        </p:par>
                        <p:par>
                          <p:cTn id="114" fill="hold">
                            <p:stCondLst>
                              <p:cond delay="907"/>
                            </p:stCondLst>
                            <p:childTnLst>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50"/>
                                        <p:tgtEl>
                                          <p:spTgt spid="10"/>
                                        </p:tgtEl>
                                      </p:cBhvr>
                                    </p:animEffect>
                                    <p:anim calcmode="lin" valueType="num">
                                      <p:cBhvr additive="base">
                                        <p:cTn id="44" dur="550" fill="hold"/>
                                        <p:tgtEl>
                                          <p:spTgt spid="10"/>
                                        </p:tgtEl>
                                        <p:attrNameLst>
                                          <p:attrName>ppt_x</p:attrName>
                                        </p:attrNameLst>
                                      </p:cBhvr>
                                      <p:tavLst>
                                        <p:tav tm="0">
                                          <p:val>
                                            <p:strVal val="#ppt_x"/>
                                          </p:val>
                                        </p:tav>
                                        <p:tav tm="100000">
                                          <p:val>
                                            <p:strVal val="#ppt_x"/>
                                          </p:val>
                                        </p:tav>
                                      </p:tavLst>
                                    </p:anim>
                                    <p:anim calcmode="lin" valueType="num">
                                      <p:cBhvr additive="base">
                                        <p:cTn id="45" dur="550" fill="hold"/>
                                        <p:tgtEl>
                                          <p:spTgt spid="10"/>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50"/>
                                        <p:tgtEl>
                                          <p:spTgt spid="11"/>
                                        </p:tgtEl>
                                      </p:cBhvr>
                                    </p:animEffect>
                                    <p:anim calcmode="lin" valueType="num">
                                      <p:cBhvr additive="base">
                                        <p:cTn id="49" dur="550" fill="hold"/>
                                        <p:tgtEl>
                                          <p:spTgt spid="11"/>
                                        </p:tgtEl>
                                        <p:attrNameLst>
                                          <p:attrName>ppt_x</p:attrName>
                                        </p:attrNameLst>
                                      </p:cBhvr>
                                      <p:tavLst>
                                        <p:tav tm="0">
                                          <p:val>
                                            <p:strVal val="#ppt_x"/>
                                          </p:val>
                                        </p:tav>
                                        <p:tav tm="100000">
                                          <p:val>
                                            <p:strVal val="#ppt_x"/>
                                          </p:val>
                                        </p:tav>
                                      </p:tavLst>
                                    </p:anim>
                                    <p:anim calcmode="lin" valueType="num">
                                      <p:cBhvr additive="base">
                                        <p:cTn id="50" dur="550" fill="hold"/>
                                        <p:tgtEl>
                                          <p:spTgt spid="11"/>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50"/>
                                        <p:tgtEl>
                                          <p:spTgt spid="12"/>
                                        </p:tgtEl>
                                      </p:cBhvr>
                                    </p:animEffect>
                                    <p:anim calcmode="lin" valueType="num">
                                      <p:cBhvr additive="base">
                                        <p:cTn id="54" dur="550" fill="hold"/>
                                        <p:tgtEl>
                                          <p:spTgt spid="12"/>
                                        </p:tgtEl>
                                        <p:attrNameLst>
                                          <p:attrName>ppt_x</p:attrName>
                                        </p:attrNameLst>
                                      </p:cBhvr>
                                      <p:tavLst>
                                        <p:tav tm="0">
                                          <p:val>
                                            <p:strVal val="#ppt_x"/>
                                          </p:val>
                                        </p:tav>
                                        <p:tav tm="100000">
                                          <p:val>
                                            <p:strVal val="#ppt_x"/>
                                          </p:val>
                                        </p:tav>
                                      </p:tavLst>
                                    </p:anim>
                                    <p:anim calcmode="lin" valueType="num">
                                      <p:cBhvr additive="base">
                                        <p:cTn id="55" dur="550" fill="hold"/>
                                        <p:tgtEl>
                                          <p:spTgt spid="12"/>
                                        </p:tgtEl>
                                        <p:attrNameLst>
                                          <p:attrName>ppt_y</p:attrName>
                                        </p:attrNameLst>
                                      </p:cBhvr>
                                      <p:tavLst>
                                        <p:tav tm="0">
                                          <p:val>
                                            <p:strVal val="#ppt_y+.06"/>
                                          </p:val>
                                        </p:tav>
                                        <p:tav tm="100000">
                                          <p:val>
                                            <p:strVal val="#ppt_y"/>
                                          </p:val>
                                        </p:tav>
                                      </p:tavLst>
                                    </p:anim>
                                  </p:childTnLst>
                                </p:cTn>
                              </p:par>
                            </p:childTnLst>
                          </p:cTn>
                        </p:par>
                        <p:par>
                          <p:cTn id="115" fill="hold">
                            <p:stCondLst>
                              <p:cond delay="1210"/>
                            </p:stCondLst>
                            <p:childTnLst>
                              <p:par>
                                <p:cTn id="56" presetID="42" presetClass="entr"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50"/>
                                        <p:tgtEl>
                                          <p:spTgt spid="13"/>
                                        </p:tgtEl>
                                      </p:cBhvr>
                                    </p:animEffect>
                                    <p:anim calcmode="lin" valueType="num">
                                      <p:cBhvr additive="base">
                                        <p:cTn id="59" dur="550" fill="hold"/>
                                        <p:tgtEl>
                                          <p:spTgt spid="13"/>
                                        </p:tgtEl>
                                        <p:attrNameLst>
                                          <p:attrName>ppt_x</p:attrName>
                                        </p:attrNameLst>
                                      </p:cBhvr>
                                      <p:tavLst>
                                        <p:tav tm="0">
                                          <p:val>
                                            <p:strVal val="#ppt_x"/>
                                          </p:val>
                                        </p:tav>
                                        <p:tav tm="100000">
                                          <p:val>
                                            <p:strVal val="#ppt_x"/>
                                          </p:val>
                                        </p:tav>
                                      </p:tavLst>
                                    </p:anim>
                                    <p:anim calcmode="lin" valueType="num">
                                      <p:cBhvr additive="base">
                                        <p:cTn id="60" dur="550" fill="hold"/>
                                        <p:tgtEl>
                                          <p:spTgt spid="13"/>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50"/>
                                        <p:tgtEl>
                                          <p:spTgt spid="14"/>
                                        </p:tgtEl>
                                      </p:cBhvr>
                                    </p:animEffect>
                                    <p:anim calcmode="lin" valueType="num">
                                      <p:cBhvr additive="base">
                                        <p:cTn id="64" dur="550" fill="hold"/>
                                        <p:tgtEl>
                                          <p:spTgt spid="14"/>
                                        </p:tgtEl>
                                        <p:attrNameLst>
                                          <p:attrName>ppt_x</p:attrName>
                                        </p:attrNameLst>
                                      </p:cBhvr>
                                      <p:tavLst>
                                        <p:tav tm="0">
                                          <p:val>
                                            <p:strVal val="#ppt_x"/>
                                          </p:val>
                                        </p:tav>
                                        <p:tav tm="100000">
                                          <p:val>
                                            <p:strVal val="#ppt_x"/>
                                          </p:val>
                                        </p:tav>
                                      </p:tavLst>
                                    </p:anim>
                                    <p:anim calcmode="lin" valueType="num">
                                      <p:cBhvr additive="base">
                                        <p:cTn id="65" dur="550" fill="hold"/>
                                        <p:tgtEl>
                                          <p:spTgt spid="14"/>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550"/>
                                        <p:tgtEl>
                                          <p:spTgt spid="15"/>
                                        </p:tgtEl>
                                      </p:cBhvr>
                                    </p:animEffect>
                                    <p:anim calcmode="lin" valueType="num">
                                      <p:cBhvr additive="base">
                                        <p:cTn id="69" dur="550" fill="hold"/>
                                        <p:tgtEl>
                                          <p:spTgt spid="15"/>
                                        </p:tgtEl>
                                        <p:attrNameLst>
                                          <p:attrName>ppt_x</p:attrName>
                                        </p:attrNameLst>
                                      </p:cBhvr>
                                      <p:tavLst>
                                        <p:tav tm="0">
                                          <p:val>
                                            <p:strVal val="#ppt_x"/>
                                          </p:val>
                                        </p:tav>
                                        <p:tav tm="100000">
                                          <p:val>
                                            <p:strVal val="#ppt_x"/>
                                          </p:val>
                                        </p:tav>
                                      </p:tavLst>
                                    </p:anim>
                                    <p:anim calcmode="lin" valueType="num">
                                      <p:cBhvr additive="base">
                                        <p:cTn id="70" dur="550" fill="hold"/>
                                        <p:tgtEl>
                                          <p:spTgt spid="15"/>
                                        </p:tgtEl>
                                        <p:attrNameLst>
                                          <p:attrName>ppt_y</p:attrName>
                                        </p:attrNameLst>
                                      </p:cBhvr>
                                      <p:tavLst>
                                        <p:tav tm="0">
                                          <p:val>
                                            <p:strVal val="#ppt_y+.06"/>
                                          </p:val>
                                        </p:tav>
                                        <p:tav tm="100000">
                                          <p:val>
                                            <p:strVal val="#ppt_y"/>
                                          </p:val>
                                        </p:tav>
                                      </p:tavLst>
                                    </p:anim>
                                  </p:childTnLst>
                                </p:cTn>
                              </p:par>
                            </p:childTnLst>
                          </p:cTn>
                        </p:par>
                        <p:par>
                          <p:cTn id="116" fill="hold">
                            <p:stCondLst>
                              <p:cond delay="1512"/>
                            </p:stCondLst>
                            <p:childTnLst>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550"/>
                                        <p:tgtEl>
                                          <p:spTgt spid="16"/>
                                        </p:tgtEl>
                                      </p:cBhvr>
                                    </p:animEffect>
                                    <p:anim calcmode="lin" valueType="num">
                                      <p:cBhvr additive="base">
                                        <p:cTn id="74" dur="550" fill="hold"/>
                                        <p:tgtEl>
                                          <p:spTgt spid="16"/>
                                        </p:tgtEl>
                                        <p:attrNameLst>
                                          <p:attrName>ppt_x</p:attrName>
                                        </p:attrNameLst>
                                      </p:cBhvr>
                                      <p:tavLst>
                                        <p:tav tm="0">
                                          <p:val>
                                            <p:strVal val="#ppt_x"/>
                                          </p:val>
                                        </p:tav>
                                        <p:tav tm="100000">
                                          <p:val>
                                            <p:strVal val="#ppt_x"/>
                                          </p:val>
                                        </p:tav>
                                      </p:tavLst>
                                    </p:anim>
                                    <p:anim calcmode="lin" valueType="num">
                                      <p:cBhvr additive="base">
                                        <p:cTn id="75" dur="550" fill="hold"/>
                                        <p:tgtEl>
                                          <p:spTgt spid="16"/>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550"/>
                                        <p:tgtEl>
                                          <p:spTgt spid="17"/>
                                        </p:tgtEl>
                                      </p:cBhvr>
                                    </p:animEffect>
                                    <p:anim calcmode="lin" valueType="num">
                                      <p:cBhvr additive="base">
                                        <p:cTn id="79" dur="550" fill="hold"/>
                                        <p:tgtEl>
                                          <p:spTgt spid="17"/>
                                        </p:tgtEl>
                                        <p:attrNameLst>
                                          <p:attrName>ppt_x</p:attrName>
                                        </p:attrNameLst>
                                      </p:cBhvr>
                                      <p:tavLst>
                                        <p:tav tm="0">
                                          <p:val>
                                            <p:strVal val="#ppt_x"/>
                                          </p:val>
                                        </p:tav>
                                        <p:tav tm="100000">
                                          <p:val>
                                            <p:strVal val="#ppt_x"/>
                                          </p:val>
                                        </p:tav>
                                      </p:tavLst>
                                    </p:anim>
                                    <p:anim calcmode="lin" valueType="num">
                                      <p:cBhvr additive="base">
                                        <p:cTn id="80" dur="550" fill="hold"/>
                                        <p:tgtEl>
                                          <p:spTgt spid="17"/>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550"/>
                                        <p:tgtEl>
                                          <p:spTgt spid="18"/>
                                        </p:tgtEl>
                                      </p:cBhvr>
                                    </p:animEffect>
                                    <p:anim calcmode="lin" valueType="num">
                                      <p:cBhvr additive="base">
                                        <p:cTn id="84" dur="550" fill="hold"/>
                                        <p:tgtEl>
                                          <p:spTgt spid="18"/>
                                        </p:tgtEl>
                                        <p:attrNameLst>
                                          <p:attrName>ppt_x</p:attrName>
                                        </p:attrNameLst>
                                      </p:cBhvr>
                                      <p:tavLst>
                                        <p:tav tm="0">
                                          <p:val>
                                            <p:strVal val="#ppt_x"/>
                                          </p:val>
                                        </p:tav>
                                        <p:tav tm="100000">
                                          <p:val>
                                            <p:strVal val="#ppt_x"/>
                                          </p:val>
                                        </p:tav>
                                      </p:tavLst>
                                    </p:anim>
                                    <p:anim calcmode="lin" valueType="num">
                                      <p:cBhvr additive="base">
                                        <p:cTn id="85" dur="550" fill="hold"/>
                                        <p:tgtEl>
                                          <p:spTgt spid="18"/>
                                        </p:tgtEl>
                                        <p:attrNameLst>
                                          <p:attrName>ppt_y</p:attrName>
                                        </p:attrNameLst>
                                      </p:cBhvr>
                                      <p:tavLst>
                                        <p:tav tm="0">
                                          <p:val>
                                            <p:strVal val="#ppt_y+.06"/>
                                          </p:val>
                                        </p:tav>
                                        <p:tav tm="100000">
                                          <p:val>
                                            <p:strVal val="#ppt_y"/>
                                          </p:val>
                                        </p:tav>
                                      </p:tavLst>
                                    </p:anim>
                                  </p:childTnLst>
                                </p:cTn>
                              </p:par>
                            </p:childTnLst>
                          </p:cTn>
                        </p:par>
                        <p:par>
                          <p:cTn id="117" fill="hold">
                            <p:stCondLst>
                              <p:cond delay="1815"/>
                            </p:stCondLst>
                            <p:childTnLst>
                              <p:par>
                                <p:cTn id="86" presetID="42" presetClass="entr" presetSubtype="0" fill="hold" grpId="0" nodeType="with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550"/>
                                        <p:tgtEl>
                                          <p:spTgt spid="19"/>
                                        </p:tgtEl>
                                      </p:cBhvr>
                                    </p:animEffect>
                                    <p:anim calcmode="lin" valueType="num">
                                      <p:cBhvr additive="base">
                                        <p:cTn id="89" dur="550" fill="hold"/>
                                        <p:tgtEl>
                                          <p:spTgt spid="19"/>
                                        </p:tgtEl>
                                        <p:attrNameLst>
                                          <p:attrName>ppt_x</p:attrName>
                                        </p:attrNameLst>
                                      </p:cBhvr>
                                      <p:tavLst>
                                        <p:tav tm="0">
                                          <p:val>
                                            <p:strVal val="#ppt_x"/>
                                          </p:val>
                                        </p:tav>
                                        <p:tav tm="100000">
                                          <p:val>
                                            <p:strVal val="#ppt_x"/>
                                          </p:val>
                                        </p:tav>
                                      </p:tavLst>
                                    </p:anim>
                                    <p:anim calcmode="lin" valueType="num">
                                      <p:cBhvr additive="base">
                                        <p:cTn id="90" dur="550" fill="hold"/>
                                        <p:tgtEl>
                                          <p:spTgt spid="19"/>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550"/>
                                        <p:tgtEl>
                                          <p:spTgt spid="20"/>
                                        </p:tgtEl>
                                      </p:cBhvr>
                                    </p:animEffect>
                                    <p:anim calcmode="lin" valueType="num">
                                      <p:cBhvr additive="base">
                                        <p:cTn id="94" dur="550" fill="hold"/>
                                        <p:tgtEl>
                                          <p:spTgt spid="20"/>
                                        </p:tgtEl>
                                        <p:attrNameLst>
                                          <p:attrName>ppt_x</p:attrName>
                                        </p:attrNameLst>
                                      </p:cBhvr>
                                      <p:tavLst>
                                        <p:tav tm="0">
                                          <p:val>
                                            <p:strVal val="#ppt_x"/>
                                          </p:val>
                                        </p:tav>
                                        <p:tav tm="100000">
                                          <p:val>
                                            <p:strVal val="#ppt_x"/>
                                          </p:val>
                                        </p:tav>
                                      </p:tavLst>
                                    </p:anim>
                                    <p:anim calcmode="lin" valueType="num">
                                      <p:cBhvr additive="base">
                                        <p:cTn id="95" dur="550" fill="hold"/>
                                        <p:tgtEl>
                                          <p:spTgt spid="20"/>
                                        </p:tgtEl>
                                        <p:attrNameLst>
                                          <p:attrName>ppt_y</p:attrName>
                                        </p:attrNameLst>
                                      </p:cBhvr>
                                      <p:tavLst>
                                        <p:tav tm="0">
                                          <p:val>
                                            <p:strVal val="#ppt_y+.06"/>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550"/>
                                        <p:tgtEl>
                                          <p:spTgt spid="21"/>
                                        </p:tgtEl>
                                      </p:cBhvr>
                                    </p:animEffect>
                                    <p:anim calcmode="lin" valueType="num">
                                      <p:cBhvr additive="base">
                                        <p:cTn id="99" dur="550" fill="hold"/>
                                        <p:tgtEl>
                                          <p:spTgt spid="21"/>
                                        </p:tgtEl>
                                        <p:attrNameLst>
                                          <p:attrName>ppt_x</p:attrName>
                                        </p:attrNameLst>
                                      </p:cBhvr>
                                      <p:tavLst>
                                        <p:tav tm="0">
                                          <p:val>
                                            <p:strVal val="#ppt_x"/>
                                          </p:val>
                                        </p:tav>
                                        <p:tav tm="100000">
                                          <p:val>
                                            <p:strVal val="#ppt_x"/>
                                          </p:val>
                                        </p:tav>
                                      </p:tavLst>
                                    </p:anim>
                                    <p:anim calcmode="lin" valueType="num">
                                      <p:cBhvr additive="base">
                                        <p:cTn id="100" dur="550" fill="hold"/>
                                        <p:tgtEl>
                                          <p:spTgt spid="21"/>
                                        </p:tgtEl>
                                        <p:attrNameLst>
                                          <p:attrName>ppt_y</p:attrName>
                                        </p:attrNameLst>
                                      </p:cBhvr>
                                      <p:tavLst>
                                        <p:tav tm="0">
                                          <p:val>
                                            <p:strVal val="#ppt_y+.06"/>
                                          </p:val>
                                        </p:tav>
                                        <p:tav tm="100000">
                                          <p:val>
                                            <p:strVal val="#ppt_y"/>
                                          </p:val>
                                        </p:tav>
                                      </p:tavLst>
                                    </p:anim>
                                  </p:childTnLst>
                                </p:cTn>
                              </p:par>
                            </p:childTnLst>
                          </p:cTn>
                        </p:par>
                        <p:par>
                          <p:cTn id="118" fill="hold">
                            <p:stCondLst>
                              <p:cond delay="2117"/>
                            </p:stCondLst>
                            <p:childTnLst>
                              <p:par>
                                <p:cTn id="101" presetID="53" presetClass="entr" presetSubtype="16" fill="hold" grpId="0" nodeType="withEffect">
                                  <p:stCondLst>
                                    <p:cond delay="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450"/>
                                        <p:tgtEl>
                                          <p:spTgt spid="22"/>
                                        </p:tgtEl>
                                      </p:cBhvr>
                                    </p:animEffect>
                                    <p:anim calcmode="lin" valueType="num">
                                      <p:cBhvr additive="base">
                                        <p:cTn id="104" dur="450" fill="hold"/>
                                        <p:tgtEl>
                                          <p:spTgt spid="22"/>
                                        </p:tgtEl>
                                        <p:attrNameLst>
                                          <p:attrName>ppt_w</p:attrName>
                                        </p:attrNameLst>
                                      </p:cBhvr>
                                      <p:tavLst>
                                        <p:tav tm="0">
                                          <p:val>
                                            <p:strVal val="#ppt_w*0.6"/>
                                          </p:val>
                                        </p:tav>
                                        <p:tav tm="100000">
                                          <p:val>
                                            <p:strVal val="#ppt_w"/>
                                          </p:val>
                                        </p:tav>
                                      </p:tavLst>
                                    </p:anim>
                                    <p:anim calcmode="lin" valueType="num">
                                      <p:cBhvr additive="base">
                                        <p:cTn id="105" dur="450" fill="hold"/>
                                        <p:tgtEl>
                                          <p:spTgt spid="22"/>
                                        </p:tgtEl>
                                        <p:attrNameLst>
                                          <p:attrName>ppt_h</p:attrName>
                                        </p:attrNameLst>
                                      </p:cBhvr>
                                      <p:tavLst>
                                        <p:tav tm="0">
                                          <p:val>
                                            <p:strVal val="#ppt_h*0.6"/>
                                          </p:val>
                                        </p:tav>
                                        <p:tav tm="100000">
                                          <p:val>
                                            <p:strVal val="#ppt_h"/>
                                          </p:val>
                                        </p:tav>
                                      </p:tavLst>
                                    </p:anim>
                                  </p:childTnLst>
                                </p:cTn>
                              </p:par>
                              <p:par>
                                <p:cTn id="106" presetID="53" presetClass="entr" presetSubtype="16" fill="hold" grpId="0" nodeType="withEffect">
                                  <p:stCondLst>
                                    <p:cond delay="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450"/>
                                        <p:tgtEl>
                                          <p:spTgt spid="23"/>
                                        </p:tgtEl>
                                      </p:cBhvr>
                                    </p:animEffect>
                                    <p:anim calcmode="lin" valueType="num">
                                      <p:cBhvr additive="base">
                                        <p:cTn id="109" dur="450" fill="hold"/>
                                        <p:tgtEl>
                                          <p:spTgt spid="23"/>
                                        </p:tgtEl>
                                        <p:attrNameLst>
                                          <p:attrName>ppt_w</p:attrName>
                                        </p:attrNameLst>
                                      </p:cBhvr>
                                      <p:tavLst>
                                        <p:tav tm="0">
                                          <p:val>
                                            <p:strVal val="#ppt_w*0.6"/>
                                          </p:val>
                                        </p:tav>
                                        <p:tav tm="100000">
                                          <p:val>
                                            <p:strVal val="#ppt_w"/>
                                          </p:val>
                                        </p:tav>
                                      </p:tavLst>
                                    </p:anim>
                                    <p:anim calcmode="lin" valueType="num">
                                      <p:cBhvr additive="base">
                                        <p:cTn id="110" dur="450" fill="hold"/>
                                        <p:tgtEl>
                                          <p:spTgt spid="23"/>
                                        </p:tgtEl>
                                        <p:attrNameLst>
                                          <p:attrName>ppt_h</p:attrName>
                                        </p:attrNameLst>
                                      </p:cBhvr>
                                      <p:tavLst>
                                        <p:tav tm="0">
                                          <p:val>
                                            <p:strVal val="#ppt_h*0.6"/>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3" grpId="0" animBg="1"/>
    </p:bldLst>
  </p:timing>
</p:sld>
</file>

<file path=ppt/theme/theme1.xml><?xml version="1.0" encoding="utf-8"?>
<a:theme xmlns:a="http://schemas.openxmlformats.org/drawingml/2006/main" name="Biometric Exclusion Study">
  <a:themeElements>
    <a:clrScheme name="Biometric Exclusion Study">
      <a:dk1>
        <a:srgbClr val="212121"/>
      </a:dk1>
      <a:lt1>
        <a:srgbClr val="FFFFFF"/>
      </a:lt1>
      <a:dk2>
        <a:srgbClr val="0B3C5D"/>
      </a:dk2>
      <a:lt2>
        <a:srgbClr val="F8F9FA"/>
      </a:lt2>
      <a:accent1>
        <a:srgbClr val="0B3C5D"/>
      </a:accent1>
      <a:accent2>
        <a:srgbClr val="F48020"/>
      </a:accent2>
      <a:accent3>
        <a:srgbClr val="D32F2F"/>
      </a:accent3>
      <a:accent4>
        <a:srgbClr val="2E7D32"/>
      </a:accent4>
      <a:accent5>
        <a:srgbClr val="555B62"/>
      </a:accent5>
      <a:accent6>
        <a:srgbClr val="DCE3EA"/>
      </a:accent6>
      <a:hlink>
        <a:srgbClr val="0B3C5D"/>
      </a:hlink>
      <a:folHlink>
        <a:srgbClr val="555B62"/>
      </a:folHlink>
    </a:clrScheme>
    <a:fontScheme name="Biometric Exclusion Stu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gets turned away when the fingerprint fails?</dc:title>
  <dc:subject>Aadhaar biometric authentication failures: a simulated audit</dc:subject>
  <dc:creator>PptxGenJS</dc:creator>
  <cp:lastModifiedBy>PptxGenJS</cp:lastModifiedBy>
  <cp:revision>1</cp:revision>
  <dcterms:created xsi:type="dcterms:W3CDTF">2026-10-10T16:11:43Z</dcterms:created>
  <dcterms:modified xsi:type="dcterms:W3CDTF">2026-10-10T16:11:43Z</dcterms:modified>
</cp:coreProperties>
</file>